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371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13716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NAJDA - Plateforme de distribution humanitaire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828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18288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182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1828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6" name="Shape 4"/>
          <p:cNvSpPr/>
          <p:nvPr/>
        </p:nvSpPr>
        <p:spPr>
          <a:xfrm>
            <a:off x="4023360" y="1097280"/>
            <a:ext cx="548640" cy="5486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1097280"/>
            <a:ext cx="548640" cy="548640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1645920"/>
            <a:ext cx="548640" cy="5486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54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5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algn="ctr" indent="0" marL="0">
              <a:buNone/>
            </a:pPr>
            <a:r>
              <a:rPr lang="en-US" sz="5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54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intelligente et sécurisée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distribution humanitaire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 de Béni Mellal-Khénifra — Maroc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 par: Azddine El Hamdaoui &amp; Youssef Ait Karroum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par: Pr. ENNAHBAOUI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0040" cy="3200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problématique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20040" cy="320040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proposée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320040" cy="3200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et traçabilité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320040" cy="3200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et perspectives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projet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</a:rPr>
              <a:t>Région Béni Mellal-Khénifra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Topographie montagneuse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Zones rurales enclavées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Douars difficiles d'accès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Vulnérabilité aux catastrophes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280160"/>
            <a:ext cx="4114800" cy="146304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4336"/>
                </a:solidFill>
              </a:rPr>
              <a:t>Défis logistiques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Coordination complexe entre entrepôts, distributeurs et zones sinistrées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926080"/>
            <a:ext cx="4114800" cy="15544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Objectif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429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Optimiser la distribution de l'aide humanitaire via une plateforme digitale intelligente et traçable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solidFill>
            <a:srgbClr val="FFF3E0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optimiser la distribution de l'aide humanitaire en zones rurales enclavées tout en garantissant la traçabilité, la sécurité et la priorisation efficace des zones à desservir 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Sous-problématiques 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228600" cy="2286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Priorisation des zones sinistrées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4206240"/>
            <a:ext cx="228600" cy="2286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Optimisation des tournées logistiques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Traçabilité des flux de matériel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4754880"/>
            <a:ext cx="228600" cy="2286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Sécurisation de l'accès au système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NAJDA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Centre de Contrôle 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Supervision régionale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Cartographie interactive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Gestion des stocks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solidFill>
            <a:srgbClr val="F44336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 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Logique métier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Sécurité &amp; Authentification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Algorithmes d'optimisation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228600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Application Mobile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Opérations terrain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Suivi GPS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Validation livraisons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514600"/>
            <a:ext cx="274320" cy="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514600"/>
            <a:ext cx="274320" cy="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🚀 Pipeline algorithmique AHP-TOPSIS-VRP  •  🔐 Authentification SSO (Keycloak)  •  📝 Audit logging immuable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Gestion des stocks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Suivi temps réel des ressources dans 3 entrepôts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43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336"/>
                </a:solidFill>
              </a:rPr>
              <a:t>Missions de livraison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Création, assignation et suivi des missions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</a:rPr>
              <a:t>Cartographie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Visualisation des douars, entrepôts et tournées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107"/>
                </a:solidFill>
              </a:rPr>
              <a:t>Optimisation 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Priorisation intelligente et routage optimal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10896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38328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Suivi GPS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Localisation temps réel des distributeurs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10896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43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0936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336"/>
                </a:solidFill>
              </a:rPr>
              <a:t>Sécurité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Authentification, autorisation et audit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F3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React • React Native • Vite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336"/>
                </a:solidFill>
              </a:rPr>
              <a:t>API Gateway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NestJS • Swagger • WebSocket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</a:rPr>
              <a:t>Services Métier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TypeORM • JWT • Passport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</a:rPr>
              <a:t>Infrastructure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PostgreSQL • Keycloak • Docker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algorithmique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74320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 AHP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DEFB"/>
                </a:solidFill>
              </a:rPr>
              <a:t>Analytic Hierarchy Process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Pondération multicritère des besoins (vulnérabilité, sévérité, accessibilité, soins)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651760"/>
            <a:ext cx="365760" cy="0"/>
          </a:xfrm>
          <a:prstGeom prst="line">
            <a:avLst/>
          </a:prstGeom>
          <a:noFill/>
          <a:ln w="38100">
            <a:solidFill>
              <a:srgbClr val="7575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514600"/>
            <a:ext cx="137160" cy="137160"/>
          </a:xfrm>
          <a:prstGeom prst="line">
            <a:avLst/>
          </a:prstGeom>
          <a:noFill/>
          <a:ln w="38100">
            <a:solidFill>
              <a:srgbClr val="7575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80160"/>
            <a:ext cx="2560320" cy="2743200"/>
          </a:xfrm>
          <a:prstGeom prst="rect">
            <a:avLst/>
          </a:prstGeom>
          <a:solidFill>
            <a:srgbClr val="F44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TOPSIS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DD2"/>
                </a:solidFill>
              </a:rPr>
              <a:t>Classement des alternatives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Évaluation par distance aux solutions idéales positive et négative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651760"/>
            <a:ext cx="365760" cy="0"/>
          </a:xfrm>
          <a:prstGeom prst="line">
            <a:avLst/>
          </a:prstGeom>
          <a:noFill/>
          <a:ln w="38100">
            <a:solidFill>
              <a:srgbClr val="7575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2468880" cy="274320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 VRP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C9"/>
                </a:solidFill>
              </a:rPr>
              <a:t>Vehicle Routing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Optimisation des tournées avec contraintes de capacité via Google OR-Tools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données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286000" cy="82296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Entrepôts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286000" cy="822960"/>
          </a:xfrm>
          <a:prstGeom prst="rect">
            <a:avLst/>
          </a:prstGeom>
          <a:solidFill>
            <a:srgbClr val="F44336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Matériels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286000" cy="82296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286000" cy="822960"/>
          </a:xfrm>
          <a:prstGeom prst="rect">
            <a:avLst/>
          </a:prstGeom>
          <a:solidFill>
            <a:srgbClr val="FFC10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Distributeurs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377440"/>
            <a:ext cx="2286000" cy="82296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Missions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377440"/>
            <a:ext cx="2286000" cy="822960"/>
          </a:xfrm>
          <a:prstGeom prst="rect">
            <a:avLst/>
          </a:prstGeom>
          <a:solidFill>
            <a:srgbClr val="F44336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 Logs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1691640"/>
            <a:ext cx="457200" cy="0"/>
          </a:xfrm>
          <a:prstGeom prst="line">
            <a:avLst/>
          </a:prstGeom>
          <a:noFill/>
          <a:ln w="12700">
            <a:solidFill>
              <a:srgbClr val="7575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691640"/>
            <a:ext cx="457200" cy="0"/>
          </a:xfrm>
          <a:prstGeom prst="line">
            <a:avLst/>
          </a:prstGeom>
          <a:noFill/>
          <a:ln w="12700">
            <a:solidFill>
              <a:srgbClr val="7575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2103120"/>
            <a:ext cx="0" cy="274320"/>
          </a:xfrm>
          <a:prstGeom prst="line">
            <a:avLst/>
          </a:prstGeom>
          <a:noFill/>
          <a:ln w="12700">
            <a:solidFill>
              <a:srgbClr val="7575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2103120"/>
            <a:ext cx="0" cy="274320"/>
          </a:xfrm>
          <a:prstGeom prst="line">
            <a:avLst/>
          </a:prstGeom>
          <a:noFill/>
          <a:ln w="12700">
            <a:solidFill>
              <a:srgbClr val="7575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Base de données PostgreSQL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Clés primaires UUID • Contraintes d'intégrité référentielle • Champs JSONB pour flexibilité • Triggers audit immuables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: Authentification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Utilisateur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1188720"/>
            <a:ext cx="2286000" cy="64008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Keycloak (IAM)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274320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Backend (NestJS)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1508760"/>
            <a:ext cx="457200" cy="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508760"/>
            <a:ext cx="914400" cy="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103120"/>
            <a:ext cx="2743200" cy="731520"/>
          </a:xfrm>
          <a:prstGeom prst="rect">
            <a:avLst/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JWT Token (RS256)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Signé avec clé privée Keycloak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920240"/>
            <a:ext cx="0" cy="18288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</a:rPr>
              <a:t>Caractéristiques :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OAuth 2.0 / OpenID Connect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Tokens JWT avec signature RS256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Vérification via endpoint JWKS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Single Sign-On (SSO)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: Gestion des rôles (RBAC)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F44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SUPER_ADMIN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Gestion entrepôts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Audit logs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Crises &amp;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743200" cy="320040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ADMIN_ENTREPOT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Stock entrepôt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Création missions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Gestion véhicules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743200" cy="3200400"/>
          </a:xfrm>
          <a:prstGeom prst="rect">
            <a:avLst/>
          </a:prstGeom>
          <a:solidFill>
            <a:srgbClr val="FFC10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DISTRIBUTEUR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20116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Consultation missions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Validation livraisons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Envoi positions GPS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: Audit &amp; Traçabilité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</a:rPr>
              <a:t>Audit Log Interceptor (NestJS)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Chaque opération d'écriture (POST/PUT/PATCH/DELETE) est automatiquement tracée avec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Table cible et type d'opération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Valeurs avant/après modification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Identité de l'acteur (UUID Keycloak, rôle, email)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Timestamp et adresse 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4336"/>
                </a:solidFill>
              </a:rPr>
              <a:t>Immutabilité garantie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Trigger PostgreSQL interdit toute modification ou suppression des logs d'audit.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Même les tentatives échouées sont enregistrées.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: Interface Web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Dashboard SuperAdmin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🗺️ Carte régionale interactive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📍 Visualisation entrepôts et douars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📊 Audit logs filtrables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⚡ Lancement pipeline algorithmique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👥 Gestion des utilisateurs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</a:rPr>
              <a:t>Dashboard Admin Entrepôt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📦 Suivi des stocks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🚚 Création et assignation missions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👤 Gestion des distributeurs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🚐 Gestion des véhicules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📈 Alertes de seuil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: Application Mobile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188720"/>
            <a:ext cx="2743200" cy="3657600"/>
          </a:xfrm>
          <a:prstGeom prst="rect">
            <a:avLst>
              <a:gd name="adj" fmla="val 6667"/>
            </a:avLst>
          </a:prstGeom>
          <a:solidFill>
            <a:srgbClr val="212121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0" y="1371600"/>
            <a:ext cx="237744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371600"/>
            <a:ext cx="237744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NAJDA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21945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Mission #001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En cours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0" y="2651760"/>
            <a:ext cx="21945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Mission #002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107"/>
                </a:solidFill>
              </a:rPr>
              <a:t>En attente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337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Mission #003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35661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96F3"/>
                </a:solidFill>
              </a:rPr>
              <a:t>Terminée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Fonctionnalités 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182880" cy="1828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Authentification biométrique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182880" cy="182880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Consultation missions assignées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Navigation vers zones cibles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182880" cy="18288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Validation avec signature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182880" cy="1828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Envoi positions GPS temps réel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182880" cy="182880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Mode hors-ligne (cache local)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Technologies 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1828800"/>
            <a:ext cx="25603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React Native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2286000"/>
            <a:ext cx="25603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Expo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2743200"/>
            <a:ext cx="25603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Expo Location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3200400"/>
            <a:ext cx="25603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Expo Secure Store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d'écran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468880" cy="1554480"/>
          </a:xfrm>
          <a:prstGeom prst="rect">
            <a:avLst/>
          </a:prstGeom>
          <a:solidFill>
            <a:srgbClr val="EEEEEE"/>
          </a:solidFill>
          <a:ln w="12700">
            <a:solidFill>
              <a:srgbClr val="757575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[ Login Keycloak 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468880" cy="1554480"/>
          </a:xfrm>
          <a:prstGeom prst="rect">
            <a:avLst/>
          </a:prstGeom>
          <a:solidFill>
            <a:srgbClr val="EEEEEE"/>
          </a:solidFill>
          <a:ln w="12700">
            <a:solidFill>
              <a:srgbClr val="75757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2004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[ Dashboard Admin 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468880" cy="1554480"/>
          </a:xfrm>
          <a:prstGeom prst="rect">
            <a:avLst/>
          </a:prstGeom>
          <a:solidFill>
            <a:srgbClr val="EEEEEE"/>
          </a:solidFill>
          <a:ln w="12700">
            <a:solidFill>
              <a:srgbClr val="75757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[ Création Mission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468880" cy="1554480"/>
          </a:xfrm>
          <a:prstGeom prst="rect">
            <a:avLst/>
          </a:prstGeom>
          <a:solidFill>
            <a:srgbClr val="EEEEEE"/>
          </a:solidFill>
          <a:ln w="12700">
            <a:solidFill>
              <a:srgbClr val="75757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[ Carte Supervision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200400"/>
            <a:ext cx="2468880" cy="1554480"/>
          </a:xfrm>
          <a:prstGeom prst="rect">
            <a:avLst/>
          </a:prstGeom>
          <a:solidFill>
            <a:srgbClr val="EEEEEE"/>
          </a:solidFill>
          <a:ln w="12700">
            <a:solidFill>
              <a:srgbClr val="75757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0040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[ Audit Logs 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200400"/>
            <a:ext cx="2468880" cy="1554480"/>
          </a:xfrm>
          <a:prstGeom prst="rect">
            <a:avLst/>
          </a:prstGeom>
          <a:solidFill>
            <a:srgbClr val="EEEEEE"/>
          </a:solidFill>
          <a:ln w="12700">
            <a:solidFill>
              <a:srgbClr val="75757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94360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[ App Mobile ]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de NAJDA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96F3"/>
                </a:solidFill>
              </a:rPr>
              <a:t>Précision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Priorisation algorithmique objective des zones critiques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43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4336"/>
                </a:solidFill>
              </a:rPr>
              <a:t>Efficacité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Optimisation des tournées réduisant temps et coûts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Sécurité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Authentification robuste et traçabilité complète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107"/>
                </a:solidFill>
              </a:rPr>
              <a:t>Accessibilité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Interface mobile adaptée aux contraintes terrain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20040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38328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96F3"/>
                </a:solidFill>
              </a:rPr>
              <a:t>Interopérabilité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7472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API REST documentée pour intégrations futures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20040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43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30936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4336"/>
                </a:solidFill>
              </a:rPr>
              <a:t>Transparence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Audit immuable de toutes les opérations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d'évolution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Court terme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Mode hors-ligne complet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Notifications push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Export CSV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347472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Moyen terme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Prédiction IA des crises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Intégration météo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Analytics avancés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2651760" cy="3474720"/>
          </a:xfrm>
          <a:prstGeom prst="rect">
            <a:avLst/>
          </a:prstGeom>
          <a:solidFill>
            <a:srgbClr val="F44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Long terme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Interconnexion HDX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Déploiement national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Blockchain pour traçabilité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828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18288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182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1828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91440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0" y="914400"/>
            <a:ext cx="457200" cy="457200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137160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3716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48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algn="ctr" indent="0" marL="0">
              <a:buNone/>
            </a:pPr>
            <a:r>
              <a:rPr lang="en-US" sz="48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48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Azddine El Hamdaoui &amp; Youssef Ait Karroum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École Nationale des Sciences Appliquées - Béni Mellal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NAJDA - Plateforme intelligente de distribution humanitaire</dc:title>
  <dc:subject>Présentation projet TSP</dc:subject>
  <dc:creator>Azddine El Hamdaoui &amp; Youssef Ait Karroum</dc:creator>
  <cp:lastModifiedBy>Azddine El Hamdaoui &amp; Youssef Ait Karroum</cp:lastModifiedBy>
  <cp:revision>1</cp:revision>
  <dcterms:created xsi:type="dcterms:W3CDTF">2026-04-03T20:05:17Z</dcterms:created>
  <dcterms:modified xsi:type="dcterms:W3CDTF">2026-04-03T20:05:17Z</dcterms:modified>
</cp:coreProperties>
</file>