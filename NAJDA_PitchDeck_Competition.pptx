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ÉMOTIONNELLE
Ne lisez pas les chiffres. Montrez-les en silence 3 secondes. Puis dites : «La vraie catastrophe commence après le séisme — quand il faut distribuer l'aide à 300 000 personnes sans abri, dans des zones coupées du monde.»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PROBLÈME — 6 OBSTACLES
Les 4 premiers sont logistiques. Les 2 derniers sont SÉCURITAIRES — et souvent oubliés.
• Données non sécurisées : dans une crise, des informations sur les stocks ou les bénéficiaires entre de mauvaises mains peuvent aggraver la situation.
• Zéro traçabilité : sans audit, les détournements d'aide humanitaire sont impossibles à détecter.
Ces 2 problèmes justifient le mot 'SECURE' dans le nom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Montrez que le contexte est officiel, royal, stratégique. Le problème n'est pas la préparation — les stocks existent. C'est la distribution intelligente qui manque. Transition : «C'est là qu'intervient NAJDA.»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 4 PILIERS
LA SÉCURITÉ EST LE 4ÈME PILIER — c'est dans le nom du projet : 'Intelligent and SECURE'. Sans confiance dans le système, les autorités et bailleurs ne l'adopteront pas.
01 CENTRALISER : une seule source de vérité pour tout
02 PRIORISER : décisions basées sur la science, pas l'intuition
03 OPTIMISER : logistique maximale, gaspillage zéro
04 SÉCURISER : données chiffrées, traçabilité totale, confiance absolue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Le chiffre clé ici : MOINS DE 15 SECONDES pour passer de la détection à la tournée optimisée. Et si la situation change (route bloquée, réplique sismique), le système recalcule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 — SANS JARGON
Traduisez chaque algorithme en une question simple que le jury comprend :
• AHP : «Qu'est-ce qui est le plus important ?» — il pondère les critères.
• TOPSIS : «Qui est le plus dans le besoin ?» — il classe les douars.
• VRP : «Quel camion va où ?» — il trace les tournées.
Ensemble, ils forment un pipeline décisionnel complet en &lt; 15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SÉCURITÉ — TRÈS IMPORTANT
Insistez sur ce point : dans l'humanitaire, la confiance est tout. Donnez 2 exemples concrets :
• «Si un distributeur perd son téléphone, personne ne peut accéder à ses données — chiffrement AES-256."
• «Si un superviseur conteste une livraison, on peut la retracer seconde par seconde — traçabilité totale.»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«Le système a 3 couches :
1. Les utilisateurs communiquent avec le backend via HTTPS/TLS 1.3 — tout est chiffré en transit, chaque requête porte un token JWT.
2. Le backend vérifie chaque token, applique les rôles (RBAC), journalise toute action, et gère la synchronisation offline.
3. La base de données est chiffrée AES-256, avec les clés gérées par un HSM matériel — inaccessible directement depuis l'extérieur.
Résultat : un système où chaque couche est sécurisée, chaque action est tracée, aucune donnée ne circule en clair.»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UTILISATEURS
Chaque profil a une mission claire. Vous pouvez mentionner brièvement la démo : «Voici un agent terrain qui se connecte par biométrie, reçoit sa tournée optimisée, et la réalise même sans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Ces chiffres sont le résultat de tests du système. Insistez sur le contraste : «La planification manuelle prend 3 à 5 heures. NAJDA : moins de 15 secondes.» Terminez par la phrase en 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SCALABILITÉ
Si le jury demande «et après ?» — montrez cette slide. L'architecture est prête : API REST, cloud-ready, multilingue. NAJDA peut répondre à n'importe quelle catastrophe, n'importe où.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Pause de 3 secondes sur «Et si la prochaine catastrophe arrivait demain ?»
Laissez la question résonner.
Puis dites simplement : «NAJDA est prête.»
Souriez. Merci.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C0392B"/>
          </a:solidFill>
          <a:ln/>
        </p:spPr>
      </p:sp>
      <p:sp>
        <p:nvSpPr>
          <p:cNvPr id="3" name="Shape 1"/>
          <p:cNvSpPr/>
          <p:nvPr/>
        </p:nvSpPr>
        <p:spPr>
          <a:xfrm>
            <a:off x="0" y="1005840"/>
            <a:ext cx="64008" cy="4137660"/>
          </a:xfrm>
          <a:prstGeom prst="rect">
            <a:avLst/>
          </a:prstGeom>
          <a:solidFill>
            <a:srgbClr val="D4A843"/>
          </a:solidFill>
          <a:ln/>
        </p:spPr>
      </p:sp>
      <p:sp>
        <p:nvSpPr>
          <p:cNvPr id="4" name="Text 2"/>
          <p:cNvSpPr/>
          <p:nvPr/>
        </p:nvSpPr>
        <p:spPr>
          <a:xfrm>
            <a:off x="457200" y="256032"/>
            <a:ext cx="8229600" cy="502920"/>
          </a:xfrm>
          <a:prstGeom prst="rect">
            <a:avLst/>
          </a:prstGeom>
          <a:noFill/>
          <a:ln/>
        </p:spPr>
        <p:txBody>
          <a:bodyPr wrap="square" lIns="0" tIns="0" rIns="0" bIns="0" rtlCol="0" anchor="ctr"/>
          <a:lstStyle/>
          <a:p>
            <a:pPr algn="ctr" indent="0" marL="0">
              <a:buNone/>
            </a:pPr>
            <a:r>
              <a:rPr lang="en-US" sz="2200" b="1" spc="300" kern="0" dirty="0">
                <a:solidFill>
                  <a:srgbClr val="FFFFFF"/>
                </a:solidFill>
              </a:rPr>
              <a:t>8 SEPTEMBRE 2023  ·  23H11</a:t>
            </a:r>
            <a:endParaRPr lang="en-US" sz="2200" dirty="0"/>
          </a:p>
        </p:txBody>
      </p:sp>
      <p:sp>
        <p:nvSpPr>
          <p:cNvPr id="5" name="Text 3"/>
          <p:cNvSpPr/>
          <p:nvPr/>
        </p:nvSpPr>
        <p:spPr>
          <a:xfrm>
            <a:off x="457200" y="1143000"/>
            <a:ext cx="8229600" cy="914400"/>
          </a:xfrm>
          <a:prstGeom prst="rect">
            <a:avLst/>
          </a:prstGeom>
          <a:noFill/>
          <a:ln/>
        </p:spPr>
        <p:txBody>
          <a:bodyPr wrap="square" lIns="0" tIns="0" rIns="0" bIns="0" rtlCol="0" anchor="ctr"/>
          <a:lstStyle/>
          <a:p>
            <a:pPr algn="ctr" indent="0" marL="0">
              <a:buNone/>
            </a:pPr>
            <a:r>
              <a:rPr lang="en-US" sz="5200" b="1" dirty="0">
                <a:solidFill>
                  <a:srgbClr val="FFFFFF"/>
                </a:solidFill>
                <a:latin typeface="Arial Black" pitchFamily="34" charset="0"/>
                <a:ea typeface="Arial Black" pitchFamily="34" charset="-122"/>
                <a:cs typeface="Arial Black" pitchFamily="34" charset="-120"/>
              </a:rPr>
              <a:t>Le Maroc a tremblé.</a:t>
            </a:r>
            <a:endParaRPr lang="en-US" sz="5200" dirty="0"/>
          </a:p>
        </p:txBody>
      </p:sp>
      <p:sp>
        <p:nvSpPr>
          <p:cNvPr id="6" name="Shape 4"/>
          <p:cNvSpPr/>
          <p:nvPr/>
        </p:nvSpPr>
        <p:spPr>
          <a:xfrm>
            <a:off x="822960" y="2331720"/>
            <a:ext cx="237744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7" name="Shape 5"/>
          <p:cNvSpPr/>
          <p:nvPr/>
        </p:nvSpPr>
        <p:spPr>
          <a:xfrm>
            <a:off x="822960" y="2331720"/>
            <a:ext cx="54864" cy="1463040"/>
          </a:xfrm>
          <a:prstGeom prst="rect">
            <a:avLst/>
          </a:prstGeom>
          <a:solidFill>
            <a:srgbClr val="D4A843"/>
          </a:solidFill>
          <a:ln/>
        </p:spPr>
      </p:sp>
      <p:sp>
        <p:nvSpPr>
          <p:cNvPr id="8" name="Text 6"/>
          <p:cNvSpPr/>
          <p:nvPr/>
        </p:nvSpPr>
        <p:spPr>
          <a:xfrm>
            <a:off x="932688" y="2377440"/>
            <a:ext cx="2194560" cy="777240"/>
          </a:xfrm>
          <a:prstGeom prst="rect">
            <a:avLst/>
          </a:prstGeom>
          <a:noFill/>
          <a:ln/>
        </p:spPr>
        <p:txBody>
          <a:bodyPr wrap="square" lIns="0" tIns="0" rIns="0" bIns="0" rtlCol="0" anchor="ctr"/>
          <a:lstStyle/>
          <a:p>
            <a:pPr algn="ctr" indent="0" marL="0">
              <a:buNone/>
            </a:pPr>
            <a:r>
              <a:rPr lang="en-US" sz="4200" b="1" dirty="0">
                <a:solidFill>
                  <a:srgbClr val="D4A843"/>
                </a:solidFill>
                <a:latin typeface="Arial Black" pitchFamily="34" charset="0"/>
                <a:ea typeface="Arial Black" pitchFamily="34" charset="-122"/>
                <a:cs typeface="Arial Black" pitchFamily="34" charset="-120"/>
              </a:rPr>
              <a:t>6.9</a:t>
            </a:r>
            <a:endParaRPr lang="en-US" sz="4200" dirty="0"/>
          </a:p>
        </p:txBody>
      </p:sp>
      <p:sp>
        <p:nvSpPr>
          <p:cNvPr id="9" name="Text 7"/>
          <p:cNvSpPr/>
          <p:nvPr/>
        </p:nvSpPr>
        <p:spPr>
          <a:xfrm>
            <a:off x="932688" y="3108960"/>
            <a:ext cx="2194560" cy="594360"/>
          </a:xfrm>
          <a:prstGeom prst="rect">
            <a:avLst/>
          </a:prstGeom>
          <a:noFill/>
          <a:ln/>
        </p:spPr>
        <p:txBody>
          <a:bodyPr wrap="square" lIns="0" tIns="0" rIns="0" bIns="0" rtlCol="0" anchor="ctr"/>
          <a:lstStyle/>
          <a:p>
            <a:pPr algn="ctr" indent="0" marL="0">
              <a:buNone/>
            </a:pPr>
            <a:r>
              <a:rPr lang="en-US" sz="1300" dirty="0">
                <a:solidFill>
                  <a:srgbClr val="7A95A8"/>
                </a:solidFill>
              </a:rPr>
              <a:t>sur l'échelle</a:t>
            </a:r>
            <a:endParaRPr lang="en-US" sz="1300" dirty="0"/>
          </a:p>
          <a:p>
            <a:pPr algn="ctr" indent="0" marL="0">
              <a:buNone/>
            </a:pPr>
            <a:r>
              <a:rPr lang="en-US" sz="1300" dirty="0">
                <a:solidFill>
                  <a:srgbClr val="7A95A8"/>
                </a:solidFill>
              </a:rPr>
              <a:t>de Richter</a:t>
            </a:r>
            <a:endParaRPr lang="en-US" sz="1300" dirty="0"/>
          </a:p>
        </p:txBody>
      </p:sp>
      <p:sp>
        <p:nvSpPr>
          <p:cNvPr id="10" name="Shape 8"/>
          <p:cNvSpPr/>
          <p:nvPr/>
        </p:nvSpPr>
        <p:spPr>
          <a:xfrm>
            <a:off x="3566160" y="2331720"/>
            <a:ext cx="237744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1" name="Shape 9"/>
          <p:cNvSpPr/>
          <p:nvPr/>
        </p:nvSpPr>
        <p:spPr>
          <a:xfrm>
            <a:off x="3566160" y="2331720"/>
            <a:ext cx="54864" cy="1463040"/>
          </a:xfrm>
          <a:prstGeom prst="rect">
            <a:avLst/>
          </a:prstGeom>
          <a:solidFill>
            <a:srgbClr val="E74C3C"/>
          </a:solidFill>
          <a:ln/>
        </p:spPr>
      </p:sp>
      <p:sp>
        <p:nvSpPr>
          <p:cNvPr id="12" name="Text 10"/>
          <p:cNvSpPr/>
          <p:nvPr/>
        </p:nvSpPr>
        <p:spPr>
          <a:xfrm>
            <a:off x="3675888" y="2377440"/>
            <a:ext cx="2194560" cy="777240"/>
          </a:xfrm>
          <a:prstGeom prst="rect">
            <a:avLst/>
          </a:prstGeom>
          <a:noFill/>
          <a:ln/>
        </p:spPr>
        <p:txBody>
          <a:bodyPr wrap="square" lIns="0" tIns="0" rIns="0" bIns="0" rtlCol="0" anchor="ctr"/>
          <a:lstStyle/>
          <a:p>
            <a:pPr algn="ctr" indent="0" marL="0">
              <a:buNone/>
            </a:pPr>
            <a:r>
              <a:rPr lang="en-US" sz="4200" b="1" dirty="0">
                <a:solidFill>
                  <a:srgbClr val="E74C3C"/>
                </a:solidFill>
                <a:latin typeface="Arial Black" pitchFamily="34" charset="0"/>
                <a:ea typeface="Arial Black" pitchFamily="34" charset="-122"/>
                <a:cs typeface="Arial Black" pitchFamily="34" charset="-120"/>
              </a:rPr>
              <a:t>2 960</a:t>
            </a:r>
            <a:endParaRPr lang="en-US" sz="4200" dirty="0"/>
          </a:p>
        </p:txBody>
      </p:sp>
      <p:sp>
        <p:nvSpPr>
          <p:cNvPr id="13" name="Text 11"/>
          <p:cNvSpPr/>
          <p:nvPr/>
        </p:nvSpPr>
        <p:spPr>
          <a:xfrm>
            <a:off x="3675888" y="3108960"/>
            <a:ext cx="2194560" cy="594360"/>
          </a:xfrm>
          <a:prstGeom prst="rect">
            <a:avLst/>
          </a:prstGeom>
          <a:noFill/>
          <a:ln/>
        </p:spPr>
        <p:txBody>
          <a:bodyPr wrap="square" lIns="0" tIns="0" rIns="0" bIns="0" rtlCol="0" anchor="ctr"/>
          <a:lstStyle/>
          <a:p>
            <a:pPr algn="ctr" indent="0" marL="0">
              <a:buNone/>
            </a:pPr>
            <a:r>
              <a:rPr lang="en-US" sz="1300" dirty="0">
                <a:solidFill>
                  <a:srgbClr val="7A95A8"/>
                </a:solidFill>
              </a:rPr>
              <a:t>morts</a:t>
            </a:r>
            <a:endParaRPr lang="en-US" sz="1300" dirty="0"/>
          </a:p>
        </p:txBody>
      </p:sp>
      <p:sp>
        <p:nvSpPr>
          <p:cNvPr id="14" name="Shape 12"/>
          <p:cNvSpPr/>
          <p:nvPr/>
        </p:nvSpPr>
        <p:spPr>
          <a:xfrm>
            <a:off x="6309360" y="2331720"/>
            <a:ext cx="237744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5" name="Shape 13"/>
          <p:cNvSpPr/>
          <p:nvPr/>
        </p:nvSpPr>
        <p:spPr>
          <a:xfrm>
            <a:off x="6309360" y="2331720"/>
            <a:ext cx="54864" cy="1463040"/>
          </a:xfrm>
          <a:prstGeom prst="rect">
            <a:avLst/>
          </a:prstGeom>
          <a:solidFill>
            <a:srgbClr val="3498DB"/>
          </a:solidFill>
          <a:ln/>
        </p:spPr>
      </p:sp>
      <p:sp>
        <p:nvSpPr>
          <p:cNvPr id="16" name="Text 14"/>
          <p:cNvSpPr/>
          <p:nvPr/>
        </p:nvSpPr>
        <p:spPr>
          <a:xfrm>
            <a:off x="6419088" y="2377440"/>
            <a:ext cx="2194560" cy="777240"/>
          </a:xfrm>
          <a:prstGeom prst="rect">
            <a:avLst/>
          </a:prstGeom>
          <a:noFill/>
          <a:ln/>
        </p:spPr>
        <p:txBody>
          <a:bodyPr wrap="square" lIns="0" tIns="0" rIns="0" bIns="0" rtlCol="0" anchor="ctr"/>
          <a:lstStyle/>
          <a:p>
            <a:pPr algn="ctr" indent="0" marL="0">
              <a:buNone/>
            </a:pPr>
            <a:r>
              <a:rPr lang="en-US" sz="4200" b="1" dirty="0">
                <a:solidFill>
                  <a:srgbClr val="3498DB"/>
                </a:solidFill>
                <a:latin typeface="Arial Black" pitchFamily="34" charset="0"/>
                <a:ea typeface="Arial Black" pitchFamily="34" charset="-122"/>
                <a:cs typeface="Arial Black" pitchFamily="34" charset="-120"/>
              </a:rPr>
              <a:t>300 000</a:t>
            </a:r>
            <a:endParaRPr lang="en-US" sz="4200" dirty="0"/>
          </a:p>
        </p:txBody>
      </p:sp>
      <p:sp>
        <p:nvSpPr>
          <p:cNvPr id="17" name="Text 15"/>
          <p:cNvSpPr/>
          <p:nvPr/>
        </p:nvSpPr>
        <p:spPr>
          <a:xfrm>
            <a:off x="6419088" y="3108960"/>
            <a:ext cx="2194560" cy="594360"/>
          </a:xfrm>
          <a:prstGeom prst="rect">
            <a:avLst/>
          </a:prstGeom>
          <a:noFill/>
          <a:ln/>
        </p:spPr>
        <p:txBody>
          <a:bodyPr wrap="square" lIns="0" tIns="0" rIns="0" bIns="0" rtlCol="0" anchor="ctr"/>
          <a:lstStyle/>
          <a:p>
            <a:pPr algn="ctr" indent="0" marL="0">
              <a:buNone/>
            </a:pPr>
            <a:r>
              <a:rPr lang="en-US" sz="1300" dirty="0">
                <a:solidFill>
                  <a:srgbClr val="7A95A8"/>
                </a:solidFill>
              </a:rPr>
              <a:t>sans abri</a:t>
            </a:r>
            <a:endParaRPr lang="en-US" sz="1300" dirty="0"/>
          </a:p>
        </p:txBody>
      </p:sp>
      <p:sp>
        <p:nvSpPr>
          <p:cNvPr id="18" name="Text 16"/>
          <p:cNvSpPr/>
          <p:nvPr/>
        </p:nvSpPr>
        <p:spPr>
          <a:xfrm>
            <a:off x="457200" y="3977640"/>
            <a:ext cx="8229600" cy="594360"/>
          </a:xfrm>
          <a:prstGeom prst="rect">
            <a:avLst/>
          </a:prstGeom>
          <a:noFill/>
          <a:ln/>
        </p:spPr>
        <p:txBody>
          <a:bodyPr wrap="square" lIns="0" tIns="0" rIns="0" bIns="0" rtlCol="0" anchor="ctr"/>
          <a:lstStyle/>
          <a:p>
            <a:pPr algn="ctr" indent="0" marL="0">
              <a:buNone/>
            </a:pPr>
            <a:r>
              <a:rPr lang="en-US" sz="1800" i="1" dirty="0">
                <a:solidFill>
                  <a:srgbClr val="D4A843"/>
                </a:solidFill>
              </a:rPr>
              <a:t>La vraie catastrophe commence APRÈS le séisme.</a:t>
            </a:r>
            <a:endParaRPr lang="en-US" sz="1800" dirty="0"/>
          </a:p>
        </p:txBody>
      </p:sp>
      <p:sp>
        <p:nvSpPr>
          <p:cNvPr id="19" name="Text 17"/>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300" dirty="0">
                <a:solidFill>
                  <a:srgbClr val="7A95A8"/>
                </a:solidFill>
              </a:rPr>
              <a:t>Quand il faut distribuer l'aide — vite, équitablement, sans erreur.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C0392B"/>
          </a:solidFill>
          <a:ln/>
        </p:spPr>
      </p:sp>
      <p:sp>
        <p:nvSpPr>
          <p:cNvPr id="3" name="Shape 1"/>
          <p:cNvSpPr/>
          <p:nvPr/>
        </p:nvSpPr>
        <p:spPr>
          <a:xfrm>
            <a:off x="457200" y="164592"/>
            <a:ext cx="1243584"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4" name="Text 2"/>
          <p:cNvSpPr/>
          <p:nvPr/>
        </p:nvSpPr>
        <p:spPr>
          <a:xfrm>
            <a:off x="457200" y="164592"/>
            <a:ext cx="1243584" cy="256032"/>
          </a:xfrm>
          <a:prstGeom prst="rect">
            <a:avLst/>
          </a:prstGeom>
          <a:noFill/>
          <a:ln/>
        </p:spPr>
        <p:txBody>
          <a:bodyPr wrap="square" lIns="0" tIns="0" rIns="0" bIns="0" rtlCol="0" anchor="ctr"/>
          <a:lstStyle/>
          <a:p>
            <a:pPr algn="ctr" indent="0" marL="0">
              <a:buNone/>
            </a:pPr>
            <a:r>
              <a:rPr lang="en-US" sz="900" b="1" dirty="0">
                <a:solidFill>
                  <a:srgbClr val="0D1B2A"/>
                </a:solidFill>
              </a:rPr>
              <a:t>PROBLÈME</a:t>
            </a:r>
            <a:endParaRPr lang="en-US" sz="900" dirty="0"/>
          </a:p>
        </p:txBody>
      </p:sp>
      <p:sp>
        <p:nvSpPr>
          <p:cNvPr id="5" name="Text 3"/>
          <p:cNvSpPr/>
          <p:nvPr/>
        </p:nvSpPr>
        <p:spPr>
          <a:xfrm>
            <a:off x="182880" y="438912"/>
            <a:ext cx="877824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6 obstacles critiques</a:t>
            </a:r>
            <a:endParaRPr lang="en-US" sz="3400" dirty="0"/>
          </a:p>
          <a:p>
            <a:pPr algn="ctr" indent="0" marL="0">
              <a:buNone/>
            </a:pPr>
            <a:r>
              <a:rPr lang="en-US" sz="3400" b="1" dirty="0">
                <a:solidFill>
                  <a:srgbClr val="FFFFFF"/>
                </a:solidFill>
                <a:latin typeface="Arial Black" pitchFamily="34" charset="0"/>
                <a:ea typeface="Arial Black" pitchFamily="34" charset="-122"/>
                <a:cs typeface="Arial Black" pitchFamily="34" charset="-120"/>
              </a:rPr>
              <a:t>que NAJDA résout</a:t>
            </a:r>
            <a:endParaRPr lang="en-US" sz="3400" dirty="0"/>
          </a:p>
        </p:txBody>
      </p:sp>
      <p:sp>
        <p:nvSpPr>
          <p:cNvPr id="6" name="Shape 4"/>
          <p:cNvSpPr/>
          <p:nvPr/>
        </p:nvSpPr>
        <p:spPr>
          <a:xfrm>
            <a:off x="274320" y="1444752"/>
            <a:ext cx="2743200" cy="1261872"/>
          </a:xfrm>
          <a:prstGeom prst="rect">
            <a:avLst/>
          </a:prstGeom>
          <a:solidFill>
            <a:srgbClr val="13253D"/>
          </a:solidFill>
          <a:ln/>
          <a:effectLst>
            <a:outerShdw sx="100000" sy="100000" kx="0" ky="0" algn="bl" rotWithShape="0" blurRad="76200" dist="25400" dir="8100000">
              <a:srgbClr val="000000">
                <a:alpha val="25000"/>
              </a:srgbClr>
            </a:outerShdw>
          </a:effectLst>
        </p:spPr>
      </p:sp>
      <p:sp>
        <p:nvSpPr>
          <p:cNvPr id="7" name="Shape 5"/>
          <p:cNvSpPr/>
          <p:nvPr/>
        </p:nvSpPr>
        <p:spPr>
          <a:xfrm>
            <a:off x="274320" y="1444752"/>
            <a:ext cx="54864" cy="1261872"/>
          </a:xfrm>
          <a:prstGeom prst="rect">
            <a:avLst/>
          </a:prstGeom>
          <a:solidFill>
            <a:srgbClr val="E74C3C"/>
          </a:solidFill>
          <a:ln/>
        </p:spPr>
      </p:sp>
      <p:pic>
        <p:nvPicPr>
          <p:cNvPr id="8" name="Image 0" descr="preencoded.png">    </p:cNvPr>
          <p:cNvPicPr>
            <a:picLocks noChangeAspect="1"/>
          </p:cNvPicPr>
          <p:nvPr/>
        </p:nvPicPr>
        <p:blipFill>
          <a:blip r:embed="rId1"/>
          <a:stretch>
            <a:fillRect/>
          </a:stretch>
        </p:blipFill>
        <p:spPr>
          <a:xfrm>
            <a:off x="402336" y="1828800"/>
            <a:ext cx="402336" cy="402336"/>
          </a:xfrm>
          <a:prstGeom prst="rect">
            <a:avLst/>
          </a:prstGeom>
        </p:spPr>
      </p:pic>
      <p:sp>
        <p:nvSpPr>
          <p:cNvPr id="9" name="Text 6"/>
          <p:cNvSpPr/>
          <p:nvPr/>
        </p:nvSpPr>
        <p:spPr>
          <a:xfrm>
            <a:off x="914400" y="1536192"/>
            <a:ext cx="2029968" cy="411480"/>
          </a:xfrm>
          <a:prstGeom prst="rect">
            <a:avLst/>
          </a:prstGeom>
          <a:noFill/>
          <a:ln/>
        </p:spPr>
        <p:txBody>
          <a:bodyPr wrap="square" lIns="0" tIns="0" rIns="0" bIns="0" rtlCol="0" anchor="ctr"/>
          <a:lstStyle/>
          <a:p>
            <a:pPr algn="l" indent="0" marL="0">
              <a:buNone/>
            </a:pPr>
            <a:r>
              <a:rPr lang="en-US" sz="1400" b="1" dirty="0">
                <a:solidFill>
                  <a:srgbClr val="FFFFFF"/>
                </a:solidFill>
              </a:rPr>
              <a:t>Réseau coupé</a:t>
            </a:r>
            <a:endParaRPr lang="en-US" sz="1400" dirty="0"/>
          </a:p>
        </p:txBody>
      </p:sp>
      <p:sp>
        <p:nvSpPr>
          <p:cNvPr id="10" name="Text 7"/>
          <p:cNvSpPr/>
          <p:nvPr/>
        </p:nvSpPr>
        <p:spPr>
          <a:xfrm>
            <a:off x="914400" y="1947672"/>
            <a:ext cx="2029968" cy="658368"/>
          </a:xfrm>
          <a:prstGeom prst="rect">
            <a:avLst/>
          </a:prstGeom>
          <a:noFill/>
          <a:ln/>
        </p:spPr>
        <p:txBody>
          <a:bodyPr wrap="square" lIns="0" tIns="0" rIns="0" bIns="0" rtlCol="0" anchor="t"/>
          <a:lstStyle/>
          <a:p>
            <a:pPr algn="l" indent="0" marL="0">
              <a:buNone/>
            </a:pPr>
            <a:r>
              <a:rPr lang="en-US" sz="1150" dirty="0">
                <a:solidFill>
                  <a:srgbClr val="7A95A8"/>
                </a:solidFill>
              </a:rPr>
              <a:t>0 visibilité terrain</a:t>
            </a:r>
            <a:endParaRPr lang="en-US" sz="1150" dirty="0"/>
          </a:p>
          <a:p>
            <a:pPr algn="l" indent="0" marL="0">
              <a:buNone/>
            </a:pPr>
            <a:r>
              <a:rPr lang="en-US" sz="1150" dirty="0">
                <a:solidFill>
                  <a:srgbClr val="7A95A8"/>
                </a:solidFill>
              </a:rPr>
              <a:t>en zone isolée</a:t>
            </a:r>
            <a:endParaRPr lang="en-US" sz="1150" dirty="0"/>
          </a:p>
        </p:txBody>
      </p:sp>
      <p:sp>
        <p:nvSpPr>
          <p:cNvPr id="11" name="Shape 8"/>
          <p:cNvSpPr/>
          <p:nvPr/>
        </p:nvSpPr>
        <p:spPr>
          <a:xfrm>
            <a:off x="3200400" y="1444752"/>
            <a:ext cx="2743200" cy="1261872"/>
          </a:xfrm>
          <a:prstGeom prst="rect">
            <a:avLst/>
          </a:prstGeom>
          <a:solidFill>
            <a:srgbClr val="13253D"/>
          </a:solidFill>
          <a:ln/>
          <a:effectLst>
            <a:outerShdw sx="100000" sy="100000" kx="0" ky="0" algn="bl" rotWithShape="0" blurRad="76200" dist="25400" dir="8100000">
              <a:srgbClr val="000000">
                <a:alpha val="25000"/>
              </a:srgbClr>
            </a:outerShdw>
          </a:effectLst>
        </p:spPr>
      </p:sp>
      <p:sp>
        <p:nvSpPr>
          <p:cNvPr id="12" name="Shape 9"/>
          <p:cNvSpPr/>
          <p:nvPr/>
        </p:nvSpPr>
        <p:spPr>
          <a:xfrm>
            <a:off x="3200400" y="1444752"/>
            <a:ext cx="54864" cy="1261872"/>
          </a:xfrm>
          <a:prstGeom prst="rect">
            <a:avLst/>
          </a:prstGeom>
          <a:solidFill>
            <a:srgbClr val="E74C3C"/>
          </a:solidFill>
          <a:ln/>
        </p:spPr>
      </p:sp>
      <p:pic>
        <p:nvPicPr>
          <p:cNvPr id="13" name="Image 1" descr="preencoded.png">    </p:cNvPr>
          <p:cNvPicPr>
            <a:picLocks noChangeAspect="1"/>
          </p:cNvPicPr>
          <p:nvPr/>
        </p:nvPicPr>
        <p:blipFill>
          <a:blip r:embed="rId2"/>
          <a:stretch>
            <a:fillRect/>
          </a:stretch>
        </p:blipFill>
        <p:spPr>
          <a:xfrm>
            <a:off x="3328416" y="1828800"/>
            <a:ext cx="402336" cy="402336"/>
          </a:xfrm>
          <a:prstGeom prst="rect">
            <a:avLst/>
          </a:prstGeom>
        </p:spPr>
      </p:pic>
      <p:sp>
        <p:nvSpPr>
          <p:cNvPr id="14" name="Text 10"/>
          <p:cNvSpPr/>
          <p:nvPr/>
        </p:nvSpPr>
        <p:spPr>
          <a:xfrm>
            <a:off x="3840480" y="1536192"/>
            <a:ext cx="2029968" cy="411480"/>
          </a:xfrm>
          <a:prstGeom prst="rect">
            <a:avLst/>
          </a:prstGeom>
          <a:noFill/>
          <a:ln/>
        </p:spPr>
        <p:txBody>
          <a:bodyPr wrap="square" lIns="0" tIns="0" rIns="0" bIns="0" rtlCol="0" anchor="ctr"/>
          <a:lstStyle/>
          <a:p>
            <a:pPr algn="l" indent="0" marL="0">
              <a:buNone/>
            </a:pPr>
            <a:r>
              <a:rPr lang="en-US" sz="1400" b="1" dirty="0">
                <a:solidFill>
                  <a:srgbClr val="FFFFFF"/>
                </a:solidFill>
              </a:rPr>
              <a:t>Données éparpillées</a:t>
            </a:r>
            <a:endParaRPr lang="en-US" sz="1400" dirty="0"/>
          </a:p>
        </p:txBody>
      </p:sp>
      <p:sp>
        <p:nvSpPr>
          <p:cNvPr id="15" name="Text 11"/>
          <p:cNvSpPr/>
          <p:nvPr/>
        </p:nvSpPr>
        <p:spPr>
          <a:xfrm>
            <a:off x="3840480" y="1947672"/>
            <a:ext cx="2029968" cy="658368"/>
          </a:xfrm>
          <a:prstGeom prst="rect">
            <a:avLst/>
          </a:prstGeom>
          <a:noFill/>
          <a:ln/>
        </p:spPr>
        <p:txBody>
          <a:bodyPr wrap="square" lIns="0" tIns="0" rIns="0" bIns="0" rtlCol="0" anchor="t"/>
          <a:lstStyle/>
          <a:p>
            <a:pPr algn="l" indent="0" marL="0">
              <a:buNone/>
            </a:pPr>
            <a:r>
              <a:rPr lang="en-US" sz="1150" dirty="0">
                <a:solidFill>
                  <a:srgbClr val="7A95A8"/>
                </a:solidFill>
              </a:rPr>
              <a:t>Stocks, missions, terrain</a:t>
            </a:r>
            <a:endParaRPr lang="en-US" sz="1150" dirty="0"/>
          </a:p>
          <a:p>
            <a:pPr algn="l" indent="0" marL="0">
              <a:buNone/>
            </a:pPr>
            <a:r>
              <a:rPr lang="en-US" sz="1150" dirty="0">
                <a:solidFill>
                  <a:srgbClr val="7A95A8"/>
                </a:solidFill>
              </a:rPr>
              <a:t>non centralisés</a:t>
            </a:r>
            <a:endParaRPr lang="en-US" sz="1150" dirty="0"/>
          </a:p>
        </p:txBody>
      </p:sp>
      <p:sp>
        <p:nvSpPr>
          <p:cNvPr id="16" name="Shape 12"/>
          <p:cNvSpPr/>
          <p:nvPr/>
        </p:nvSpPr>
        <p:spPr>
          <a:xfrm>
            <a:off x="6126480" y="1444752"/>
            <a:ext cx="2743200" cy="1261872"/>
          </a:xfrm>
          <a:prstGeom prst="rect">
            <a:avLst/>
          </a:prstGeom>
          <a:solidFill>
            <a:srgbClr val="13253D"/>
          </a:solidFill>
          <a:ln/>
          <a:effectLst>
            <a:outerShdw sx="100000" sy="100000" kx="0" ky="0" algn="bl" rotWithShape="0" blurRad="76200" dist="25400" dir="8100000">
              <a:srgbClr val="000000">
                <a:alpha val="25000"/>
              </a:srgbClr>
            </a:outerShdw>
          </a:effectLst>
        </p:spPr>
      </p:sp>
      <p:sp>
        <p:nvSpPr>
          <p:cNvPr id="17" name="Shape 13"/>
          <p:cNvSpPr/>
          <p:nvPr/>
        </p:nvSpPr>
        <p:spPr>
          <a:xfrm>
            <a:off x="6126480" y="1444752"/>
            <a:ext cx="54864" cy="1261872"/>
          </a:xfrm>
          <a:prstGeom prst="rect">
            <a:avLst/>
          </a:prstGeom>
          <a:solidFill>
            <a:srgbClr val="E74C3C"/>
          </a:solidFill>
          <a:ln/>
        </p:spPr>
      </p:sp>
      <p:pic>
        <p:nvPicPr>
          <p:cNvPr id="18" name="Image 2" descr="preencoded.png">    </p:cNvPr>
          <p:cNvPicPr>
            <a:picLocks noChangeAspect="1"/>
          </p:cNvPicPr>
          <p:nvPr/>
        </p:nvPicPr>
        <p:blipFill>
          <a:blip r:embed="rId3"/>
          <a:stretch>
            <a:fillRect/>
          </a:stretch>
        </p:blipFill>
        <p:spPr>
          <a:xfrm>
            <a:off x="6254496" y="1828800"/>
            <a:ext cx="402336" cy="402336"/>
          </a:xfrm>
          <a:prstGeom prst="rect">
            <a:avLst/>
          </a:prstGeom>
        </p:spPr>
      </p:pic>
      <p:sp>
        <p:nvSpPr>
          <p:cNvPr id="19" name="Text 14"/>
          <p:cNvSpPr/>
          <p:nvPr/>
        </p:nvSpPr>
        <p:spPr>
          <a:xfrm>
            <a:off x="6766560" y="1536192"/>
            <a:ext cx="2029968" cy="411480"/>
          </a:xfrm>
          <a:prstGeom prst="rect">
            <a:avLst/>
          </a:prstGeom>
          <a:noFill/>
          <a:ln/>
        </p:spPr>
        <p:txBody>
          <a:bodyPr wrap="square" lIns="0" tIns="0" rIns="0" bIns="0" rtlCol="0" anchor="ctr"/>
          <a:lstStyle/>
          <a:p>
            <a:pPr algn="l" indent="0" marL="0">
              <a:buNone/>
            </a:pPr>
            <a:r>
              <a:rPr lang="en-US" sz="1400" b="1" dirty="0">
                <a:solidFill>
                  <a:srgbClr val="FFFFFF"/>
                </a:solidFill>
              </a:rPr>
              <a:t>Décisions intuitives</a:t>
            </a:r>
            <a:endParaRPr lang="en-US" sz="1400" dirty="0"/>
          </a:p>
        </p:txBody>
      </p:sp>
      <p:sp>
        <p:nvSpPr>
          <p:cNvPr id="20" name="Text 15"/>
          <p:cNvSpPr/>
          <p:nvPr/>
        </p:nvSpPr>
        <p:spPr>
          <a:xfrm>
            <a:off x="6766560" y="1947672"/>
            <a:ext cx="2029968" cy="658368"/>
          </a:xfrm>
          <a:prstGeom prst="rect">
            <a:avLst/>
          </a:prstGeom>
          <a:noFill/>
          <a:ln/>
        </p:spPr>
        <p:txBody>
          <a:bodyPr wrap="square" lIns="0" tIns="0" rIns="0" bIns="0" rtlCol="0" anchor="t"/>
          <a:lstStyle/>
          <a:p>
            <a:pPr algn="l" indent="0" marL="0">
              <a:buNone/>
            </a:pPr>
            <a:r>
              <a:rPr lang="en-US" sz="1150" dirty="0">
                <a:solidFill>
                  <a:srgbClr val="7A95A8"/>
                </a:solidFill>
              </a:rPr>
              <a:t>Aucune priorisation</a:t>
            </a:r>
            <a:endParaRPr lang="en-US" sz="1150" dirty="0"/>
          </a:p>
          <a:p>
            <a:pPr algn="l" indent="0" marL="0">
              <a:buNone/>
            </a:pPr>
            <a:r>
              <a:rPr lang="en-US" sz="1150" dirty="0">
                <a:solidFill>
                  <a:srgbClr val="7A95A8"/>
                </a:solidFill>
              </a:rPr>
              <a:t>scientifique des douars</a:t>
            </a:r>
            <a:endParaRPr lang="en-US" sz="1150" dirty="0"/>
          </a:p>
        </p:txBody>
      </p:sp>
      <p:sp>
        <p:nvSpPr>
          <p:cNvPr id="21" name="Shape 16"/>
          <p:cNvSpPr/>
          <p:nvPr/>
        </p:nvSpPr>
        <p:spPr>
          <a:xfrm>
            <a:off x="274320" y="2889504"/>
            <a:ext cx="2743200" cy="1261872"/>
          </a:xfrm>
          <a:prstGeom prst="rect">
            <a:avLst/>
          </a:prstGeom>
          <a:solidFill>
            <a:srgbClr val="13253D"/>
          </a:solidFill>
          <a:ln/>
          <a:effectLst>
            <a:outerShdw sx="100000" sy="100000" kx="0" ky="0" algn="bl" rotWithShape="0" blurRad="76200" dist="25400" dir="8100000">
              <a:srgbClr val="000000">
                <a:alpha val="25000"/>
              </a:srgbClr>
            </a:outerShdw>
          </a:effectLst>
        </p:spPr>
      </p:sp>
      <p:sp>
        <p:nvSpPr>
          <p:cNvPr id="22" name="Shape 17"/>
          <p:cNvSpPr/>
          <p:nvPr/>
        </p:nvSpPr>
        <p:spPr>
          <a:xfrm>
            <a:off x="274320" y="2889504"/>
            <a:ext cx="54864" cy="1261872"/>
          </a:xfrm>
          <a:prstGeom prst="rect">
            <a:avLst/>
          </a:prstGeom>
          <a:solidFill>
            <a:srgbClr val="E74C3C"/>
          </a:solidFill>
          <a:ln/>
        </p:spPr>
      </p:sp>
      <p:pic>
        <p:nvPicPr>
          <p:cNvPr id="23" name="Image 3" descr="preencoded.png">    </p:cNvPr>
          <p:cNvPicPr>
            <a:picLocks noChangeAspect="1"/>
          </p:cNvPicPr>
          <p:nvPr/>
        </p:nvPicPr>
        <p:blipFill>
          <a:blip r:embed="rId4"/>
          <a:stretch>
            <a:fillRect/>
          </a:stretch>
        </p:blipFill>
        <p:spPr>
          <a:xfrm>
            <a:off x="402336" y="3273552"/>
            <a:ext cx="402336" cy="402336"/>
          </a:xfrm>
          <a:prstGeom prst="rect">
            <a:avLst/>
          </a:prstGeom>
        </p:spPr>
      </p:pic>
      <p:sp>
        <p:nvSpPr>
          <p:cNvPr id="24" name="Text 18"/>
          <p:cNvSpPr/>
          <p:nvPr/>
        </p:nvSpPr>
        <p:spPr>
          <a:xfrm>
            <a:off x="914400" y="2980944"/>
            <a:ext cx="2029968" cy="411480"/>
          </a:xfrm>
          <a:prstGeom prst="rect">
            <a:avLst/>
          </a:prstGeom>
          <a:noFill/>
          <a:ln/>
        </p:spPr>
        <p:txBody>
          <a:bodyPr wrap="square" lIns="0" tIns="0" rIns="0" bIns="0" rtlCol="0" anchor="ctr"/>
          <a:lstStyle/>
          <a:p>
            <a:pPr algn="l" indent="0" marL="0">
              <a:buNone/>
            </a:pPr>
            <a:r>
              <a:rPr lang="en-US" sz="1400" b="1" dirty="0">
                <a:solidFill>
                  <a:srgbClr val="FFFFFF"/>
                </a:solidFill>
              </a:rPr>
              <a:t>Tournées manuelles</a:t>
            </a:r>
            <a:endParaRPr lang="en-US" sz="1400" dirty="0"/>
          </a:p>
        </p:txBody>
      </p:sp>
      <p:sp>
        <p:nvSpPr>
          <p:cNvPr id="25" name="Text 19"/>
          <p:cNvSpPr/>
          <p:nvPr/>
        </p:nvSpPr>
        <p:spPr>
          <a:xfrm>
            <a:off x="914400" y="3392424"/>
            <a:ext cx="2029968" cy="658368"/>
          </a:xfrm>
          <a:prstGeom prst="rect">
            <a:avLst/>
          </a:prstGeom>
          <a:noFill/>
          <a:ln/>
        </p:spPr>
        <p:txBody>
          <a:bodyPr wrap="square" lIns="0" tIns="0" rIns="0" bIns="0" rtlCol="0" anchor="t"/>
          <a:lstStyle/>
          <a:p>
            <a:pPr algn="l" indent="0" marL="0">
              <a:buNone/>
            </a:pPr>
            <a:r>
              <a:rPr lang="en-US" sz="1150" dirty="0">
                <a:solidFill>
                  <a:srgbClr val="7A95A8"/>
                </a:solidFill>
              </a:rPr>
              <a:t>Lentes, sous-optimales</a:t>
            </a:r>
            <a:endParaRPr lang="en-US" sz="1150" dirty="0"/>
          </a:p>
          <a:p>
            <a:pPr algn="l" indent="0" marL="0">
              <a:buNone/>
            </a:pPr>
            <a:r>
              <a:rPr lang="en-US" sz="1150" dirty="0">
                <a:solidFill>
                  <a:srgbClr val="7A95A8"/>
                </a:solidFill>
              </a:rPr>
              <a:t>et injustes</a:t>
            </a:r>
            <a:endParaRPr lang="en-US" sz="1150" dirty="0"/>
          </a:p>
        </p:txBody>
      </p:sp>
      <p:sp>
        <p:nvSpPr>
          <p:cNvPr id="26" name="Shape 20"/>
          <p:cNvSpPr/>
          <p:nvPr/>
        </p:nvSpPr>
        <p:spPr>
          <a:xfrm>
            <a:off x="3200400" y="2889504"/>
            <a:ext cx="2743200" cy="1261872"/>
          </a:xfrm>
          <a:prstGeom prst="rect">
            <a:avLst/>
          </a:prstGeom>
          <a:solidFill>
            <a:srgbClr val="13253D"/>
          </a:solidFill>
          <a:ln/>
          <a:effectLst>
            <a:outerShdw sx="100000" sy="100000" kx="0" ky="0" algn="bl" rotWithShape="0" blurRad="76200" dist="25400" dir="8100000">
              <a:srgbClr val="000000">
                <a:alpha val="25000"/>
              </a:srgbClr>
            </a:outerShdw>
          </a:effectLst>
        </p:spPr>
      </p:sp>
      <p:sp>
        <p:nvSpPr>
          <p:cNvPr id="27" name="Shape 21"/>
          <p:cNvSpPr/>
          <p:nvPr/>
        </p:nvSpPr>
        <p:spPr>
          <a:xfrm>
            <a:off x="3200400" y="2889504"/>
            <a:ext cx="54864" cy="1261872"/>
          </a:xfrm>
          <a:prstGeom prst="rect">
            <a:avLst/>
          </a:prstGeom>
          <a:solidFill>
            <a:srgbClr val="D4A843"/>
          </a:solidFill>
          <a:ln/>
        </p:spPr>
      </p:sp>
      <p:pic>
        <p:nvPicPr>
          <p:cNvPr id="28" name="Image 4" descr="preencoded.png">    </p:cNvPr>
          <p:cNvPicPr>
            <a:picLocks noChangeAspect="1"/>
          </p:cNvPicPr>
          <p:nvPr/>
        </p:nvPicPr>
        <p:blipFill>
          <a:blip r:embed="rId5"/>
          <a:stretch>
            <a:fillRect/>
          </a:stretch>
        </p:blipFill>
        <p:spPr>
          <a:xfrm>
            <a:off x="3328416" y="3273552"/>
            <a:ext cx="402336" cy="402336"/>
          </a:xfrm>
          <a:prstGeom prst="rect">
            <a:avLst/>
          </a:prstGeom>
        </p:spPr>
      </p:pic>
      <p:sp>
        <p:nvSpPr>
          <p:cNvPr id="29" name="Text 22"/>
          <p:cNvSpPr/>
          <p:nvPr/>
        </p:nvSpPr>
        <p:spPr>
          <a:xfrm>
            <a:off x="3840480" y="2980944"/>
            <a:ext cx="2029968" cy="411480"/>
          </a:xfrm>
          <a:prstGeom prst="rect">
            <a:avLst/>
          </a:prstGeom>
          <a:noFill/>
          <a:ln/>
        </p:spPr>
        <p:txBody>
          <a:bodyPr wrap="square" lIns="0" tIns="0" rIns="0" bIns="0" rtlCol="0" anchor="ctr"/>
          <a:lstStyle/>
          <a:p>
            <a:pPr algn="l" indent="0" marL="0">
              <a:buNone/>
            </a:pPr>
            <a:r>
              <a:rPr lang="en-US" sz="1400" b="1" dirty="0">
                <a:solidFill>
                  <a:srgbClr val="FFFFFF"/>
                </a:solidFill>
              </a:rPr>
              <a:t>Données non sécurisées</a:t>
            </a:r>
            <a:endParaRPr lang="en-US" sz="1400" dirty="0"/>
          </a:p>
        </p:txBody>
      </p:sp>
      <p:sp>
        <p:nvSpPr>
          <p:cNvPr id="30" name="Text 23"/>
          <p:cNvSpPr/>
          <p:nvPr/>
        </p:nvSpPr>
        <p:spPr>
          <a:xfrm>
            <a:off x="3840480" y="3392424"/>
            <a:ext cx="2029968" cy="658368"/>
          </a:xfrm>
          <a:prstGeom prst="rect">
            <a:avLst/>
          </a:prstGeom>
          <a:noFill/>
          <a:ln/>
        </p:spPr>
        <p:txBody>
          <a:bodyPr wrap="square" lIns="0" tIns="0" rIns="0" bIns="0" rtlCol="0" anchor="t"/>
          <a:lstStyle/>
          <a:p>
            <a:pPr algn="l" indent="0" marL="0">
              <a:buNone/>
            </a:pPr>
            <a:r>
              <a:rPr lang="en-US" sz="1150" dirty="0">
                <a:solidFill>
                  <a:srgbClr val="7A95A8"/>
                </a:solidFill>
              </a:rPr>
              <a:t>Accès non contrôlé</a:t>
            </a:r>
            <a:endParaRPr lang="en-US" sz="1150" dirty="0"/>
          </a:p>
          <a:p>
            <a:pPr algn="l" indent="0" marL="0">
              <a:buNone/>
            </a:pPr>
            <a:r>
              <a:rPr lang="en-US" sz="1150" dirty="0">
                <a:solidFill>
                  <a:srgbClr val="7A95A8"/>
                </a:solidFill>
              </a:rPr>
              <a:t>aux informations sensibles</a:t>
            </a:r>
            <a:endParaRPr lang="en-US" sz="1150" dirty="0"/>
          </a:p>
        </p:txBody>
      </p:sp>
      <p:sp>
        <p:nvSpPr>
          <p:cNvPr id="31" name="Shape 24"/>
          <p:cNvSpPr/>
          <p:nvPr/>
        </p:nvSpPr>
        <p:spPr>
          <a:xfrm>
            <a:off x="6126480" y="2889504"/>
            <a:ext cx="2743200" cy="1261872"/>
          </a:xfrm>
          <a:prstGeom prst="rect">
            <a:avLst/>
          </a:prstGeom>
          <a:solidFill>
            <a:srgbClr val="13253D"/>
          </a:solidFill>
          <a:ln/>
          <a:effectLst>
            <a:outerShdw sx="100000" sy="100000" kx="0" ky="0" algn="bl" rotWithShape="0" blurRad="76200" dist="25400" dir="8100000">
              <a:srgbClr val="000000">
                <a:alpha val="25000"/>
              </a:srgbClr>
            </a:outerShdw>
          </a:effectLst>
        </p:spPr>
      </p:sp>
      <p:sp>
        <p:nvSpPr>
          <p:cNvPr id="32" name="Shape 25"/>
          <p:cNvSpPr/>
          <p:nvPr/>
        </p:nvSpPr>
        <p:spPr>
          <a:xfrm>
            <a:off x="6126480" y="2889504"/>
            <a:ext cx="54864" cy="1261872"/>
          </a:xfrm>
          <a:prstGeom prst="rect">
            <a:avLst/>
          </a:prstGeom>
          <a:solidFill>
            <a:srgbClr val="D4A843"/>
          </a:solidFill>
          <a:ln/>
        </p:spPr>
      </p:sp>
      <p:pic>
        <p:nvPicPr>
          <p:cNvPr id="33" name="Image 5" descr="preencoded.png">    </p:cNvPr>
          <p:cNvPicPr>
            <a:picLocks noChangeAspect="1"/>
          </p:cNvPicPr>
          <p:nvPr/>
        </p:nvPicPr>
        <p:blipFill>
          <a:blip r:embed="rId6"/>
          <a:stretch>
            <a:fillRect/>
          </a:stretch>
        </p:blipFill>
        <p:spPr>
          <a:xfrm>
            <a:off x="6254496" y="3273552"/>
            <a:ext cx="402336" cy="402336"/>
          </a:xfrm>
          <a:prstGeom prst="rect">
            <a:avLst/>
          </a:prstGeom>
        </p:spPr>
      </p:pic>
      <p:sp>
        <p:nvSpPr>
          <p:cNvPr id="34" name="Text 26"/>
          <p:cNvSpPr/>
          <p:nvPr/>
        </p:nvSpPr>
        <p:spPr>
          <a:xfrm>
            <a:off x="6766560" y="2980944"/>
            <a:ext cx="2029968" cy="411480"/>
          </a:xfrm>
          <a:prstGeom prst="rect">
            <a:avLst/>
          </a:prstGeom>
          <a:noFill/>
          <a:ln/>
        </p:spPr>
        <p:txBody>
          <a:bodyPr wrap="square" lIns="0" tIns="0" rIns="0" bIns="0" rtlCol="0" anchor="ctr"/>
          <a:lstStyle/>
          <a:p>
            <a:pPr algn="l" indent="0" marL="0">
              <a:buNone/>
            </a:pPr>
            <a:r>
              <a:rPr lang="en-US" sz="1400" b="1" dirty="0">
                <a:solidFill>
                  <a:srgbClr val="FFFFFF"/>
                </a:solidFill>
              </a:rPr>
              <a:t>Zéro traçabilité</a:t>
            </a:r>
            <a:endParaRPr lang="en-US" sz="1400" dirty="0"/>
          </a:p>
        </p:txBody>
      </p:sp>
      <p:sp>
        <p:nvSpPr>
          <p:cNvPr id="35" name="Text 27"/>
          <p:cNvSpPr/>
          <p:nvPr/>
        </p:nvSpPr>
        <p:spPr>
          <a:xfrm>
            <a:off x="6766560" y="3392424"/>
            <a:ext cx="2029968" cy="658368"/>
          </a:xfrm>
          <a:prstGeom prst="rect">
            <a:avLst/>
          </a:prstGeom>
          <a:noFill/>
          <a:ln/>
        </p:spPr>
        <p:txBody>
          <a:bodyPr wrap="square" lIns="0" tIns="0" rIns="0" bIns="0" rtlCol="0" anchor="t"/>
          <a:lstStyle/>
          <a:p>
            <a:pPr algn="l" indent="0" marL="0">
              <a:buNone/>
            </a:pPr>
            <a:r>
              <a:rPr lang="en-US" sz="1150" dirty="0">
                <a:solidFill>
                  <a:srgbClr val="7A95A8"/>
                </a:solidFill>
              </a:rPr>
              <a:t>Fraudes et détournements</a:t>
            </a:r>
            <a:endParaRPr lang="en-US" sz="1150" dirty="0"/>
          </a:p>
          <a:p>
            <a:pPr algn="l" indent="0" marL="0">
              <a:buNone/>
            </a:pPr>
            <a:r>
              <a:rPr lang="en-US" sz="1150" dirty="0">
                <a:solidFill>
                  <a:srgbClr val="7A95A8"/>
                </a:solidFill>
              </a:rPr>
              <a:t>possibles, sans audit</a:t>
            </a:r>
            <a:endParaRPr lang="en-US" sz="1150" dirty="0"/>
          </a:p>
        </p:txBody>
      </p:sp>
      <p:sp>
        <p:nvSpPr>
          <p:cNvPr id="36" name="Shape 28"/>
          <p:cNvSpPr/>
          <p:nvPr/>
        </p:nvSpPr>
        <p:spPr>
          <a:xfrm>
            <a:off x="274320" y="4507992"/>
            <a:ext cx="8595360" cy="457200"/>
          </a:xfrm>
          <a:prstGeom prst="rect">
            <a:avLst/>
          </a:prstGeom>
          <a:solidFill>
            <a:srgbClr val="1E3A5F"/>
          </a:solidFill>
          <a:ln/>
        </p:spPr>
      </p:sp>
      <p:sp>
        <p:nvSpPr>
          <p:cNvPr id="37" name="Shape 29"/>
          <p:cNvSpPr/>
          <p:nvPr/>
        </p:nvSpPr>
        <p:spPr>
          <a:xfrm>
            <a:off x="274320" y="4507992"/>
            <a:ext cx="54864" cy="457200"/>
          </a:xfrm>
          <a:prstGeom prst="rect">
            <a:avLst/>
          </a:prstGeom>
          <a:solidFill>
            <a:srgbClr val="D4A843"/>
          </a:solidFill>
          <a:ln/>
        </p:spPr>
      </p:sp>
      <p:sp>
        <p:nvSpPr>
          <p:cNvPr id="38" name="Text 30"/>
          <p:cNvSpPr/>
          <p:nvPr/>
        </p:nvSpPr>
        <p:spPr>
          <a:xfrm>
            <a:off x="457200" y="4507992"/>
            <a:ext cx="8321040" cy="457200"/>
          </a:xfrm>
          <a:prstGeom prst="rect">
            <a:avLst/>
          </a:prstGeom>
          <a:noFill/>
          <a:ln/>
        </p:spPr>
        <p:txBody>
          <a:bodyPr wrap="square" lIns="0" tIns="0" rIns="0" bIns="0" rtlCol="0" anchor="ctr"/>
          <a:lstStyle/>
          <a:p>
            <a:pPr algn="ctr" indent="0" marL="0">
              <a:buNone/>
            </a:pPr>
            <a:r>
              <a:rPr lang="en-US" sz="1250" i="1" dirty="0">
                <a:solidFill>
                  <a:srgbClr val="D4A843"/>
                </a:solidFill>
              </a:rPr>
              <a:t>Sans sécurité des données, même une bonne décision peut être falsifiée — et des vies perdues.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D4A843"/>
          </a:solidFill>
          <a:ln/>
        </p:spPr>
      </p:sp>
      <p:sp>
        <p:nvSpPr>
          <p:cNvPr id="3" name="Shape 1"/>
          <p:cNvSpPr/>
          <p:nvPr/>
        </p:nvSpPr>
        <p:spPr>
          <a:xfrm>
            <a:off x="457200" y="164592"/>
            <a:ext cx="1243584"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4" name="Text 2"/>
          <p:cNvSpPr/>
          <p:nvPr/>
        </p:nvSpPr>
        <p:spPr>
          <a:xfrm>
            <a:off x="457200" y="164592"/>
            <a:ext cx="1243584" cy="256032"/>
          </a:xfrm>
          <a:prstGeom prst="rect">
            <a:avLst/>
          </a:prstGeom>
          <a:noFill/>
          <a:ln/>
        </p:spPr>
        <p:txBody>
          <a:bodyPr wrap="square" lIns="0" tIns="0" rIns="0" bIns="0" rtlCol="0" anchor="ctr"/>
          <a:lstStyle/>
          <a:p>
            <a:pPr algn="ctr" indent="0" marL="0">
              <a:buNone/>
            </a:pPr>
            <a:r>
              <a:rPr lang="en-US" sz="900" b="1" dirty="0">
                <a:solidFill>
                  <a:srgbClr val="0D1B2A"/>
                </a:solidFill>
              </a:rPr>
              <a:t>CONTEXTE</a:t>
            </a:r>
            <a:endParaRPr lang="en-US" sz="900" dirty="0"/>
          </a:p>
        </p:txBody>
      </p:sp>
      <p:sp>
        <p:nvSpPr>
          <p:cNvPr id="5" name="Text 3"/>
          <p:cNvSpPr/>
          <p:nvPr/>
        </p:nvSpPr>
        <p:spPr>
          <a:xfrm>
            <a:off x="182880" y="457200"/>
            <a:ext cx="8778240" cy="640080"/>
          </a:xfrm>
          <a:prstGeom prst="rect">
            <a:avLst/>
          </a:prstGeom>
          <a:noFill/>
          <a:ln/>
        </p:spPr>
        <p:txBody>
          <a:bodyPr wrap="square" lIns="0" tIns="0" rIns="0" bIns="0" rtlCol="0" anchor="ctr"/>
          <a:lstStyle/>
          <a:p>
            <a:pPr algn="ctr" indent="0" marL="0">
              <a:buNone/>
            </a:pPr>
            <a:r>
              <a:rPr lang="en-US" sz="3000" b="1" dirty="0">
                <a:solidFill>
                  <a:srgbClr val="D4A843"/>
                </a:solidFill>
                <a:latin typeface="Arial Black" pitchFamily="34" charset="0"/>
                <a:ea typeface="Arial Black" pitchFamily="34" charset="-122"/>
                <a:cs typeface="Arial Black" pitchFamily="34" charset="-120"/>
              </a:rPr>
              <a:t>Sur Hautes Orientations Royales</a:t>
            </a:r>
            <a:endParaRPr lang="en-US" sz="3000" dirty="0"/>
          </a:p>
        </p:txBody>
      </p:sp>
      <p:sp>
        <p:nvSpPr>
          <p:cNvPr id="6" name="Shape 4"/>
          <p:cNvSpPr/>
          <p:nvPr/>
        </p:nvSpPr>
        <p:spPr>
          <a:xfrm>
            <a:off x="274320" y="1234440"/>
            <a:ext cx="192024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7" name="Shape 5"/>
          <p:cNvSpPr/>
          <p:nvPr/>
        </p:nvSpPr>
        <p:spPr>
          <a:xfrm>
            <a:off x="274320" y="1234440"/>
            <a:ext cx="1920240" cy="64008"/>
          </a:xfrm>
          <a:prstGeom prst="rect">
            <a:avLst/>
          </a:prstGeom>
          <a:solidFill>
            <a:srgbClr val="D4A843"/>
          </a:solidFill>
          <a:ln/>
        </p:spPr>
      </p:sp>
      <p:sp>
        <p:nvSpPr>
          <p:cNvPr id="8" name="Text 6"/>
          <p:cNvSpPr/>
          <p:nvPr/>
        </p:nvSpPr>
        <p:spPr>
          <a:xfrm>
            <a:off x="274320" y="1298448"/>
            <a:ext cx="1920240" cy="749808"/>
          </a:xfrm>
          <a:prstGeom prst="rect">
            <a:avLst/>
          </a:prstGeom>
          <a:noFill/>
          <a:ln/>
        </p:spPr>
        <p:txBody>
          <a:bodyPr wrap="square" lIns="0" tIns="0" rIns="0" bIns="0" rtlCol="0" anchor="ctr"/>
          <a:lstStyle/>
          <a:p>
            <a:pPr algn="ctr" indent="0" marL="0">
              <a:buNone/>
            </a:pPr>
            <a:r>
              <a:rPr lang="en-US" sz="3000" b="1" dirty="0">
                <a:solidFill>
                  <a:srgbClr val="D4A843"/>
                </a:solidFill>
                <a:latin typeface="Arial Black" pitchFamily="34" charset="0"/>
                <a:ea typeface="Arial Black" pitchFamily="34" charset="-122"/>
                <a:cs typeface="Arial Black" pitchFamily="34" charset="-120"/>
              </a:rPr>
              <a:t>12</a:t>
            </a:r>
            <a:endParaRPr lang="en-US" sz="3000" dirty="0"/>
          </a:p>
        </p:txBody>
      </p:sp>
      <p:sp>
        <p:nvSpPr>
          <p:cNvPr id="9" name="Text 7"/>
          <p:cNvSpPr/>
          <p:nvPr/>
        </p:nvSpPr>
        <p:spPr>
          <a:xfrm>
            <a:off x="274320" y="2011680"/>
            <a:ext cx="1920240" cy="621792"/>
          </a:xfrm>
          <a:prstGeom prst="rect">
            <a:avLst/>
          </a:prstGeom>
          <a:noFill/>
          <a:ln/>
        </p:spPr>
        <p:txBody>
          <a:bodyPr wrap="square" lIns="0" tIns="0" rIns="0" bIns="0" rtlCol="0" anchor="t"/>
          <a:lstStyle/>
          <a:p>
            <a:pPr algn="ctr" indent="0" marL="0">
              <a:buNone/>
            </a:pPr>
            <a:r>
              <a:rPr lang="en-US" sz="1150" dirty="0">
                <a:solidFill>
                  <a:srgbClr val="7A95A8"/>
                </a:solidFill>
              </a:rPr>
              <a:t>plateformes</a:t>
            </a:r>
            <a:endParaRPr lang="en-US" sz="1150" dirty="0"/>
          </a:p>
          <a:p>
            <a:pPr algn="ctr" indent="0" marL="0">
              <a:buNone/>
            </a:pPr>
            <a:r>
              <a:rPr lang="en-US" sz="1150" dirty="0">
                <a:solidFill>
                  <a:srgbClr val="7A95A8"/>
                </a:solidFill>
              </a:rPr>
              <a:t>régionales</a:t>
            </a:r>
            <a:endParaRPr lang="en-US" sz="1150" dirty="0"/>
          </a:p>
        </p:txBody>
      </p:sp>
      <p:sp>
        <p:nvSpPr>
          <p:cNvPr id="10" name="Shape 8"/>
          <p:cNvSpPr/>
          <p:nvPr/>
        </p:nvSpPr>
        <p:spPr>
          <a:xfrm>
            <a:off x="2423160" y="1234440"/>
            <a:ext cx="192024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1" name="Shape 9"/>
          <p:cNvSpPr/>
          <p:nvPr/>
        </p:nvSpPr>
        <p:spPr>
          <a:xfrm>
            <a:off x="2423160" y="1234440"/>
            <a:ext cx="1920240" cy="64008"/>
          </a:xfrm>
          <a:prstGeom prst="rect">
            <a:avLst/>
          </a:prstGeom>
          <a:solidFill>
            <a:srgbClr val="3498DB"/>
          </a:solidFill>
          <a:ln/>
        </p:spPr>
      </p:sp>
      <p:sp>
        <p:nvSpPr>
          <p:cNvPr id="12" name="Text 10"/>
          <p:cNvSpPr/>
          <p:nvPr/>
        </p:nvSpPr>
        <p:spPr>
          <a:xfrm>
            <a:off x="2423160" y="1298448"/>
            <a:ext cx="1920240" cy="749808"/>
          </a:xfrm>
          <a:prstGeom prst="rect">
            <a:avLst/>
          </a:prstGeom>
          <a:noFill/>
          <a:ln/>
        </p:spPr>
        <p:txBody>
          <a:bodyPr wrap="square" lIns="0" tIns="0" rIns="0" bIns="0" rtlCol="0" anchor="ctr"/>
          <a:lstStyle/>
          <a:p>
            <a:pPr algn="ctr" indent="0" marL="0">
              <a:buNone/>
            </a:pPr>
            <a:r>
              <a:rPr lang="en-US" sz="3000" b="1" dirty="0">
                <a:solidFill>
                  <a:srgbClr val="3498DB"/>
                </a:solidFill>
                <a:latin typeface="Arial Black" pitchFamily="34" charset="0"/>
                <a:ea typeface="Arial Black" pitchFamily="34" charset="-122"/>
                <a:cs typeface="Arial Black" pitchFamily="34" charset="-120"/>
              </a:rPr>
              <a:t>7 Mrd DH</a:t>
            </a:r>
            <a:endParaRPr lang="en-US" sz="3000" dirty="0"/>
          </a:p>
        </p:txBody>
      </p:sp>
      <p:sp>
        <p:nvSpPr>
          <p:cNvPr id="13" name="Text 11"/>
          <p:cNvSpPr/>
          <p:nvPr/>
        </p:nvSpPr>
        <p:spPr>
          <a:xfrm>
            <a:off x="2423160" y="2011680"/>
            <a:ext cx="1920240" cy="621792"/>
          </a:xfrm>
          <a:prstGeom prst="rect">
            <a:avLst/>
          </a:prstGeom>
          <a:noFill/>
          <a:ln/>
        </p:spPr>
        <p:txBody>
          <a:bodyPr wrap="square" lIns="0" tIns="0" rIns="0" bIns="0" rtlCol="0" anchor="t"/>
          <a:lstStyle/>
          <a:p>
            <a:pPr algn="ctr" indent="0" marL="0">
              <a:buNone/>
            </a:pPr>
            <a:r>
              <a:rPr lang="en-US" sz="1150" dirty="0">
                <a:solidFill>
                  <a:srgbClr val="7A95A8"/>
                </a:solidFill>
              </a:rPr>
              <a:t>budget national</a:t>
            </a:r>
            <a:endParaRPr lang="en-US" sz="1150" dirty="0"/>
          </a:p>
          <a:p>
            <a:pPr algn="ctr" indent="0" marL="0">
              <a:buNone/>
            </a:pPr>
            <a:r>
              <a:rPr lang="en-US" sz="1150" dirty="0">
                <a:solidFill>
                  <a:srgbClr val="7A95A8"/>
                </a:solidFill>
              </a:rPr>
              <a:t>d'urgence</a:t>
            </a:r>
            <a:endParaRPr lang="en-US" sz="1150" dirty="0"/>
          </a:p>
        </p:txBody>
      </p:sp>
      <p:sp>
        <p:nvSpPr>
          <p:cNvPr id="14" name="Shape 12"/>
          <p:cNvSpPr/>
          <p:nvPr/>
        </p:nvSpPr>
        <p:spPr>
          <a:xfrm>
            <a:off x="4572000" y="1234440"/>
            <a:ext cx="192024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5" name="Shape 13"/>
          <p:cNvSpPr/>
          <p:nvPr/>
        </p:nvSpPr>
        <p:spPr>
          <a:xfrm>
            <a:off x="4572000" y="1234440"/>
            <a:ext cx="1920240" cy="64008"/>
          </a:xfrm>
          <a:prstGeom prst="rect">
            <a:avLst/>
          </a:prstGeom>
          <a:solidFill>
            <a:srgbClr val="27AE60"/>
          </a:solidFill>
          <a:ln/>
        </p:spPr>
      </p:sp>
      <p:sp>
        <p:nvSpPr>
          <p:cNvPr id="16" name="Text 14"/>
          <p:cNvSpPr/>
          <p:nvPr/>
        </p:nvSpPr>
        <p:spPr>
          <a:xfrm>
            <a:off x="4572000" y="1298448"/>
            <a:ext cx="1920240" cy="749808"/>
          </a:xfrm>
          <a:prstGeom prst="rect">
            <a:avLst/>
          </a:prstGeom>
          <a:noFill/>
          <a:ln/>
        </p:spPr>
        <p:txBody>
          <a:bodyPr wrap="square" lIns="0" tIns="0" rIns="0" bIns="0" rtlCol="0" anchor="ctr"/>
          <a:lstStyle/>
          <a:p>
            <a:pPr algn="ctr" indent="0" marL="0">
              <a:buNone/>
            </a:pPr>
            <a:r>
              <a:rPr lang="en-US" sz="3000" b="1" dirty="0">
                <a:solidFill>
                  <a:srgbClr val="27AE60"/>
                </a:solidFill>
                <a:latin typeface="Arial Black" pitchFamily="34" charset="0"/>
                <a:ea typeface="Arial Black" pitchFamily="34" charset="-122"/>
                <a:cs typeface="Arial Black" pitchFamily="34" charset="-120"/>
              </a:rPr>
              <a:t>10 000 m²</a:t>
            </a:r>
            <a:endParaRPr lang="en-US" sz="3000" dirty="0"/>
          </a:p>
        </p:txBody>
      </p:sp>
      <p:sp>
        <p:nvSpPr>
          <p:cNvPr id="17" name="Text 15"/>
          <p:cNvSpPr/>
          <p:nvPr/>
        </p:nvSpPr>
        <p:spPr>
          <a:xfrm>
            <a:off x="4572000" y="2011680"/>
            <a:ext cx="1920240" cy="621792"/>
          </a:xfrm>
          <a:prstGeom prst="rect">
            <a:avLst/>
          </a:prstGeom>
          <a:noFill/>
          <a:ln/>
        </p:spPr>
        <p:txBody>
          <a:bodyPr wrap="square" lIns="0" tIns="0" rIns="0" bIns="0" rtlCol="0" anchor="t"/>
          <a:lstStyle/>
          <a:p>
            <a:pPr algn="ctr" indent="0" marL="0">
              <a:buNone/>
            </a:pPr>
            <a:r>
              <a:rPr lang="en-US" sz="1150" dirty="0">
                <a:solidFill>
                  <a:srgbClr val="7A95A8"/>
                </a:solidFill>
              </a:rPr>
              <a:t>stocks à</a:t>
            </a:r>
            <a:endParaRPr lang="en-US" sz="1150" dirty="0"/>
          </a:p>
          <a:p>
            <a:pPr algn="ctr" indent="0" marL="0">
              <a:buNone/>
            </a:pPr>
            <a:r>
              <a:rPr lang="en-US" sz="1150" dirty="0">
                <a:solidFill>
                  <a:srgbClr val="7A95A8"/>
                </a:solidFill>
              </a:rPr>
              <a:t>Béni Mellal</a:t>
            </a:r>
            <a:endParaRPr lang="en-US" sz="1150" dirty="0"/>
          </a:p>
        </p:txBody>
      </p:sp>
      <p:sp>
        <p:nvSpPr>
          <p:cNvPr id="18" name="Shape 16"/>
          <p:cNvSpPr/>
          <p:nvPr/>
        </p:nvSpPr>
        <p:spPr>
          <a:xfrm>
            <a:off x="6720840" y="1234440"/>
            <a:ext cx="192024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9" name="Shape 17"/>
          <p:cNvSpPr/>
          <p:nvPr/>
        </p:nvSpPr>
        <p:spPr>
          <a:xfrm>
            <a:off x="6720840" y="1234440"/>
            <a:ext cx="1920240" cy="64008"/>
          </a:xfrm>
          <a:prstGeom prst="rect">
            <a:avLst/>
          </a:prstGeom>
          <a:solidFill>
            <a:srgbClr val="E74C3C"/>
          </a:solidFill>
          <a:ln/>
        </p:spPr>
      </p:sp>
      <p:sp>
        <p:nvSpPr>
          <p:cNvPr id="20" name="Text 18"/>
          <p:cNvSpPr/>
          <p:nvPr/>
        </p:nvSpPr>
        <p:spPr>
          <a:xfrm>
            <a:off x="6720840" y="1298448"/>
            <a:ext cx="1920240" cy="749808"/>
          </a:xfrm>
          <a:prstGeom prst="rect">
            <a:avLst/>
          </a:prstGeom>
          <a:noFill/>
          <a:ln/>
        </p:spPr>
        <p:txBody>
          <a:bodyPr wrap="square" lIns="0" tIns="0" rIns="0" bIns="0" rtlCol="0" anchor="ctr"/>
          <a:lstStyle/>
          <a:p>
            <a:pPr algn="ctr" indent="0" marL="0">
              <a:buNone/>
            </a:pPr>
            <a:r>
              <a:rPr lang="en-US" sz="3000" b="1" dirty="0">
                <a:solidFill>
                  <a:srgbClr val="E74C3C"/>
                </a:solidFill>
                <a:latin typeface="Arial Black" pitchFamily="34" charset="0"/>
                <a:ea typeface="Arial Black" pitchFamily="34" charset="-122"/>
                <a:cs typeface="Arial Black" pitchFamily="34" charset="-120"/>
              </a:rPr>
              <a:t>3×</a:t>
            </a:r>
            <a:endParaRPr lang="en-US" sz="3000" dirty="0"/>
          </a:p>
        </p:txBody>
      </p:sp>
      <p:sp>
        <p:nvSpPr>
          <p:cNvPr id="21" name="Text 19"/>
          <p:cNvSpPr/>
          <p:nvPr/>
        </p:nvSpPr>
        <p:spPr>
          <a:xfrm>
            <a:off x="6720840" y="2011680"/>
            <a:ext cx="1920240" cy="621792"/>
          </a:xfrm>
          <a:prstGeom prst="rect">
            <a:avLst/>
          </a:prstGeom>
          <a:noFill/>
          <a:ln/>
        </p:spPr>
        <p:txBody>
          <a:bodyPr wrap="square" lIns="0" tIns="0" rIns="0" bIns="0" rtlCol="0" anchor="t"/>
          <a:lstStyle/>
          <a:p>
            <a:pPr algn="ctr" indent="0" marL="0">
              <a:buNone/>
            </a:pPr>
            <a:r>
              <a:rPr lang="en-US" sz="1150" dirty="0">
                <a:solidFill>
                  <a:srgbClr val="7A95A8"/>
                </a:solidFill>
              </a:rPr>
              <a:t>capacité du séisme</a:t>
            </a:r>
            <a:endParaRPr lang="en-US" sz="1150" dirty="0"/>
          </a:p>
          <a:p>
            <a:pPr algn="ctr" indent="0" marL="0">
              <a:buNone/>
            </a:pPr>
            <a:r>
              <a:rPr lang="en-US" sz="1150" dirty="0">
                <a:solidFill>
                  <a:srgbClr val="7A95A8"/>
                </a:solidFill>
              </a:rPr>
              <a:t>d'Al Haouz</a:t>
            </a:r>
            <a:endParaRPr lang="en-US" sz="1150" dirty="0"/>
          </a:p>
        </p:txBody>
      </p:sp>
      <p:sp>
        <p:nvSpPr>
          <p:cNvPr id="22" name="Shape 20"/>
          <p:cNvSpPr/>
          <p:nvPr/>
        </p:nvSpPr>
        <p:spPr>
          <a:xfrm>
            <a:off x="457200" y="2907792"/>
            <a:ext cx="8229600" cy="36576"/>
          </a:xfrm>
          <a:prstGeom prst="rect">
            <a:avLst/>
          </a:prstGeom>
          <a:solidFill>
            <a:srgbClr val="1E3A5F"/>
          </a:solidFill>
          <a:ln/>
        </p:spPr>
      </p:sp>
      <p:sp>
        <p:nvSpPr>
          <p:cNvPr id="23" name="Text 21"/>
          <p:cNvSpPr/>
          <p:nvPr/>
        </p:nvSpPr>
        <p:spPr>
          <a:xfrm>
            <a:off x="457200" y="3017520"/>
            <a:ext cx="8229600" cy="502920"/>
          </a:xfrm>
          <a:prstGeom prst="rect">
            <a:avLst/>
          </a:prstGeom>
          <a:noFill/>
          <a:ln/>
        </p:spPr>
        <p:txBody>
          <a:bodyPr wrap="square" lIns="0" tIns="0" rIns="0" bIns="0" rtlCol="0" anchor="ctr"/>
          <a:lstStyle/>
          <a:p>
            <a:pPr algn="ctr" indent="0" marL="0">
              <a:buNone/>
            </a:pPr>
            <a:r>
              <a:rPr lang="en-US" sz="2000" b="1" dirty="0">
                <a:solidFill>
                  <a:srgbClr val="FFFFFF"/>
                </a:solidFill>
              </a:rPr>
              <a:t>Les entrepôts sont prêts.</a:t>
            </a:r>
            <a:endParaRPr lang="en-US" sz="2000" dirty="0"/>
          </a:p>
        </p:txBody>
      </p:sp>
      <p:sp>
        <p:nvSpPr>
          <p:cNvPr id="24" name="Text 22"/>
          <p:cNvSpPr/>
          <p:nvPr/>
        </p:nvSpPr>
        <p:spPr>
          <a:xfrm>
            <a:off x="457200" y="3520440"/>
            <a:ext cx="8229600" cy="502920"/>
          </a:xfrm>
          <a:prstGeom prst="rect">
            <a:avLst/>
          </a:prstGeom>
          <a:noFill/>
          <a:ln/>
        </p:spPr>
        <p:txBody>
          <a:bodyPr wrap="square" lIns="0" tIns="0" rIns="0" bIns="0" rtlCol="0" anchor="ctr"/>
          <a:lstStyle/>
          <a:p>
            <a:pPr algn="ctr" indent="0" marL="0">
              <a:buNone/>
            </a:pPr>
            <a:r>
              <a:rPr lang="en-US" sz="1550" dirty="0">
                <a:solidFill>
                  <a:srgbClr val="7A95A8"/>
                </a:solidFill>
              </a:rPr>
              <a:t>Mais comment gérer la distribution — vite, équitablement, en toute sécurité ?</a:t>
            </a:r>
            <a:endParaRPr lang="en-US" sz="1550" dirty="0"/>
          </a:p>
        </p:txBody>
      </p:sp>
      <p:sp>
        <p:nvSpPr>
          <p:cNvPr id="25" name="Shape 23"/>
          <p:cNvSpPr/>
          <p:nvPr/>
        </p:nvSpPr>
        <p:spPr>
          <a:xfrm>
            <a:off x="2286000" y="4160520"/>
            <a:ext cx="4572000" cy="685800"/>
          </a:xfrm>
          <a:prstGeom prst="rect">
            <a:avLst/>
          </a:prstGeom>
          <a:solidFill>
            <a:srgbClr val="D4A843"/>
          </a:solidFill>
          <a:ln/>
          <a:effectLst>
            <a:outerShdw sx="100000" sy="100000" kx="0" ky="0" algn="bl" rotWithShape="0" blurRad="127000" dist="50800" dir="8100000">
              <a:srgbClr val="000000">
                <a:alpha val="35000"/>
              </a:srgbClr>
            </a:outerShdw>
          </a:effectLst>
        </p:spPr>
      </p:sp>
      <p:sp>
        <p:nvSpPr>
          <p:cNvPr id="26" name="Text 24"/>
          <p:cNvSpPr/>
          <p:nvPr/>
        </p:nvSpPr>
        <p:spPr>
          <a:xfrm>
            <a:off x="2286000" y="4160520"/>
            <a:ext cx="4572000" cy="685800"/>
          </a:xfrm>
          <a:prstGeom prst="rect">
            <a:avLst/>
          </a:prstGeom>
          <a:noFill/>
          <a:ln/>
        </p:spPr>
        <p:txBody>
          <a:bodyPr wrap="square" lIns="0" tIns="0" rIns="0" bIns="0" rtlCol="0" anchor="ctr"/>
          <a:lstStyle/>
          <a:p>
            <a:pPr algn="ctr" indent="0" marL="0">
              <a:buNone/>
            </a:pPr>
            <a:r>
              <a:rPr lang="en-US" sz="2000" b="1" dirty="0">
                <a:solidFill>
                  <a:srgbClr val="0D1B2A"/>
                </a:solidFill>
                <a:latin typeface="Arial Black" pitchFamily="34" charset="0"/>
                <a:ea typeface="Arial Black" pitchFamily="34" charset="-122"/>
                <a:cs typeface="Arial Black" pitchFamily="34" charset="-120"/>
              </a:rPr>
              <a:t>C'est là qu'intervient NAJDA.</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Shape 1"/>
          <p:cNvSpPr/>
          <p:nvPr/>
        </p:nvSpPr>
        <p:spPr>
          <a:xfrm>
            <a:off x="0" y="5070348"/>
            <a:ext cx="9144000" cy="73152"/>
          </a:xfrm>
          <a:prstGeom prst="rect">
            <a:avLst/>
          </a:prstGeom>
          <a:solidFill>
            <a:srgbClr val="D4A843"/>
          </a:solidFill>
          <a:ln/>
        </p:spPr>
      </p:sp>
      <p:sp>
        <p:nvSpPr>
          <p:cNvPr id="4" name="Shape 2"/>
          <p:cNvSpPr/>
          <p:nvPr/>
        </p:nvSpPr>
        <p:spPr>
          <a:xfrm>
            <a:off x="0" y="73152"/>
            <a:ext cx="64008" cy="4997196"/>
          </a:xfrm>
          <a:prstGeom prst="rect">
            <a:avLst/>
          </a:prstGeom>
          <a:solidFill>
            <a:srgbClr val="D4A843"/>
          </a:solidFill>
          <a:ln/>
        </p:spPr>
      </p:sp>
      <p:sp>
        <p:nvSpPr>
          <p:cNvPr id="5" name="Text 3"/>
          <p:cNvSpPr/>
          <p:nvPr/>
        </p:nvSpPr>
        <p:spPr>
          <a:xfrm>
            <a:off x="274320" y="137160"/>
            <a:ext cx="8595360" cy="804672"/>
          </a:xfrm>
          <a:prstGeom prst="rect">
            <a:avLst/>
          </a:prstGeom>
          <a:noFill/>
          <a:ln/>
        </p:spPr>
        <p:txBody>
          <a:bodyPr wrap="square" lIns="0" tIns="0" rIns="0" bIns="0" rtlCol="0" anchor="ctr"/>
          <a:lstStyle/>
          <a:p>
            <a:pPr algn="ctr" indent="0" marL="0">
              <a:buNone/>
            </a:pPr>
            <a:r>
              <a:rPr lang="en-US" sz="6000" b="1" dirty="0">
                <a:solidFill>
                  <a:srgbClr val="D4A843"/>
                </a:solidFill>
                <a:latin typeface="Arial Black" pitchFamily="34" charset="0"/>
                <a:ea typeface="Arial Black" pitchFamily="34" charset="-122"/>
                <a:cs typeface="Arial Black" pitchFamily="34" charset="-120"/>
              </a:rPr>
              <a:t>NAJDA</a:t>
            </a:r>
            <a:endParaRPr lang="en-US" sz="6000" dirty="0"/>
          </a:p>
        </p:txBody>
      </p:sp>
      <p:sp>
        <p:nvSpPr>
          <p:cNvPr id="6" name="Text 4"/>
          <p:cNvSpPr/>
          <p:nvPr/>
        </p:nvSpPr>
        <p:spPr>
          <a:xfrm>
            <a:off x="457200" y="941832"/>
            <a:ext cx="8229600" cy="292608"/>
          </a:xfrm>
          <a:prstGeom prst="rect">
            <a:avLst/>
          </a:prstGeom>
          <a:noFill/>
          <a:ln/>
        </p:spPr>
        <p:txBody>
          <a:bodyPr wrap="square" lIns="0" tIns="0" rIns="0" bIns="0" rtlCol="0" anchor="ctr"/>
          <a:lstStyle/>
          <a:p>
            <a:pPr algn="ctr" indent="0" marL="0">
              <a:buNone/>
            </a:pPr>
            <a:r>
              <a:rPr lang="en-US" sz="1300" i="1" spc="100" kern="0" dirty="0">
                <a:solidFill>
                  <a:srgbClr val="D4A843"/>
                </a:solidFill>
              </a:rPr>
              <a:t>Intelligent and Secure Humanitarian Distribution Platform</a:t>
            </a:r>
            <a:endParaRPr lang="en-US" sz="1300" dirty="0"/>
          </a:p>
        </p:txBody>
      </p:sp>
      <p:sp>
        <p:nvSpPr>
          <p:cNvPr id="7" name="Text 5"/>
          <p:cNvSpPr/>
          <p:nvPr/>
        </p:nvSpPr>
        <p:spPr>
          <a:xfrm>
            <a:off x="457200" y="1234440"/>
            <a:ext cx="8229600" cy="256032"/>
          </a:xfrm>
          <a:prstGeom prst="rect">
            <a:avLst/>
          </a:prstGeom>
          <a:noFill/>
          <a:ln/>
        </p:spPr>
        <p:txBody>
          <a:bodyPr wrap="square" lIns="0" tIns="0" rIns="0" bIns="0" rtlCol="0" anchor="ctr"/>
          <a:lstStyle/>
          <a:p>
            <a:pPr algn="ctr" indent="0" marL="0">
              <a:buNone/>
            </a:pPr>
            <a:r>
              <a:rPr lang="en-US" sz="1100" i="1" dirty="0">
                <a:solidFill>
                  <a:srgbClr val="7A95A8"/>
                </a:solidFill>
              </a:rPr>
              <a:t>Plateforme intelligente et sécurisée de distribution humanitaire</a:t>
            </a:r>
            <a:endParaRPr lang="en-US" sz="1100" dirty="0"/>
          </a:p>
        </p:txBody>
      </p:sp>
      <p:sp>
        <p:nvSpPr>
          <p:cNvPr id="8" name="Shape 6"/>
          <p:cNvSpPr/>
          <p:nvPr/>
        </p:nvSpPr>
        <p:spPr>
          <a:xfrm>
            <a:off x="274320" y="1627632"/>
            <a:ext cx="2011680" cy="33375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9" name="Shape 7"/>
          <p:cNvSpPr/>
          <p:nvPr/>
        </p:nvSpPr>
        <p:spPr>
          <a:xfrm>
            <a:off x="274320" y="1627632"/>
            <a:ext cx="2011680" cy="54864"/>
          </a:xfrm>
          <a:prstGeom prst="rect">
            <a:avLst/>
          </a:prstGeom>
          <a:solidFill>
            <a:srgbClr val="D4A843"/>
          </a:solidFill>
          <a:ln/>
        </p:spPr>
      </p:sp>
      <p:sp>
        <p:nvSpPr>
          <p:cNvPr id="10" name="Text 8"/>
          <p:cNvSpPr/>
          <p:nvPr/>
        </p:nvSpPr>
        <p:spPr>
          <a:xfrm>
            <a:off x="274320" y="1700784"/>
            <a:ext cx="2011680" cy="347472"/>
          </a:xfrm>
          <a:prstGeom prst="rect">
            <a:avLst/>
          </a:prstGeom>
          <a:noFill/>
          <a:ln/>
        </p:spPr>
        <p:txBody>
          <a:bodyPr wrap="square" lIns="0" tIns="0" rIns="0" bIns="0" rtlCol="0" anchor="ctr"/>
          <a:lstStyle/>
          <a:p>
            <a:pPr algn="ctr" indent="0" marL="0">
              <a:buNone/>
            </a:pPr>
            <a:r>
              <a:rPr lang="en-US" sz="1100" b="1" spc="200" kern="0" dirty="0">
                <a:solidFill>
                  <a:srgbClr val="D4A843"/>
                </a:solidFill>
              </a:rPr>
              <a:t>01</a:t>
            </a:r>
            <a:endParaRPr lang="en-US" sz="1100" dirty="0"/>
          </a:p>
        </p:txBody>
      </p:sp>
      <p:pic>
        <p:nvPicPr>
          <p:cNvPr id="11" name="Image 0" descr="preencoded.png">    </p:cNvPr>
          <p:cNvPicPr>
            <a:picLocks noChangeAspect="1"/>
          </p:cNvPicPr>
          <p:nvPr/>
        </p:nvPicPr>
        <p:blipFill>
          <a:blip r:embed="rId1"/>
          <a:stretch>
            <a:fillRect/>
          </a:stretch>
        </p:blipFill>
        <p:spPr>
          <a:xfrm>
            <a:off x="982980" y="2103120"/>
            <a:ext cx="594360" cy="594360"/>
          </a:xfrm>
          <a:prstGeom prst="rect">
            <a:avLst/>
          </a:prstGeom>
        </p:spPr>
      </p:pic>
      <p:sp>
        <p:nvSpPr>
          <p:cNvPr id="12" name="Text 9"/>
          <p:cNvSpPr/>
          <p:nvPr/>
        </p:nvSpPr>
        <p:spPr>
          <a:xfrm>
            <a:off x="274320" y="2788920"/>
            <a:ext cx="201168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Arial Black" pitchFamily="34" charset="0"/>
                <a:ea typeface="Arial Black" pitchFamily="34" charset="-122"/>
                <a:cs typeface="Arial Black" pitchFamily="34" charset="-120"/>
              </a:rPr>
              <a:t>CENTRALISER</a:t>
            </a:r>
            <a:endParaRPr lang="en-US" sz="1450" dirty="0"/>
          </a:p>
        </p:txBody>
      </p:sp>
      <p:sp>
        <p:nvSpPr>
          <p:cNvPr id="13" name="Text 10"/>
          <p:cNvSpPr/>
          <p:nvPr/>
        </p:nvSpPr>
        <p:spPr>
          <a:xfrm>
            <a:off x="347472" y="3291840"/>
            <a:ext cx="1865376" cy="1554480"/>
          </a:xfrm>
          <a:prstGeom prst="rect">
            <a:avLst/>
          </a:prstGeom>
          <a:noFill/>
          <a:ln/>
        </p:spPr>
        <p:txBody>
          <a:bodyPr wrap="square" lIns="0" tIns="0" rIns="0" bIns="0" rtlCol="0" anchor="t"/>
          <a:lstStyle/>
          <a:p>
            <a:pPr algn="ctr" indent="0" marL="0">
              <a:buNone/>
            </a:pPr>
            <a:r>
              <a:rPr lang="en-US" sz="1150" dirty="0">
                <a:solidFill>
                  <a:srgbClr val="7A95A8"/>
                </a:solidFill>
              </a:rPr>
              <a:t>Source unique de vérité</a:t>
            </a:r>
            <a:endParaRPr lang="en-US" sz="1150" dirty="0"/>
          </a:p>
          <a:p>
            <a:pPr algn="ctr" indent="0" marL="0">
              <a:buNone/>
            </a:pPr>
            <a:r>
              <a:rPr lang="en-US" sz="1150" dirty="0">
                <a:solidFill>
                  <a:srgbClr val="7A95A8"/>
                </a:solidFill>
              </a:rPr>
              <a:t>stocks · missions</a:t>
            </a:r>
            <a:endParaRPr lang="en-US" sz="1150" dirty="0"/>
          </a:p>
          <a:p>
            <a:pPr algn="ctr" indent="0" marL="0">
              <a:buNone/>
            </a:pPr>
            <a:r>
              <a:rPr lang="en-US" sz="1150" dirty="0">
                <a:solidFill>
                  <a:srgbClr val="7A95A8"/>
                </a:solidFill>
              </a:rPr>
              <a:t>distributeurs</a:t>
            </a:r>
            <a:endParaRPr lang="en-US" sz="1150" dirty="0"/>
          </a:p>
        </p:txBody>
      </p:sp>
      <p:sp>
        <p:nvSpPr>
          <p:cNvPr id="14" name="Shape 11"/>
          <p:cNvSpPr/>
          <p:nvPr/>
        </p:nvSpPr>
        <p:spPr>
          <a:xfrm>
            <a:off x="2468880" y="1627632"/>
            <a:ext cx="2011680" cy="33375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5" name="Shape 12"/>
          <p:cNvSpPr/>
          <p:nvPr/>
        </p:nvSpPr>
        <p:spPr>
          <a:xfrm>
            <a:off x="2468880" y="1627632"/>
            <a:ext cx="2011680" cy="54864"/>
          </a:xfrm>
          <a:prstGeom prst="rect">
            <a:avLst/>
          </a:prstGeom>
          <a:solidFill>
            <a:srgbClr val="3498DB"/>
          </a:solidFill>
          <a:ln/>
        </p:spPr>
      </p:sp>
      <p:sp>
        <p:nvSpPr>
          <p:cNvPr id="16" name="Text 13"/>
          <p:cNvSpPr/>
          <p:nvPr/>
        </p:nvSpPr>
        <p:spPr>
          <a:xfrm>
            <a:off x="2468880" y="1700784"/>
            <a:ext cx="2011680" cy="347472"/>
          </a:xfrm>
          <a:prstGeom prst="rect">
            <a:avLst/>
          </a:prstGeom>
          <a:noFill/>
          <a:ln/>
        </p:spPr>
        <p:txBody>
          <a:bodyPr wrap="square" lIns="0" tIns="0" rIns="0" bIns="0" rtlCol="0" anchor="ctr"/>
          <a:lstStyle/>
          <a:p>
            <a:pPr algn="ctr" indent="0" marL="0">
              <a:buNone/>
            </a:pPr>
            <a:r>
              <a:rPr lang="en-US" sz="1100" b="1" spc="200" kern="0" dirty="0">
                <a:solidFill>
                  <a:srgbClr val="3498DB"/>
                </a:solidFill>
              </a:rPr>
              <a:t>02</a:t>
            </a:r>
            <a:endParaRPr lang="en-US" sz="1100" dirty="0"/>
          </a:p>
        </p:txBody>
      </p:sp>
      <p:pic>
        <p:nvPicPr>
          <p:cNvPr id="17" name="Image 1" descr="preencoded.png">    </p:cNvPr>
          <p:cNvPicPr>
            <a:picLocks noChangeAspect="1"/>
          </p:cNvPicPr>
          <p:nvPr/>
        </p:nvPicPr>
        <p:blipFill>
          <a:blip r:embed="rId2"/>
          <a:stretch>
            <a:fillRect/>
          </a:stretch>
        </p:blipFill>
        <p:spPr>
          <a:xfrm>
            <a:off x="3177540" y="2103120"/>
            <a:ext cx="594360" cy="594360"/>
          </a:xfrm>
          <a:prstGeom prst="rect">
            <a:avLst/>
          </a:prstGeom>
        </p:spPr>
      </p:pic>
      <p:sp>
        <p:nvSpPr>
          <p:cNvPr id="18" name="Text 14"/>
          <p:cNvSpPr/>
          <p:nvPr/>
        </p:nvSpPr>
        <p:spPr>
          <a:xfrm>
            <a:off x="2468880" y="2788920"/>
            <a:ext cx="201168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Arial Black" pitchFamily="34" charset="0"/>
                <a:ea typeface="Arial Black" pitchFamily="34" charset="-122"/>
                <a:cs typeface="Arial Black" pitchFamily="34" charset="-120"/>
              </a:rPr>
              <a:t>PRIORISER</a:t>
            </a:r>
            <a:endParaRPr lang="en-US" sz="1450" dirty="0"/>
          </a:p>
        </p:txBody>
      </p:sp>
      <p:sp>
        <p:nvSpPr>
          <p:cNvPr id="19" name="Text 15"/>
          <p:cNvSpPr/>
          <p:nvPr/>
        </p:nvSpPr>
        <p:spPr>
          <a:xfrm>
            <a:off x="2542032" y="3291840"/>
            <a:ext cx="1865376" cy="1554480"/>
          </a:xfrm>
          <a:prstGeom prst="rect">
            <a:avLst/>
          </a:prstGeom>
          <a:noFill/>
          <a:ln/>
        </p:spPr>
        <p:txBody>
          <a:bodyPr wrap="square" lIns="0" tIns="0" rIns="0" bIns="0" rtlCol="0" anchor="t"/>
          <a:lstStyle/>
          <a:p>
            <a:pPr algn="ctr" indent="0" marL="0">
              <a:buNone/>
            </a:pPr>
            <a:r>
              <a:rPr lang="en-US" sz="1150" dirty="0">
                <a:solidFill>
                  <a:srgbClr val="7A95A8"/>
                </a:solidFill>
              </a:rPr>
              <a:t>AHP + TOPSIS</a:t>
            </a:r>
            <a:endParaRPr lang="en-US" sz="1150" dirty="0"/>
          </a:p>
          <a:p>
            <a:pPr algn="ctr" indent="0" marL="0">
              <a:buNone/>
            </a:pPr>
            <a:r>
              <a:rPr lang="en-US" sz="1150" dirty="0">
                <a:solidFill>
                  <a:srgbClr val="7A95A8"/>
                </a:solidFill>
              </a:rPr>
              <a:t>douars les plus</a:t>
            </a:r>
            <a:endParaRPr lang="en-US" sz="1150" dirty="0"/>
          </a:p>
          <a:p>
            <a:pPr algn="ctr" indent="0" marL="0">
              <a:buNone/>
            </a:pPr>
            <a:r>
              <a:rPr lang="en-US" sz="1150" dirty="0">
                <a:solidFill>
                  <a:srgbClr val="7A95A8"/>
                </a:solidFill>
              </a:rPr>
              <a:t>vulnérables d'abord</a:t>
            </a:r>
            <a:endParaRPr lang="en-US" sz="1150" dirty="0"/>
          </a:p>
        </p:txBody>
      </p:sp>
      <p:sp>
        <p:nvSpPr>
          <p:cNvPr id="20" name="Shape 16"/>
          <p:cNvSpPr/>
          <p:nvPr/>
        </p:nvSpPr>
        <p:spPr>
          <a:xfrm>
            <a:off x="4663440" y="1627632"/>
            <a:ext cx="2011680" cy="33375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21" name="Shape 17"/>
          <p:cNvSpPr/>
          <p:nvPr/>
        </p:nvSpPr>
        <p:spPr>
          <a:xfrm>
            <a:off x="4663440" y="1627632"/>
            <a:ext cx="2011680" cy="54864"/>
          </a:xfrm>
          <a:prstGeom prst="rect">
            <a:avLst/>
          </a:prstGeom>
          <a:solidFill>
            <a:srgbClr val="27AE60"/>
          </a:solidFill>
          <a:ln/>
        </p:spPr>
      </p:sp>
      <p:sp>
        <p:nvSpPr>
          <p:cNvPr id="22" name="Text 18"/>
          <p:cNvSpPr/>
          <p:nvPr/>
        </p:nvSpPr>
        <p:spPr>
          <a:xfrm>
            <a:off x="4663440" y="1700784"/>
            <a:ext cx="2011680" cy="347472"/>
          </a:xfrm>
          <a:prstGeom prst="rect">
            <a:avLst/>
          </a:prstGeom>
          <a:noFill/>
          <a:ln/>
        </p:spPr>
        <p:txBody>
          <a:bodyPr wrap="square" lIns="0" tIns="0" rIns="0" bIns="0" rtlCol="0" anchor="ctr"/>
          <a:lstStyle/>
          <a:p>
            <a:pPr algn="ctr" indent="0" marL="0">
              <a:buNone/>
            </a:pPr>
            <a:r>
              <a:rPr lang="en-US" sz="1100" b="1" spc="200" kern="0" dirty="0">
                <a:solidFill>
                  <a:srgbClr val="27AE60"/>
                </a:solidFill>
              </a:rPr>
              <a:t>03</a:t>
            </a:r>
            <a:endParaRPr lang="en-US" sz="1100" dirty="0"/>
          </a:p>
        </p:txBody>
      </p:sp>
      <p:pic>
        <p:nvPicPr>
          <p:cNvPr id="23" name="Image 2" descr="preencoded.png">    </p:cNvPr>
          <p:cNvPicPr>
            <a:picLocks noChangeAspect="1"/>
          </p:cNvPicPr>
          <p:nvPr/>
        </p:nvPicPr>
        <p:blipFill>
          <a:blip r:embed="rId3"/>
          <a:stretch>
            <a:fillRect/>
          </a:stretch>
        </p:blipFill>
        <p:spPr>
          <a:xfrm>
            <a:off x="5372100" y="2103120"/>
            <a:ext cx="594360" cy="594360"/>
          </a:xfrm>
          <a:prstGeom prst="rect">
            <a:avLst/>
          </a:prstGeom>
        </p:spPr>
      </p:pic>
      <p:sp>
        <p:nvSpPr>
          <p:cNvPr id="24" name="Text 19"/>
          <p:cNvSpPr/>
          <p:nvPr/>
        </p:nvSpPr>
        <p:spPr>
          <a:xfrm>
            <a:off x="4663440" y="2788920"/>
            <a:ext cx="201168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Arial Black" pitchFamily="34" charset="0"/>
                <a:ea typeface="Arial Black" pitchFamily="34" charset="-122"/>
                <a:cs typeface="Arial Black" pitchFamily="34" charset="-120"/>
              </a:rPr>
              <a:t>OPTIMISER</a:t>
            </a:r>
            <a:endParaRPr lang="en-US" sz="1450" dirty="0"/>
          </a:p>
        </p:txBody>
      </p:sp>
      <p:sp>
        <p:nvSpPr>
          <p:cNvPr id="25" name="Text 20"/>
          <p:cNvSpPr/>
          <p:nvPr/>
        </p:nvSpPr>
        <p:spPr>
          <a:xfrm>
            <a:off x="4736592" y="3291840"/>
            <a:ext cx="1865376" cy="1554480"/>
          </a:xfrm>
          <a:prstGeom prst="rect">
            <a:avLst/>
          </a:prstGeom>
          <a:noFill/>
          <a:ln/>
        </p:spPr>
        <p:txBody>
          <a:bodyPr wrap="square" lIns="0" tIns="0" rIns="0" bIns="0" rtlCol="0" anchor="t"/>
          <a:lstStyle/>
          <a:p>
            <a:pPr algn="ctr" indent="0" marL="0">
              <a:buNone/>
            </a:pPr>
            <a:r>
              <a:rPr lang="en-US" sz="1150" dirty="0">
                <a:solidFill>
                  <a:srgbClr val="7A95A8"/>
                </a:solidFill>
              </a:rPr>
              <a:t>Tournées VRP</a:t>
            </a:r>
            <a:endParaRPr lang="en-US" sz="1150" dirty="0"/>
          </a:p>
          <a:p>
            <a:pPr algn="ctr" indent="0" marL="0">
              <a:buNone/>
            </a:pPr>
            <a:r>
              <a:rPr lang="en-US" sz="1150" dirty="0">
                <a:solidFill>
                  <a:srgbClr val="7A95A8"/>
                </a:solidFill>
              </a:rPr>
              <a:t>optimisées en</a:t>
            </a:r>
            <a:endParaRPr lang="en-US" sz="1150" dirty="0"/>
          </a:p>
          <a:p>
            <a:pPr algn="ctr" indent="0" marL="0">
              <a:buNone/>
            </a:pPr>
            <a:r>
              <a:rPr lang="en-US" sz="1150" dirty="0">
                <a:solidFill>
                  <a:srgbClr val="7A95A8"/>
                </a:solidFill>
              </a:rPr>
              <a:t>&lt; 15 secondes</a:t>
            </a:r>
            <a:endParaRPr lang="en-US" sz="1150" dirty="0"/>
          </a:p>
        </p:txBody>
      </p:sp>
      <p:sp>
        <p:nvSpPr>
          <p:cNvPr id="26" name="Shape 21"/>
          <p:cNvSpPr/>
          <p:nvPr/>
        </p:nvSpPr>
        <p:spPr>
          <a:xfrm>
            <a:off x="6858000" y="1627632"/>
            <a:ext cx="2011680" cy="33375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27" name="Shape 22"/>
          <p:cNvSpPr/>
          <p:nvPr/>
        </p:nvSpPr>
        <p:spPr>
          <a:xfrm>
            <a:off x="6858000" y="1627632"/>
            <a:ext cx="2011680" cy="54864"/>
          </a:xfrm>
          <a:prstGeom prst="rect">
            <a:avLst/>
          </a:prstGeom>
          <a:solidFill>
            <a:srgbClr val="E74C3C"/>
          </a:solidFill>
          <a:ln/>
        </p:spPr>
      </p:sp>
      <p:sp>
        <p:nvSpPr>
          <p:cNvPr id="28" name="Text 23"/>
          <p:cNvSpPr/>
          <p:nvPr/>
        </p:nvSpPr>
        <p:spPr>
          <a:xfrm>
            <a:off x="6858000" y="1700784"/>
            <a:ext cx="2011680" cy="347472"/>
          </a:xfrm>
          <a:prstGeom prst="rect">
            <a:avLst/>
          </a:prstGeom>
          <a:noFill/>
          <a:ln/>
        </p:spPr>
        <p:txBody>
          <a:bodyPr wrap="square" lIns="0" tIns="0" rIns="0" bIns="0" rtlCol="0" anchor="ctr"/>
          <a:lstStyle/>
          <a:p>
            <a:pPr algn="ctr" indent="0" marL="0">
              <a:buNone/>
            </a:pPr>
            <a:r>
              <a:rPr lang="en-US" sz="1100" b="1" spc="200" kern="0" dirty="0">
                <a:solidFill>
                  <a:srgbClr val="E74C3C"/>
                </a:solidFill>
              </a:rPr>
              <a:t>04</a:t>
            </a:r>
            <a:endParaRPr lang="en-US" sz="1100" dirty="0"/>
          </a:p>
        </p:txBody>
      </p:sp>
      <p:pic>
        <p:nvPicPr>
          <p:cNvPr id="29" name="Image 3" descr="preencoded.png">    </p:cNvPr>
          <p:cNvPicPr>
            <a:picLocks noChangeAspect="1"/>
          </p:cNvPicPr>
          <p:nvPr/>
        </p:nvPicPr>
        <p:blipFill>
          <a:blip r:embed="rId4"/>
          <a:stretch>
            <a:fillRect/>
          </a:stretch>
        </p:blipFill>
        <p:spPr>
          <a:xfrm>
            <a:off x="7566660" y="2103120"/>
            <a:ext cx="594360" cy="594360"/>
          </a:xfrm>
          <a:prstGeom prst="rect">
            <a:avLst/>
          </a:prstGeom>
        </p:spPr>
      </p:pic>
      <p:sp>
        <p:nvSpPr>
          <p:cNvPr id="30" name="Text 24"/>
          <p:cNvSpPr/>
          <p:nvPr/>
        </p:nvSpPr>
        <p:spPr>
          <a:xfrm>
            <a:off x="6858000" y="2788920"/>
            <a:ext cx="201168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Arial Black" pitchFamily="34" charset="0"/>
                <a:ea typeface="Arial Black" pitchFamily="34" charset="-122"/>
                <a:cs typeface="Arial Black" pitchFamily="34" charset="-120"/>
              </a:rPr>
              <a:t>SÉCURISER</a:t>
            </a:r>
            <a:endParaRPr lang="en-US" sz="1450" dirty="0"/>
          </a:p>
        </p:txBody>
      </p:sp>
      <p:sp>
        <p:nvSpPr>
          <p:cNvPr id="31" name="Text 25"/>
          <p:cNvSpPr/>
          <p:nvPr/>
        </p:nvSpPr>
        <p:spPr>
          <a:xfrm>
            <a:off x="6931152" y="3291840"/>
            <a:ext cx="1865376" cy="1554480"/>
          </a:xfrm>
          <a:prstGeom prst="rect">
            <a:avLst/>
          </a:prstGeom>
          <a:noFill/>
          <a:ln/>
        </p:spPr>
        <p:txBody>
          <a:bodyPr wrap="square" lIns="0" tIns="0" rIns="0" bIns="0" rtlCol="0" anchor="t"/>
          <a:lstStyle/>
          <a:p>
            <a:pPr algn="ctr" indent="0" marL="0">
              <a:buNone/>
            </a:pPr>
            <a:r>
              <a:rPr lang="en-US" sz="1150" dirty="0">
                <a:solidFill>
                  <a:srgbClr val="7A95A8"/>
                </a:solidFill>
              </a:rPr>
              <a:t>AES-256 · TLS · Auth</a:t>
            </a:r>
            <a:endParaRPr lang="en-US" sz="1150" dirty="0"/>
          </a:p>
          <a:p>
            <a:pPr algn="ctr" indent="0" marL="0">
              <a:buNone/>
            </a:pPr>
            <a:r>
              <a:rPr lang="en-US" sz="1150" dirty="0">
                <a:solidFill>
                  <a:srgbClr val="7A95A8"/>
                </a:solidFill>
              </a:rPr>
              <a:t>Traçabilité totale</a:t>
            </a:r>
            <a:endParaRPr lang="en-US" sz="1150" dirty="0"/>
          </a:p>
          <a:p>
            <a:pPr algn="ctr" indent="0" marL="0">
              <a:buNone/>
            </a:pPr>
            <a:r>
              <a:rPr lang="en-US" sz="1150" dirty="0">
                <a:solidFill>
                  <a:srgbClr val="7A95A8"/>
                </a:solidFill>
              </a:rPr>
              <a:t>HSM key management</a:t>
            </a:r>
            <a:endParaRPr lang="en-US" sz="1150" dirty="0"/>
          </a:p>
        </p:txBody>
      </p:sp>
      <p:sp>
        <p:nvSpPr>
          <p:cNvPr id="32" name="Shape 26"/>
          <p:cNvSpPr/>
          <p:nvPr/>
        </p:nvSpPr>
        <p:spPr>
          <a:xfrm>
            <a:off x="1097280" y="4828032"/>
            <a:ext cx="6949440" cy="228600"/>
          </a:xfrm>
          <a:prstGeom prst="rect">
            <a:avLst/>
          </a:prstGeom>
          <a:solidFill>
            <a:srgbClr val="1E3A5F"/>
          </a:solidFill>
          <a:ln/>
        </p:spPr>
      </p:sp>
      <p:sp>
        <p:nvSpPr>
          <p:cNvPr id="33" name="Text 27"/>
          <p:cNvSpPr/>
          <p:nvPr/>
        </p:nvSpPr>
        <p:spPr>
          <a:xfrm>
            <a:off x="1097280" y="4828032"/>
            <a:ext cx="6949440" cy="228600"/>
          </a:xfrm>
          <a:prstGeom prst="rect">
            <a:avLst/>
          </a:prstGeom>
          <a:noFill/>
          <a:ln/>
        </p:spPr>
        <p:txBody>
          <a:bodyPr wrap="square" lIns="0" tIns="0" rIns="0" bIns="0" rtlCol="0" anchor="ctr"/>
          <a:lstStyle/>
          <a:p>
            <a:pPr algn="ctr" indent="0" marL="0">
              <a:buNone/>
            </a:pPr>
            <a:r>
              <a:rPr lang="en-US" sz="1050" i="1" dirty="0">
                <a:solidFill>
                  <a:srgbClr val="D4A843"/>
                </a:solidFill>
              </a:rPr>
              <a:t>La sécurité est inscrite dans le nom — chaque pilier est essentiel.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p:spPr>
      </p:sp>
      <p:sp>
        <p:nvSpPr>
          <p:cNvPr id="3" name="Shape 1"/>
          <p:cNvSpPr/>
          <p:nvPr/>
        </p:nvSpPr>
        <p:spPr>
          <a:xfrm>
            <a:off x="457200" y="164592"/>
            <a:ext cx="1901952"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4" name="Text 2"/>
          <p:cNvSpPr/>
          <p:nvPr/>
        </p:nvSpPr>
        <p:spPr>
          <a:xfrm>
            <a:off x="457200" y="164592"/>
            <a:ext cx="1901952" cy="256032"/>
          </a:xfrm>
          <a:prstGeom prst="rect">
            <a:avLst/>
          </a:prstGeom>
          <a:noFill/>
          <a:ln/>
        </p:spPr>
        <p:txBody>
          <a:bodyPr wrap="square" lIns="0" tIns="0" rIns="0" bIns="0" rtlCol="0" anchor="ctr"/>
          <a:lstStyle/>
          <a:p>
            <a:pPr algn="ctr" indent="0" marL="0">
              <a:buNone/>
            </a:pPr>
            <a:r>
              <a:rPr lang="en-US" sz="900" b="1" dirty="0">
                <a:solidFill>
                  <a:srgbClr val="0D1B2A"/>
                </a:solidFill>
              </a:rPr>
              <a:t>FONCTIONNEMENT</a:t>
            </a:r>
            <a:endParaRPr lang="en-US" sz="900" dirty="0"/>
          </a:p>
        </p:txBody>
      </p:sp>
      <p:sp>
        <p:nvSpPr>
          <p:cNvPr id="5" name="Text 3"/>
          <p:cNvSpPr/>
          <p:nvPr/>
        </p:nvSpPr>
        <p:spPr>
          <a:xfrm>
            <a:off x="182880" y="457200"/>
            <a:ext cx="8778240" cy="96012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De la catastrophe</a:t>
            </a:r>
            <a:endParaRPr lang="en-US" sz="3200" dirty="0"/>
          </a:p>
          <a:p>
            <a:pPr algn="ctr" indent="0" marL="0">
              <a:buNone/>
            </a:pPr>
            <a:r>
              <a:rPr lang="en-US" sz="3200" b="1" dirty="0">
                <a:solidFill>
                  <a:srgbClr val="FFFFFF"/>
                </a:solidFill>
                <a:latin typeface="Arial Black" pitchFamily="34" charset="0"/>
                <a:ea typeface="Arial Black" pitchFamily="34" charset="-122"/>
                <a:cs typeface="Arial Black" pitchFamily="34" charset="-120"/>
              </a:rPr>
              <a:t>à la livraison en &lt; 15 secondes</a:t>
            </a:r>
            <a:endParaRPr lang="en-US" sz="3200" dirty="0"/>
          </a:p>
        </p:txBody>
      </p:sp>
      <p:sp>
        <p:nvSpPr>
          <p:cNvPr id="6" name="Shape 4"/>
          <p:cNvSpPr/>
          <p:nvPr/>
        </p:nvSpPr>
        <p:spPr>
          <a:xfrm>
            <a:off x="228600" y="1600200"/>
            <a:ext cx="2011680" cy="31089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7" name="Shape 5"/>
          <p:cNvSpPr/>
          <p:nvPr/>
        </p:nvSpPr>
        <p:spPr>
          <a:xfrm>
            <a:off x="228600" y="1600200"/>
            <a:ext cx="2011680" cy="54864"/>
          </a:xfrm>
          <a:prstGeom prst="rect">
            <a:avLst/>
          </a:prstGeom>
          <a:solidFill>
            <a:srgbClr val="E74C3C"/>
          </a:solidFill>
          <a:ln/>
        </p:spPr>
      </p:sp>
      <p:sp>
        <p:nvSpPr>
          <p:cNvPr id="8" name="Shape 6"/>
          <p:cNvSpPr/>
          <p:nvPr/>
        </p:nvSpPr>
        <p:spPr>
          <a:xfrm>
            <a:off x="914400" y="1737360"/>
            <a:ext cx="640080" cy="640080"/>
          </a:xfrm>
          <a:prstGeom prst="oval">
            <a:avLst/>
          </a:prstGeom>
          <a:solidFill>
            <a:srgbClr val="E74C3C"/>
          </a:solidFill>
          <a:ln/>
        </p:spPr>
      </p:sp>
      <p:sp>
        <p:nvSpPr>
          <p:cNvPr id="9" name="Text 7"/>
          <p:cNvSpPr/>
          <p:nvPr/>
        </p:nvSpPr>
        <p:spPr>
          <a:xfrm>
            <a:off x="91440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pic>
        <p:nvPicPr>
          <p:cNvPr id="10" name="Image 0" descr="preencoded.png">    </p:cNvPr>
          <p:cNvPicPr>
            <a:picLocks noChangeAspect="1"/>
          </p:cNvPicPr>
          <p:nvPr/>
        </p:nvPicPr>
        <p:blipFill>
          <a:blip r:embed="rId1"/>
          <a:stretch>
            <a:fillRect/>
          </a:stretch>
        </p:blipFill>
        <p:spPr>
          <a:xfrm>
            <a:off x="886968" y="2514600"/>
            <a:ext cx="685800" cy="685800"/>
          </a:xfrm>
          <a:prstGeom prst="rect">
            <a:avLst/>
          </a:prstGeom>
        </p:spPr>
      </p:pic>
      <p:sp>
        <p:nvSpPr>
          <p:cNvPr id="11" name="Text 8"/>
          <p:cNvSpPr/>
          <p:nvPr/>
        </p:nvSpPr>
        <p:spPr>
          <a:xfrm>
            <a:off x="228600" y="3291840"/>
            <a:ext cx="2011680" cy="502920"/>
          </a:xfrm>
          <a:prstGeom prst="rect">
            <a:avLst/>
          </a:prstGeom>
          <a:noFill/>
          <a:ln/>
        </p:spPr>
        <p:txBody>
          <a:bodyPr wrap="square" lIns="0" tIns="0" rIns="0" bIns="0" rtlCol="0" anchor="ctr"/>
          <a:lstStyle/>
          <a:p>
            <a:pPr algn="ctr" indent="0" marL="0">
              <a:buNone/>
            </a:pPr>
            <a:r>
              <a:rPr lang="en-US" sz="1350" b="1" spc="100" kern="0" dirty="0">
                <a:solidFill>
                  <a:srgbClr val="E74C3C"/>
                </a:solidFill>
              </a:rPr>
              <a:t>CATASTROPHE</a:t>
            </a:r>
            <a:endParaRPr lang="en-US" sz="1350" dirty="0"/>
          </a:p>
        </p:txBody>
      </p:sp>
      <p:sp>
        <p:nvSpPr>
          <p:cNvPr id="12" name="Text 9"/>
          <p:cNvSpPr/>
          <p:nvPr/>
        </p:nvSpPr>
        <p:spPr>
          <a:xfrm>
            <a:off x="320040" y="3794760"/>
            <a:ext cx="1828800" cy="685800"/>
          </a:xfrm>
          <a:prstGeom prst="rect">
            <a:avLst/>
          </a:prstGeom>
          <a:noFill/>
          <a:ln/>
        </p:spPr>
        <p:txBody>
          <a:bodyPr wrap="square" lIns="0" tIns="0" rIns="0" bIns="0" rtlCol="0" anchor="t"/>
          <a:lstStyle/>
          <a:p>
            <a:pPr algn="ctr" indent="0" marL="0">
              <a:buNone/>
            </a:pPr>
            <a:r>
              <a:rPr lang="en-US" sz="1200" dirty="0">
                <a:solidFill>
                  <a:srgbClr val="7A95A8"/>
                </a:solidFill>
              </a:rPr>
              <a:t>Activation</a:t>
            </a:r>
            <a:endParaRPr lang="en-US" sz="1200" dirty="0"/>
          </a:p>
          <a:p>
            <a:pPr algn="ctr" indent="0" marL="0">
              <a:buNone/>
            </a:pPr>
            <a:r>
              <a:rPr lang="en-US" sz="1200" dirty="0">
                <a:solidFill>
                  <a:srgbClr val="7A95A8"/>
                </a:solidFill>
              </a:rPr>
              <a:t>du système</a:t>
            </a:r>
            <a:endParaRPr lang="en-US" sz="1200" dirty="0"/>
          </a:p>
        </p:txBody>
      </p:sp>
      <p:sp>
        <p:nvSpPr>
          <p:cNvPr id="13" name="Shape 10"/>
          <p:cNvSpPr/>
          <p:nvPr/>
        </p:nvSpPr>
        <p:spPr>
          <a:xfrm>
            <a:off x="2258568" y="2816352"/>
            <a:ext cx="329184" cy="54864"/>
          </a:xfrm>
          <a:prstGeom prst="rect">
            <a:avLst/>
          </a:prstGeom>
          <a:solidFill>
            <a:srgbClr val="1E3A5F"/>
          </a:solidFill>
          <a:ln/>
        </p:spPr>
      </p:sp>
      <p:sp>
        <p:nvSpPr>
          <p:cNvPr id="14" name="Text 11"/>
          <p:cNvSpPr/>
          <p:nvPr/>
        </p:nvSpPr>
        <p:spPr>
          <a:xfrm>
            <a:off x="2395728" y="2697480"/>
            <a:ext cx="182880" cy="292608"/>
          </a:xfrm>
          <a:prstGeom prst="rect">
            <a:avLst/>
          </a:prstGeom>
          <a:noFill/>
          <a:ln/>
        </p:spPr>
        <p:txBody>
          <a:bodyPr wrap="square" lIns="0" tIns="0" rIns="0" bIns="0" rtlCol="0" anchor="ctr"/>
          <a:lstStyle/>
          <a:p>
            <a:pPr algn="ctr" indent="0" marL="0">
              <a:buNone/>
            </a:pPr>
            <a:r>
              <a:rPr lang="en-US" sz="1400" dirty="0">
                <a:solidFill>
                  <a:srgbClr val="7A95A8"/>
                </a:solidFill>
              </a:rPr>
              <a:t>▶</a:t>
            </a:r>
            <a:endParaRPr lang="en-US" sz="1400" dirty="0"/>
          </a:p>
        </p:txBody>
      </p:sp>
      <p:sp>
        <p:nvSpPr>
          <p:cNvPr id="15" name="Shape 12"/>
          <p:cNvSpPr/>
          <p:nvPr/>
        </p:nvSpPr>
        <p:spPr>
          <a:xfrm>
            <a:off x="2377440" y="1600200"/>
            <a:ext cx="2011680" cy="31089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6" name="Shape 13"/>
          <p:cNvSpPr/>
          <p:nvPr/>
        </p:nvSpPr>
        <p:spPr>
          <a:xfrm>
            <a:off x="2377440" y="1600200"/>
            <a:ext cx="2011680" cy="54864"/>
          </a:xfrm>
          <a:prstGeom prst="rect">
            <a:avLst/>
          </a:prstGeom>
          <a:solidFill>
            <a:srgbClr val="D4A843"/>
          </a:solidFill>
          <a:ln/>
        </p:spPr>
      </p:sp>
      <p:sp>
        <p:nvSpPr>
          <p:cNvPr id="17" name="Shape 14"/>
          <p:cNvSpPr/>
          <p:nvPr/>
        </p:nvSpPr>
        <p:spPr>
          <a:xfrm>
            <a:off x="3063240" y="1737360"/>
            <a:ext cx="640080" cy="640080"/>
          </a:xfrm>
          <a:prstGeom prst="oval">
            <a:avLst/>
          </a:prstGeom>
          <a:solidFill>
            <a:srgbClr val="D4A843"/>
          </a:solidFill>
          <a:ln/>
        </p:spPr>
      </p:sp>
      <p:sp>
        <p:nvSpPr>
          <p:cNvPr id="18" name="Text 15"/>
          <p:cNvSpPr/>
          <p:nvPr/>
        </p:nvSpPr>
        <p:spPr>
          <a:xfrm>
            <a:off x="30632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pic>
        <p:nvPicPr>
          <p:cNvPr id="19" name="Image 1" descr="preencoded.png">    </p:cNvPr>
          <p:cNvPicPr>
            <a:picLocks noChangeAspect="1"/>
          </p:cNvPicPr>
          <p:nvPr/>
        </p:nvPicPr>
        <p:blipFill>
          <a:blip r:embed="rId2"/>
          <a:stretch>
            <a:fillRect/>
          </a:stretch>
        </p:blipFill>
        <p:spPr>
          <a:xfrm>
            <a:off x="3035808" y="2514600"/>
            <a:ext cx="685800" cy="685800"/>
          </a:xfrm>
          <a:prstGeom prst="rect">
            <a:avLst/>
          </a:prstGeom>
        </p:spPr>
      </p:pic>
      <p:sp>
        <p:nvSpPr>
          <p:cNvPr id="20" name="Text 16"/>
          <p:cNvSpPr/>
          <p:nvPr/>
        </p:nvSpPr>
        <p:spPr>
          <a:xfrm>
            <a:off x="2377440" y="3291840"/>
            <a:ext cx="2011680" cy="502920"/>
          </a:xfrm>
          <a:prstGeom prst="rect">
            <a:avLst/>
          </a:prstGeom>
          <a:noFill/>
          <a:ln/>
        </p:spPr>
        <p:txBody>
          <a:bodyPr wrap="square" lIns="0" tIns="0" rIns="0" bIns="0" rtlCol="0" anchor="ctr"/>
          <a:lstStyle/>
          <a:p>
            <a:pPr algn="ctr" indent="0" marL="0">
              <a:buNone/>
            </a:pPr>
            <a:r>
              <a:rPr lang="en-US" sz="1350" b="1" spc="100" kern="0" dirty="0">
                <a:solidFill>
                  <a:srgbClr val="D4A843"/>
                </a:solidFill>
              </a:rPr>
              <a:t>ANALYSE IA</a:t>
            </a:r>
            <a:endParaRPr lang="en-US" sz="1350" dirty="0"/>
          </a:p>
        </p:txBody>
      </p:sp>
      <p:sp>
        <p:nvSpPr>
          <p:cNvPr id="21" name="Text 17"/>
          <p:cNvSpPr/>
          <p:nvPr/>
        </p:nvSpPr>
        <p:spPr>
          <a:xfrm>
            <a:off x="2468880" y="3794760"/>
            <a:ext cx="1828800" cy="685800"/>
          </a:xfrm>
          <a:prstGeom prst="rect">
            <a:avLst/>
          </a:prstGeom>
          <a:noFill/>
          <a:ln/>
        </p:spPr>
        <p:txBody>
          <a:bodyPr wrap="square" lIns="0" tIns="0" rIns="0" bIns="0" rtlCol="0" anchor="t"/>
          <a:lstStyle/>
          <a:p>
            <a:pPr algn="ctr" indent="0" marL="0">
              <a:buNone/>
            </a:pPr>
            <a:r>
              <a:rPr lang="en-US" sz="1200" dirty="0">
                <a:solidFill>
                  <a:srgbClr val="7A95A8"/>
                </a:solidFill>
              </a:rPr>
              <a:t>AHP + TOPSIS</a:t>
            </a:r>
            <a:endParaRPr lang="en-US" sz="1200" dirty="0"/>
          </a:p>
          <a:p>
            <a:pPr algn="ctr" indent="0" marL="0">
              <a:buNone/>
            </a:pPr>
            <a:r>
              <a:rPr lang="en-US" sz="1200" dirty="0">
                <a:solidFill>
                  <a:srgbClr val="7A95A8"/>
                </a:solidFill>
              </a:rPr>
              <a:t>calculent</a:t>
            </a:r>
            <a:endParaRPr lang="en-US" sz="1200" dirty="0"/>
          </a:p>
        </p:txBody>
      </p:sp>
      <p:sp>
        <p:nvSpPr>
          <p:cNvPr id="22" name="Shape 18"/>
          <p:cNvSpPr/>
          <p:nvPr/>
        </p:nvSpPr>
        <p:spPr>
          <a:xfrm>
            <a:off x="4407408" y="2816352"/>
            <a:ext cx="329184" cy="54864"/>
          </a:xfrm>
          <a:prstGeom prst="rect">
            <a:avLst/>
          </a:prstGeom>
          <a:solidFill>
            <a:srgbClr val="1E3A5F"/>
          </a:solidFill>
          <a:ln/>
        </p:spPr>
      </p:sp>
      <p:sp>
        <p:nvSpPr>
          <p:cNvPr id="23" name="Text 19"/>
          <p:cNvSpPr/>
          <p:nvPr/>
        </p:nvSpPr>
        <p:spPr>
          <a:xfrm>
            <a:off x="4544568" y="2697480"/>
            <a:ext cx="182880" cy="292608"/>
          </a:xfrm>
          <a:prstGeom prst="rect">
            <a:avLst/>
          </a:prstGeom>
          <a:noFill/>
          <a:ln/>
        </p:spPr>
        <p:txBody>
          <a:bodyPr wrap="square" lIns="0" tIns="0" rIns="0" bIns="0" rtlCol="0" anchor="ctr"/>
          <a:lstStyle/>
          <a:p>
            <a:pPr algn="ctr" indent="0" marL="0">
              <a:buNone/>
            </a:pPr>
            <a:r>
              <a:rPr lang="en-US" sz="1400" dirty="0">
                <a:solidFill>
                  <a:srgbClr val="7A95A8"/>
                </a:solidFill>
              </a:rPr>
              <a:t>▶</a:t>
            </a:r>
            <a:endParaRPr lang="en-US" sz="1400" dirty="0"/>
          </a:p>
        </p:txBody>
      </p:sp>
      <p:sp>
        <p:nvSpPr>
          <p:cNvPr id="24" name="Shape 20"/>
          <p:cNvSpPr/>
          <p:nvPr/>
        </p:nvSpPr>
        <p:spPr>
          <a:xfrm>
            <a:off x="4526280" y="1600200"/>
            <a:ext cx="2011680" cy="31089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25" name="Shape 21"/>
          <p:cNvSpPr/>
          <p:nvPr/>
        </p:nvSpPr>
        <p:spPr>
          <a:xfrm>
            <a:off x="4526280" y="1600200"/>
            <a:ext cx="2011680" cy="54864"/>
          </a:xfrm>
          <a:prstGeom prst="rect">
            <a:avLst/>
          </a:prstGeom>
          <a:solidFill>
            <a:srgbClr val="3498DB"/>
          </a:solidFill>
          <a:ln/>
        </p:spPr>
      </p:sp>
      <p:sp>
        <p:nvSpPr>
          <p:cNvPr id="26" name="Shape 22"/>
          <p:cNvSpPr/>
          <p:nvPr/>
        </p:nvSpPr>
        <p:spPr>
          <a:xfrm>
            <a:off x="5212080" y="1737360"/>
            <a:ext cx="640080" cy="640080"/>
          </a:xfrm>
          <a:prstGeom prst="oval">
            <a:avLst/>
          </a:prstGeom>
          <a:solidFill>
            <a:srgbClr val="3498DB"/>
          </a:solidFill>
          <a:ln/>
        </p:spPr>
      </p:sp>
      <p:sp>
        <p:nvSpPr>
          <p:cNvPr id="27" name="Text 23"/>
          <p:cNvSpPr/>
          <p:nvPr/>
        </p:nvSpPr>
        <p:spPr>
          <a:xfrm>
            <a:off x="521208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pic>
        <p:nvPicPr>
          <p:cNvPr id="28" name="Image 2" descr="preencoded.png">    </p:cNvPr>
          <p:cNvPicPr>
            <a:picLocks noChangeAspect="1"/>
          </p:cNvPicPr>
          <p:nvPr/>
        </p:nvPicPr>
        <p:blipFill>
          <a:blip r:embed="rId3"/>
          <a:stretch>
            <a:fillRect/>
          </a:stretch>
        </p:blipFill>
        <p:spPr>
          <a:xfrm>
            <a:off x="5184648" y="2514600"/>
            <a:ext cx="685800" cy="685800"/>
          </a:xfrm>
          <a:prstGeom prst="rect">
            <a:avLst/>
          </a:prstGeom>
        </p:spPr>
      </p:pic>
      <p:sp>
        <p:nvSpPr>
          <p:cNvPr id="29" name="Text 24"/>
          <p:cNvSpPr/>
          <p:nvPr/>
        </p:nvSpPr>
        <p:spPr>
          <a:xfrm>
            <a:off x="4526280" y="3291840"/>
            <a:ext cx="2011680" cy="502920"/>
          </a:xfrm>
          <a:prstGeom prst="rect">
            <a:avLst/>
          </a:prstGeom>
          <a:noFill/>
          <a:ln/>
        </p:spPr>
        <p:txBody>
          <a:bodyPr wrap="square" lIns="0" tIns="0" rIns="0" bIns="0" rtlCol="0" anchor="ctr"/>
          <a:lstStyle/>
          <a:p>
            <a:pPr algn="ctr" indent="0" marL="0">
              <a:buNone/>
            </a:pPr>
            <a:r>
              <a:rPr lang="en-US" sz="1350" b="1" spc="100" kern="0" dirty="0">
                <a:solidFill>
                  <a:srgbClr val="3498DB"/>
                </a:solidFill>
              </a:rPr>
              <a:t>OPTIMISATION</a:t>
            </a:r>
            <a:endParaRPr lang="en-US" sz="1350" dirty="0"/>
          </a:p>
        </p:txBody>
      </p:sp>
      <p:sp>
        <p:nvSpPr>
          <p:cNvPr id="30" name="Text 25"/>
          <p:cNvSpPr/>
          <p:nvPr/>
        </p:nvSpPr>
        <p:spPr>
          <a:xfrm>
            <a:off x="4617720" y="3794760"/>
            <a:ext cx="1828800" cy="685800"/>
          </a:xfrm>
          <a:prstGeom prst="rect">
            <a:avLst/>
          </a:prstGeom>
          <a:noFill/>
          <a:ln/>
        </p:spPr>
        <p:txBody>
          <a:bodyPr wrap="square" lIns="0" tIns="0" rIns="0" bIns="0" rtlCol="0" anchor="t"/>
          <a:lstStyle/>
          <a:p>
            <a:pPr algn="ctr" indent="0" marL="0">
              <a:buNone/>
            </a:pPr>
            <a:r>
              <a:rPr lang="en-US" sz="1200" dirty="0">
                <a:solidFill>
                  <a:srgbClr val="7A95A8"/>
                </a:solidFill>
              </a:rPr>
              <a:t>VRP génère</a:t>
            </a:r>
            <a:endParaRPr lang="en-US" sz="1200" dirty="0"/>
          </a:p>
          <a:p>
            <a:pPr algn="ctr" indent="0" marL="0">
              <a:buNone/>
            </a:pPr>
            <a:r>
              <a:rPr lang="en-US" sz="1200" dirty="0">
                <a:solidFill>
                  <a:srgbClr val="7A95A8"/>
                </a:solidFill>
              </a:rPr>
              <a:t>les tournées</a:t>
            </a:r>
            <a:endParaRPr lang="en-US" sz="1200" dirty="0"/>
          </a:p>
        </p:txBody>
      </p:sp>
      <p:sp>
        <p:nvSpPr>
          <p:cNvPr id="31" name="Shape 26"/>
          <p:cNvSpPr/>
          <p:nvPr/>
        </p:nvSpPr>
        <p:spPr>
          <a:xfrm>
            <a:off x="6556248" y="2816352"/>
            <a:ext cx="329184" cy="54864"/>
          </a:xfrm>
          <a:prstGeom prst="rect">
            <a:avLst/>
          </a:prstGeom>
          <a:solidFill>
            <a:srgbClr val="1E3A5F"/>
          </a:solidFill>
          <a:ln/>
        </p:spPr>
      </p:sp>
      <p:sp>
        <p:nvSpPr>
          <p:cNvPr id="32" name="Text 27"/>
          <p:cNvSpPr/>
          <p:nvPr/>
        </p:nvSpPr>
        <p:spPr>
          <a:xfrm>
            <a:off x="6693408" y="2697480"/>
            <a:ext cx="182880" cy="292608"/>
          </a:xfrm>
          <a:prstGeom prst="rect">
            <a:avLst/>
          </a:prstGeom>
          <a:noFill/>
          <a:ln/>
        </p:spPr>
        <p:txBody>
          <a:bodyPr wrap="square" lIns="0" tIns="0" rIns="0" bIns="0" rtlCol="0" anchor="ctr"/>
          <a:lstStyle/>
          <a:p>
            <a:pPr algn="ctr" indent="0" marL="0">
              <a:buNone/>
            </a:pPr>
            <a:r>
              <a:rPr lang="en-US" sz="1400" dirty="0">
                <a:solidFill>
                  <a:srgbClr val="7A95A8"/>
                </a:solidFill>
              </a:rPr>
              <a:t>▶</a:t>
            </a:r>
            <a:endParaRPr lang="en-US" sz="1400" dirty="0"/>
          </a:p>
        </p:txBody>
      </p:sp>
      <p:sp>
        <p:nvSpPr>
          <p:cNvPr id="33" name="Shape 28"/>
          <p:cNvSpPr/>
          <p:nvPr/>
        </p:nvSpPr>
        <p:spPr>
          <a:xfrm>
            <a:off x="6675120" y="1600200"/>
            <a:ext cx="2011680" cy="31089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34" name="Shape 29"/>
          <p:cNvSpPr/>
          <p:nvPr/>
        </p:nvSpPr>
        <p:spPr>
          <a:xfrm>
            <a:off x="6675120" y="1600200"/>
            <a:ext cx="2011680" cy="54864"/>
          </a:xfrm>
          <a:prstGeom prst="rect">
            <a:avLst/>
          </a:prstGeom>
          <a:solidFill>
            <a:srgbClr val="27AE60"/>
          </a:solidFill>
          <a:ln/>
        </p:spPr>
      </p:sp>
      <p:sp>
        <p:nvSpPr>
          <p:cNvPr id="35" name="Shape 30"/>
          <p:cNvSpPr/>
          <p:nvPr/>
        </p:nvSpPr>
        <p:spPr>
          <a:xfrm>
            <a:off x="7360920" y="1737360"/>
            <a:ext cx="640080" cy="640080"/>
          </a:xfrm>
          <a:prstGeom prst="oval">
            <a:avLst/>
          </a:prstGeom>
          <a:solidFill>
            <a:srgbClr val="27AE60"/>
          </a:solidFill>
          <a:ln/>
        </p:spPr>
      </p:sp>
      <p:sp>
        <p:nvSpPr>
          <p:cNvPr id="36" name="Text 31"/>
          <p:cNvSpPr/>
          <p:nvPr/>
        </p:nvSpPr>
        <p:spPr>
          <a:xfrm>
            <a:off x="736092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pic>
        <p:nvPicPr>
          <p:cNvPr id="37" name="Image 3" descr="preencoded.png">    </p:cNvPr>
          <p:cNvPicPr>
            <a:picLocks noChangeAspect="1"/>
          </p:cNvPicPr>
          <p:nvPr/>
        </p:nvPicPr>
        <p:blipFill>
          <a:blip r:embed="rId4"/>
          <a:stretch>
            <a:fillRect/>
          </a:stretch>
        </p:blipFill>
        <p:spPr>
          <a:xfrm>
            <a:off x="7333488" y="2514600"/>
            <a:ext cx="685800" cy="685800"/>
          </a:xfrm>
          <a:prstGeom prst="rect">
            <a:avLst/>
          </a:prstGeom>
        </p:spPr>
      </p:pic>
      <p:sp>
        <p:nvSpPr>
          <p:cNvPr id="38" name="Text 32"/>
          <p:cNvSpPr/>
          <p:nvPr/>
        </p:nvSpPr>
        <p:spPr>
          <a:xfrm>
            <a:off x="6675120" y="3291840"/>
            <a:ext cx="2011680" cy="502920"/>
          </a:xfrm>
          <a:prstGeom prst="rect">
            <a:avLst/>
          </a:prstGeom>
          <a:noFill/>
          <a:ln/>
        </p:spPr>
        <p:txBody>
          <a:bodyPr wrap="square" lIns="0" tIns="0" rIns="0" bIns="0" rtlCol="0" anchor="ctr"/>
          <a:lstStyle/>
          <a:p>
            <a:pPr algn="ctr" indent="0" marL="0">
              <a:buNone/>
            </a:pPr>
            <a:r>
              <a:rPr lang="en-US" sz="1350" b="1" spc="100" kern="0" dirty="0">
                <a:solidFill>
                  <a:srgbClr val="27AE60"/>
                </a:solidFill>
              </a:rPr>
              <a:t>LIVRAISON</a:t>
            </a:r>
            <a:endParaRPr lang="en-US" sz="1350" dirty="0"/>
          </a:p>
        </p:txBody>
      </p:sp>
      <p:sp>
        <p:nvSpPr>
          <p:cNvPr id="39" name="Text 33"/>
          <p:cNvSpPr/>
          <p:nvPr/>
        </p:nvSpPr>
        <p:spPr>
          <a:xfrm>
            <a:off x="6766560" y="3794760"/>
            <a:ext cx="1828800" cy="685800"/>
          </a:xfrm>
          <a:prstGeom prst="rect">
            <a:avLst/>
          </a:prstGeom>
          <a:noFill/>
          <a:ln/>
        </p:spPr>
        <p:txBody>
          <a:bodyPr wrap="square" lIns="0" tIns="0" rIns="0" bIns="0" rtlCol="0" anchor="t"/>
          <a:lstStyle/>
          <a:p>
            <a:pPr algn="ctr" indent="0" marL="0">
              <a:buNone/>
            </a:pPr>
            <a:r>
              <a:rPr lang="en-US" sz="1200" dirty="0">
                <a:solidFill>
                  <a:srgbClr val="7A95A8"/>
                </a:solidFill>
              </a:rPr>
              <a:t>Terrain avec</a:t>
            </a:r>
            <a:endParaRPr lang="en-US" sz="1200" dirty="0"/>
          </a:p>
          <a:p>
            <a:pPr algn="ctr" indent="0" marL="0">
              <a:buNone/>
            </a:pPr>
            <a:r>
              <a:rPr lang="en-US" sz="1200" dirty="0">
                <a:solidFill>
                  <a:srgbClr val="7A95A8"/>
                </a:solidFill>
              </a:rPr>
              <a:t>suivi GPS</a:t>
            </a:r>
            <a:endParaRPr lang="en-US" sz="1200" dirty="0"/>
          </a:p>
        </p:txBody>
      </p:sp>
      <p:sp>
        <p:nvSpPr>
          <p:cNvPr id="40" name="Shape 34"/>
          <p:cNvSpPr/>
          <p:nvPr/>
        </p:nvSpPr>
        <p:spPr>
          <a:xfrm>
            <a:off x="1645920" y="4709160"/>
            <a:ext cx="5852160" cy="320040"/>
          </a:xfrm>
          <a:prstGeom prst="rect">
            <a:avLst/>
          </a:prstGeom>
          <a:solidFill>
            <a:srgbClr val="1A3050"/>
          </a:solidFill>
          <a:ln/>
          <a:effectLst>
            <a:outerShdw sx="100000" sy="100000" kx="0" ky="0" algn="bl" rotWithShape="0" blurRad="76200" dist="25400" dir="8100000">
              <a:srgbClr val="000000">
                <a:alpha val="25000"/>
              </a:srgbClr>
            </a:outerShdw>
          </a:effectLst>
        </p:spPr>
      </p:sp>
      <p:sp>
        <p:nvSpPr>
          <p:cNvPr id="41" name="Text 35"/>
          <p:cNvSpPr/>
          <p:nvPr/>
        </p:nvSpPr>
        <p:spPr>
          <a:xfrm>
            <a:off x="1645920" y="4709160"/>
            <a:ext cx="5852160" cy="320040"/>
          </a:xfrm>
          <a:prstGeom prst="rect">
            <a:avLst/>
          </a:prstGeom>
          <a:noFill/>
          <a:ln/>
        </p:spPr>
        <p:txBody>
          <a:bodyPr wrap="square" lIns="0" tIns="0" rIns="0" bIns="0" rtlCol="0" anchor="ctr"/>
          <a:lstStyle/>
          <a:p>
            <a:pPr algn="ctr" indent="0" marL="0">
              <a:buNone/>
            </a:pPr>
            <a:r>
              <a:rPr lang="en-US" sz="1100" i="1" dirty="0">
                <a:solidFill>
                  <a:srgbClr val="D4A843"/>
                </a:solidFill>
              </a:rPr>
              <a:t>Recalcul dynamique en cas d'incident (route bloquée, rupture de stock, réplique sismique)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498DB"/>
          </a:solidFill>
          <a:ln/>
        </p:spPr>
      </p:sp>
      <p:sp>
        <p:nvSpPr>
          <p:cNvPr id="3" name="Shape 1"/>
          <p:cNvSpPr/>
          <p:nvPr/>
        </p:nvSpPr>
        <p:spPr>
          <a:xfrm>
            <a:off x="457200" y="164592"/>
            <a:ext cx="3108960"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4" name="Text 2"/>
          <p:cNvSpPr/>
          <p:nvPr/>
        </p:nvSpPr>
        <p:spPr>
          <a:xfrm>
            <a:off x="457200" y="164592"/>
            <a:ext cx="3108960" cy="256032"/>
          </a:xfrm>
          <a:prstGeom prst="rect">
            <a:avLst/>
          </a:prstGeom>
          <a:noFill/>
          <a:ln/>
        </p:spPr>
        <p:txBody>
          <a:bodyPr wrap="square" lIns="0" tIns="0" rIns="0" bIns="0" rtlCol="0" anchor="ctr"/>
          <a:lstStyle/>
          <a:p>
            <a:pPr algn="ctr" indent="0" marL="0">
              <a:buNone/>
            </a:pPr>
            <a:r>
              <a:rPr lang="en-US" sz="900" b="1" dirty="0">
                <a:solidFill>
                  <a:srgbClr val="0D1B2A"/>
                </a:solidFill>
              </a:rPr>
              <a:t>INTELLIGENCE ARTIFICIELLE</a:t>
            </a:r>
            <a:endParaRPr lang="en-US" sz="900" dirty="0"/>
          </a:p>
        </p:txBody>
      </p:sp>
      <p:sp>
        <p:nvSpPr>
          <p:cNvPr id="5" name="Text 3"/>
          <p:cNvSpPr/>
          <p:nvPr/>
        </p:nvSpPr>
        <p:spPr>
          <a:xfrm>
            <a:off x="182880" y="438912"/>
            <a:ext cx="877824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Des algorithmes au service</a:t>
            </a:r>
            <a:endParaRPr lang="en-US" sz="3400" dirty="0"/>
          </a:p>
          <a:p>
            <a:pPr algn="ctr" indent="0" marL="0">
              <a:buNone/>
            </a:pPr>
            <a:r>
              <a:rPr lang="en-US" sz="3400" b="1" dirty="0">
                <a:solidFill>
                  <a:srgbClr val="FFFFFF"/>
                </a:solidFill>
                <a:latin typeface="Arial Black" pitchFamily="34" charset="0"/>
                <a:ea typeface="Arial Black" pitchFamily="34" charset="-122"/>
                <a:cs typeface="Arial Black" pitchFamily="34" charset="-120"/>
              </a:rPr>
              <a:t>de l'humain</a:t>
            </a:r>
            <a:endParaRPr lang="en-US" sz="3400" dirty="0"/>
          </a:p>
        </p:txBody>
      </p:sp>
      <p:sp>
        <p:nvSpPr>
          <p:cNvPr id="6" name="Shape 4"/>
          <p:cNvSpPr/>
          <p:nvPr/>
        </p:nvSpPr>
        <p:spPr>
          <a:xfrm>
            <a:off x="201168" y="1463040"/>
            <a:ext cx="2743200" cy="342900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7" name="Shape 5"/>
          <p:cNvSpPr/>
          <p:nvPr/>
        </p:nvSpPr>
        <p:spPr>
          <a:xfrm>
            <a:off x="201168" y="1463040"/>
            <a:ext cx="2743200" cy="54864"/>
          </a:xfrm>
          <a:prstGeom prst="rect">
            <a:avLst/>
          </a:prstGeom>
          <a:solidFill>
            <a:srgbClr val="D4A843"/>
          </a:solidFill>
          <a:ln/>
        </p:spPr>
      </p:sp>
      <p:sp>
        <p:nvSpPr>
          <p:cNvPr id="8" name="Text 6"/>
          <p:cNvSpPr/>
          <p:nvPr/>
        </p:nvSpPr>
        <p:spPr>
          <a:xfrm>
            <a:off x="201168" y="1554480"/>
            <a:ext cx="2743200" cy="64008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Black" pitchFamily="34" charset="0"/>
                <a:ea typeface="Arial Black" pitchFamily="34" charset="-122"/>
                <a:cs typeface="Arial Black" pitchFamily="34" charset="-120"/>
              </a:rPr>
              <a:t>AHP</a:t>
            </a:r>
            <a:endParaRPr lang="en-US" sz="3200" dirty="0"/>
          </a:p>
        </p:txBody>
      </p:sp>
      <p:sp>
        <p:nvSpPr>
          <p:cNvPr id="9" name="Text 7"/>
          <p:cNvSpPr/>
          <p:nvPr/>
        </p:nvSpPr>
        <p:spPr>
          <a:xfrm>
            <a:off x="201168" y="2176272"/>
            <a:ext cx="2743200" cy="274320"/>
          </a:xfrm>
          <a:prstGeom prst="rect">
            <a:avLst/>
          </a:prstGeom>
          <a:noFill/>
          <a:ln/>
        </p:spPr>
        <p:txBody>
          <a:bodyPr wrap="square" lIns="0" tIns="0" rIns="0" bIns="0" rtlCol="0" anchor="ctr"/>
          <a:lstStyle/>
          <a:p>
            <a:pPr algn="ctr" indent="0" marL="0">
              <a:buNone/>
            </a:pPr>
            <a:r>
              <a:rPr lang="en-US" sz="1000" i="1" dirty="0">
                <a:solidFill>
                  <a:srgbClr val="7A95A8"/>
                </a:solidFill>
              </a:rPr>
              <a:t>Hiérarchisation multicritères</a:t>
            </a:r>
            <a:endParaRPr lang="en-US" sz="1000" dirty="0"/>
          </a:p>
        </p:txBody>
      </p:sp>
      <p:sp>
        <p:nvSpPr>
          <p:cNvPr id="10" name="Text 8"/>
          <p:cNvSpPr/>
          <p:nvPr/>
        </p:nvSpPr>
        <p:spPr>
          <a:xfrm>
            <a:off x="201168" y="2450592"/>
            <a:ext cx="2743200" cy="594360"/>
          </a:xfrm>
          <a:prstGeom prst="rect">
            <a:avLst/>
          </a:prstGeom>
          <a:noFill/>
          <a:ln/>
        </p:spPr>
        <p:txBody>
          <a:bodyPr wrap="square" lIns="0" tIns="0" rIns="0" bIns="0" rtlCol="0" anchor="ctr"/>
          <a:lstStyle/>
          <a:p>
            <a:pPr algn="ctr" indent="0" marL="0">
              <a:buNone/>
            </a:pPr>
            <a:r>
              <a:rPr lang="en-US" sz="1500" b="1" dirty="0">
                <a:solidFill>
                  <a:srgbClr val="FFFFFF"/>
                </a:solidFill>
              </a:rPr>
              <a:t>Quoi</a:t>
            </a:r>
            <a:endParaRPr lang="en-US" sz="1500" dirty="0"/>
          </a:p>
          <a:p>
            <a:pPr algn="ctr" indent="0" marL="0">
              <a:buNone/>
            </a:pPr>
            <a:r>
              <a:rPr lang="en-US" sz="1500" b="1" dirty="0">
                <a:solidFill>
                  <a:srgbClr val="FFFFFF"/>
                </a:solidFill>
              </a:rPr>
              <a:t>prioriser ?</a:t>
            </a:r>
            <a:endParaRPr lang="en-US" sz="1500" dirty="0"/>
          </a:p>
        </p:txBody>
      </p:sp>
      <p:sp>
        <p:nvSpPr>
          <p:cNvPr id="11" name="Text 9"/>
          <p:cNvSpPr/>
          <p:nvPr/>
        </p:nvSpPr>
        <p:spPr>
          <a:xfrm>
            <a:off x="338328" y="3090672"/>
            <a:ext cx="2468880" cy="25603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7A95A8"/>
                </a:solidFill>
              </a:rPr>
              <a:t>Sévérité de la crise</a:t>
            </a:r>
            <a:endParaRPr lang="en-US" sz="1150" dirty="0"/>
          </a:p>
        </p:txBody>
      </p:sp>
      <p:sp>
        <p:nvSpPr>
          <p:cNvPr id="12" name="Text 10"/>
          <p:cNvSpPr/>
          <p:nvPr/>
        </p:nvSpPr>
        <p:spPr>
          <a:xfrm>
            <a:off x="338328" y="3346704"/>
            <a:ext cx="2468880" cy="25603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7A95A8"/>
                </a:solidFill>
              </a:rPr>
              <a:t>Vulnérabilité de la population</a:t>
            </a:r>
            <a:endParaRPr lang="en-US" sz="1150" dirty="0"/>
          </a:p>
        </p:txBody>
      </p:sp>
      <p:sp>
        <p:nvSpPr>
          <p:cNvPr id="13" name="Text 11"/>
          <p:cNvSpPr/>
          <p:nvPr/>
        </p:nvSpPr>
        <p:spPr>
          <a:xfrm>
            <a:off x="338328" y="3602736"/>
            <a:ext cx="2468880" cy="25603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7A95A8"/>
                </a:solidFill>
              </a:rPr>
              <a:t>Accessibilité du douar</a:t>
            </a:r>
            <a:endParaRPr lang="en-US" sz="1150" dirty="0"/>
          </a:p>
        </p:txBody>
      </p:sp>
      <p:sp>
        <p:nvSpPr>
          <p:cNvPr id="14" name="Text 12"/>
          <p:cNvSpPr/>
          <p:nvPr/>
        </p:nvSpPr>
        <p:spPr>
          <a:xfrm>
            <a:off x="338328" y="3858768"/>
            <a:ext cx="2468880" cy="25603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7A95A8"/>
                </a:solidFill>
              </a:rPr>
              <a:t>Accès aux soins</a:t>
            </a:r>
            <a:endParaRPr lang="en-US" sz="1150" dirty="0"/>
          </a:p>
        </p:txBody>
      </p:sp>
      <p:sp>
        <p:nvSpPr>
          <p:cNvPr id="15" name="Shape 13"/>
          <p:cNvSpPr/>
          <p:nvPr/>
        </p:nvSpPr>
        <p:spPr>
          <a:xfrm>
            <a:off x="201168" y="4663440"/>
            <a:ext cx="2743200" cy="228600"/>
          </a:xfrm>
          <a:prstGeom prst="rect">
            <a:avLst/>
          </a:prstGeom>
          <a:solidFill>
            <a:srgbClr val="D4A843"/>
          </a:solidFill>
          <a:ln/>
        </p:spPr>
      </p:sp>
      <p:sp>
        <p:nvSpPr>
          <p:cNvPr id="16" name="Text 14"/>
          <p:cNvSpPr/>
          <p:nvPr/>
        </p:nvSpPr>
        <p:spPr>
          <a:xfrm>
            <a:off x="201168" y="4663440"/>
            <a:ext cx="2743200" cy="228600"/>
          </a:xfrm>
          <a:prstGeom prst="rect">
            <a:avLst/>
          </a:prstGeom>
          <a:noFill/>
          <a:ln/>
        </p:spPr>
        <p:txBody>
          <a:bodyPr wrap="square" lIns="0" tIns="0" rIns="0" bIns="0" rtlCol="0" anchor="ctr"/>
          <a:lstStyle/>
          <a:p>
            <a:pPr algn="ctr" indent="0" marL="0">
              <a:buNone/>
            </a:pPr>
            <a:r>
              <a:rPr lang="en-US" sz="1050" b="1" dirty="0">
                <a:solidFill>
                  <a:srgbClr val="0D1B2A"/>
                </a:solidFill>
              </a:rPr>
              <a:t>→ Poids de chaque critère</a:t>
            </a:r>
            <a:endParaRPr lang="en-US" sz="1050" dirty="0"/>
          </a:p>
        </p:txBody>
      </p:sp>
      <p:sp>
        <p:nvSpPr>
          <p:cNvPr id="17" name="Shape 15"/>
          <p:cNvSpPr/>
          <p:nvPr/>
        </p:nvSpPr>
        <p:spPr>
          <a:xfrm>
            <a:off x="3182112" y="1463040"/>
            <a:ext cx="2743200" cy="342900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8" name="Shape 16"/>
          <p:cNvSpPr/>
          <p:nvPr/>
        </p:nvSpPr>
        <p:spPr>
          <a:xfrm>
            <a:off x="3182112" y="1463040"/>
            <a:ext cx="2743200" cy="54864"/>
          </a:xfrm>
          <a:prstGeom prst="rect">
            <a:avLst/>
          </a:prstGeom>
          <a:solidFill>
            <a:srgbClr val="3498DB"/>
          </a:solidFill>
          <a:ln/>
        </p:spPr>
      </p:sp>
      <p:sp>
        <p:nvSpPr>
          <p:cNvPr id="19" name="Text 17"/>
          <p:cNvSpPr/>
          <p:nvPr/>
        </p:nvSpPr>
        <p:spPr>
          <a:xfrm>
            <a:off x="3182112" y="1554480"/>
            <a:ext cx="2743200" cy="640080"/>
          </a:xfrm>
          <a:prstGeom prst="rect">
            <a:avLst/>
          </a:prstGeom>
          <a:noFill/>
          <a:ln/>
        </p:spPr>
        <p:txBody>
          <a:bodyPr wrap="square" lIns="0" tIns="0" rIns="0" bIns="0" rtlCol="0" anchor="ctr"/>
          <a:lstStyle/>
          <a:p>
            <a:pPr algn="ctr" indent="0" marL="0">
              <a:buNone/>
            </a:pPr>
            <a:r>
              <a:rPr lang="en-US" sz="3200" b="1" dirty="0">
                <a:solidFill>
                  <a:srgbClr val="3498DB"/>
                </a:solidFill>
                <a:latin typeface="Arial Black" pitchFamily="34" charset="0"/>
                <a:ea typeface="Arial Black" pitchFamily="34" charset="-122"/>
                <a:cs typeface="Arial Black" pitchFamily="34" charset="-120"/>
              </a:rPr>
              <a:t>TOPSIS</a:t>
            </a:r>
            <a:endParaRPr lang="en-US" sz="3200" dirty="0"/>
          </a:p>
        </p:txBody>
      </p:sp>
      <p:sp>
        <p:nvSpPr>
          <p:cNvPr id="20" name="Text 18"/>
          <p:cNvSpPr/>
          <p:nvPr/>
        </p:nvSpPr>
        <p:spPr>
          <a:xfrm>
            <a:off x="3182112" y="2176272"/>
            <a:ext cx="2743200" cy="274320"/>
          </a:xfrm>
          <a:prstGeom prst="rect">
            <a:avLst/>
          </a:prstGeom>
          <a:noFill/>
          <a:ln/>
        </p:spPr>
        <p:txBody>
          <a:bodyPr wrap="square" lIns="0" tIns="0" rIns="0" bIns="0" rtlCol="0" anchor="ctr"/>
          <a:lstStyle/>
          <a:p>
            <a:pPr algn="ctr" indent="0" marL="0">
              <a:buNone/>
            </a:pPr>
            <a:r>
              <a:rPr lang="en-US" sz="1000" i="1" dirty="0">
                <a:solidFill>
                  <a:srgbClr val="7A95A8"/>
                </a:solidFill>
              </a:rPr>
              <a:t>Classement par distance idéale</a:t>
            </a:r>
            <a:endParaRPr lang="en-US" sz="1000" dirty="0"/>
          </a:p>
        </p:txBody>
      </p:sp>
      <p:sp>
        <p:nvSpPr>
          <p:cNvPr id="21" name="Text 19"/>
          <p:cNvSpPr/>
          <p:nvPr/>
        </p:nvSpPr>
        <p:spPr>
          <a:xfrm>
            <a:off x="3182112" y="2450592"/>
            <a:ext cx="2743200" cy="594360"/>
          </a:xfrm>
          <a:prstGeom prst="rect">
            <a:avLst/>
          </a:prstGeom>
          <a:noFill/>
          <a:ln/>
        </p:spPr>
        <p:txBody>
          <a:bodyPr wrap="square" lIns="0" tIns="0" rIns="0" bIns="0" rtlCol="0" anchor="ctr"/>
          <a:lstStyle/>
          <a:p>
            <a:pPr algn="ctr" indent="0" marL="0">
              <a:buNone/>
            </a:pPr>
            <a:r>
              <a:rPr lang="en-US" sz="1500" b="1" dirty="0">
                <a:solidFill>
                  <a:srgbClr val="FFFFFF"/>
                </a:solidFill>
              </a:rPr>
              <a:t>Qui</a:t>
            </a:r>
            <a:endParaRPr lang="en-US" sz="1500" dirty="0"/>
          </a:p>
          <a:p>
            <a:pPr algn="ctr" indent="0" marL="0">
              <a:buNone/>
            </a:pPr>
            <a:r>
              <a:rPr lang="en-US" sz="1500" b="1" dirty="0">
                <a:solidFill>
                  <a:srgbClr val="FFFFFF"/>
                </a:solidFill>
              </a:rPr>
              <a:t>aider d'abord ?</a:t>
            </a:r>
            <a:endParaRPr lang="en-US" sz="1500" dirty="0"/>
          </a:p>
        </p:txBody>
      </p:sp>
      <p:sp>
        <p:nvSpPr>
          <p:cNvPr id="22" name="Text 20"/>
          <p:cNvSpPr/>
          <p:nvPr/>
        </p:nvSpPr>
        <p:spPr>
          <a:xfrm>
            <a:off x="3319272" y="3090672"/>
            <a:ext cx="2468880" cy="25603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7A95A8"/>
                </a:solidFill>
              </a:rPr>
              <a:t>Chaque douar reçoit un score</a:t>
            </a:r>
            <a:endParaRPr lang="en-US" sz="1150" dirty="0"/>
          </a:p>
        </p:txBody>
      </p:sp>
      <p:sp>
        <p:nvSpPr>
          <p:cNvPr id="23" name="Text 21"/>
          <p:cNvSpPr/>
          <p:nvPr/>
        </p:nvSpPr>
        <p:spPr>
          <a:xfrm>
            <a:off x="3319272" y="3346704"/>
            <a:ext cx="2468880" cy="25603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7A95A8"/>
                </a:solidFill>
              </a:rPr>
              <a:t>Comparé à la solution idéale</a:t>
            </a:r>
            <a:endParaRPr lang="en-US" sz="1150" dirty="0"/>
          </a:p>
        </p:txBody>
      </p:sp>
      <p:sp>
        <p:nvSpPr>
          <p:cNvPr id="24" name="Text 22"/>
          <p:cNvSpPr/>
          <p:nvPr/>
        </p:nvSpPr>
        <p:spPr>
          <a:xfrm>
            <a:off x="3319272" y="3602736"/>
            <a:ext cx="2468880" cy="25603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7A95A8"/>
                </a:solidFill>
              </a:rPr>
              <a:t>Classement objectif et traçable</a:t>
            </a:r>
            <a:endParaRPr lang="en-US" sz="1150" dirty="0"/>
          </a:p>
        </p:txBody>
      </p:sp>
      <p:sp>
        <p:nvSpPr>
          <p:cNvPr id="25" name="Text 23"/>
          <p:cNvSpPr/>
          <p:nvPr/>
        </p:nvSpPr>
        <p:spPr>
          <a:xfrm>
            <a:off x="3319272" y="3858768"/>
            <a:ext cx="2468880" cy="25603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7A95A8"/>
                </a:solidFill>
              </a:rPr>
              <a:t>Résultat en millisecondes</a:t>
            </a:r>
            <a:endParaRPr lang="en-US" sz="1150" dirty="0"/>
          </a:p>
        </p:txBody>
      </p:sp>
      <p:sp>
        <p:nvSpPr>
          <p:cNvPr id="26" name="Shape 24"/>
          <p:cNvSpPr/>
          <p:nvPr/>
        </p:nvSpPr>
        <p:spPr>
          <a:xfrm>
            <a:off x="3182112" y="4663440"/>
            <a:ext cx="2743200" cy="228600"/>
          </a:xfrm>
          <a:prstGeom prst="rect">
            <a:avLst/>
          </a:prstGeom>
          <a:solidFill>
            <a:srgbClr val="3498DB"/>
          </a:solidFill>
          <a:ln/>
        </p:spPr>
      </p:sp>
      <p:sp>
        <p:nvSpPr>
          <p:cNvPr id="27" name="Text 25"/>
          <p:cNvSpPr/>
          <p:nvPr/>
        </p:nvSpPr>
        <p:spPr>
          <a:xfrm>
            <a:off x="3182112" y="4663440"/>
            <a:ext cx="2743200" cy="228600"/>
          </a:xfrm>
          <a:prstGeom prst="rect">
            <a:avLst/>
          </a:prstGeom>
          <a:noFill/>
          <a:ln/>
        </p:spPr>
        <p:txBody>
          <a:bodyPr wrap="square" lIns="0" tIns="0" rIns="0" bIns="0" rtlCol="0" anchor="ctr"/>
          <a:lstStyle/>
          <a:p>
            <a:pPr algn="ctr" indent="0" marL="0">
              <a:buNone/>
            </a:pPr>
            <a:r>
              <a:rPr lang="en-US" sz="1050" b="1" dirty="0">
                <a:solidFill>
                  <a:srgbClr val="0D1B2A"/>
                </a:solidFill>
              </a:rPr>
              <a:t>→ Liste priorisée des douars</a:t>
            </a:r>
            <a:endParaRPr lang="en-US" sz="1050" dirty="0"/>
          </a:p>
        </p:txBody>
      </p:sp>
      <p:sp>
        <p:nvSpPr>
          <p:cNvPr id="28" name="Shape 26"/>
          <p:cNvSpPr/>
          <p:nvPr/>
        </p:nvSpPr>
        <p:spPr>
          <a:xfrm>
            <a:off x="6163056" y="1463040"/>
            <a:ext cx="2743200" cy="342900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29" name="Shape 27"/>
          <p:cNvSpPr/>
          <p:nvPr/>
        </p:nvSpPr>
        <p:spPr>
          <a:xfrm>
            <a:off x="6163056" y="1463040"/>
            <a:ext cx="2743200" cy="54864"/>
          </a:xfrm>
          <a:prstGeom prst="rect">
            <a:avLst/>
          </a:prstGeom>
          <a:solidFill>
            <a:srgbClr val="27AE60"/>
          </a:solidFill>
          <a:ln/>
        </p:spPr>
      </p:sp>
      <p:sp>
        <p:nvSpPr>
          <p:cNvPr id="30" name="Text 28"/>
          <p:cNvSpPr/>
          <p:nvPr/>
        </p:nvSpPr>
        <p:spPr>
          <a:xfrm>
            <a:off x="6163056" y="1554480"/>
            <a:ext cx="2743200" cy="640080"/>
          </a:xfrm>
          <a:prstGeom prst="rect">
            <a:avLst/>
          </a:prstGeom>
          <a:noFill/>
          <a:ln/>
        </p:spPr>
        <p:txBody>
          <a:bodyPr wrap="square" lIns="0" tIns="0" rIns="0" bIns="0" rtlCol="0" anchor="ctr"/>
          <a:lstStyle/>
          <a:p>
            <a:pPr algn="ctr" indent="0" marL="0">
              <a:buNone/>
            </a:pPr>
            <a:r>
              <a:rPr lang="en-US" sz="3200" b="1" dirty="0">
                <a:solidFill>
                  <a:srgbClr val="27AE60"/>
                </a:solidFill>
                <a:latin typeface="Arial Black" pitchFamily="34" charset="0"/>
                <a:ea typeface="Arial Black" pitchFamily="34" charset="-122"/>
                <a:cs typeface="Arial Black" pitchFamily="34" charset="-120"/>
              </a:rPr>
              <a:t>VRP</a:t>
            </a:r>
            <a:endParaRPr lang="en-US" sz="3200" dirty="0"/>
          </a:p>
        </p:txBody>
      </p:sp>
      <p:sp>
        <p:nvSpPr>
          <p:cNvPr id="31" name="Text 29"/>
          <p:cNvSpPr/>
          <p:nvPr/>
        </p:nvSpPr>
        <p:spPr>
          <a:xfrm>
            <a:off x="6163056" y="2176272"/>
            <a:ext cx="2743200" cy="274320"/>
          </a:xfrm>
          <a:prstGeom prst="rect">
            <a:avLst/>
          </a:prstGeom>
          <a:noFill/>
          <a:ln/>
        </p:spPr>
        <p:txBody>
          <a:bodyPr wrap="square" lIns="0" tIns="0" rIns="0" bIns="0" rtlCol="0" anchor="ctr"/>
          <a:lstStyle/>
          <a:p>
            <a:pPr algn="ctr" indent="0" marL="0">
              <a:buNone/>
            </a:pPr>
            <a:r>
              <a:rPr lang="en-US" sz="1000" i="1" dirty="0">
                <a:solidFill>
                  <a:srgbClr val="7A95A8"/>
                </a:solidFill>
              </a:rPr>
              <a:t>Optimisation des tournées</a:t>
            </a:r>
            <a:endParaRPr lang="en-US" sz="1000" dirty="0"/>
          </a:p>
        </p:txBody>
      </p:sp>
      <p:sp>
        <p:nvSpPr>
          <p:cNvPr id="32" name="Text 30"/>
          <p:cNvSpPr/>
          <p:nvPr/>
        </p:nvSpPr>
        <p:spPr>
          <a:xfrm>
            <a:off x="6163056" y="2450592"/>
            <a:ext cx="2743200" cy="594360"/>
          </a:xfrm>
          <a:prstGeom prst="rect">
            <a:avLst/>
          </a:prstGeom>
          <a:noFill/>
          <a:ln/>
        </p:spPr>
        <p:txBody>
          <a:bodyPr wrap="square" lIns="0" tIns="0" rIns="0" bIns="0" rtlCol="0" anchor="ctr"/>
          <a:lstStyle/>
          <a:p>
            <a:pPr algn="ctr" indent="0" marL="0">
              <a:buNone/>
            </a:pPr>
            <a:r>
              <a:rPr lang="en-US" sz="1500" b="1" dirty="0">
                <a:solidFill>
                  <a:srgbClr val="FFFFFF"/>
                </a:solidFill>
              </a:rPr>
              <a:t>Comment</a:t>
            </a:r>
            <a:endParaRPr lang="en-US" sz="1500" dirty="0"/>
          </a:p>
          <a:p>
            <a:pPr algn="ctr" indent="0" marL="0">
              <a:buNone/>
            </a:pPr>
            <a:r>
              <a:rPr lang="en-US" sz="1500" b="1" dirty="0">
                <a:solidFill>
                  <a:srgbClr val="FFFFFF"/>
                </a:solidFill>
              </a:rPr>
              <a:t>livrer ?</a:t>
            </a:r>
            <a:endParaRPr lang="en-US" sz="1500" dirty="0"/>
          </a:p>
        </p:txBody>
      </p:sp>
      <p:sp>
        <p:nvSpPr>
          <p:cNvPr id="33" name="Text 31"/>
          <p:cNvSpPr/>
          <p:nvPr/>
        </p:nvSpPr>
        <p:spPr>
          <a:xfrm>
            <a:off x="6300216" y="3090672"/>
            <a:ext cx="2468880" cy="25603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7A95A8"/>
                </a:solidFill>
              </a:rPr>
              <a:t>Capacité des véhicules</a:t>
            </a:r>
            <a:endParaRPr lang="en-US" sz="1150" dirty="0"/>
          </a:p>
        </p:txBody>
      </p:sp>
      <p:sp>
        <p:nvSpPr>
          <p:cNvPr id="34" name="Text 32"/>
          <p:cNvSpPr/>
          <p:nvPr/>
        </p:nvSpPr>
        <p:spPr>
          <a:xfrm>
            <a:off x="6300216" y="3346704"/>
            <a:ext cx="2468880" cy="25603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7A95A8"/>
                </a:solidFill>
              </a:rPr>
              <a:t>Priorités établies par TOPSIS</a:t>
            </a:r>
            <a:endParaRPr lang="en-US" sz="1150" dirty="0"/>
          </a:p>
        </p:txBody>
      </p:sp>
      <p:sp>
        <p:nvSpPr>
          <p:cNvPr id="35" name="Text 33"/>
          <p:cNvSpPr/>
          <p:nvPr/>
        </p:nvSpPr>
        <p:spPr>
          <a:xfrm>
            <a:off x="6300216" y="3602736"/>
            <a:ext cx="2468880" cy="25603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7A95A8"/>
                </a:solidFill>
              </a:rPr>
              <a:t>Contraintes géographiques</a:t>
            </a:r>
            <a:endParaRPr lang="en-US" sz="1150" dirty="0"/>
          </a:p>
        </p:txBody>
      </p:sp>
      <p:sp>
        <p:nvSpPr>
          <p:cNvPr id="36" name="Text 34"/>
          <p:cNvSpPr/>
          <p:nvPr/>
        </p:nvSpPr>
        <p:spPr>
          <a:xfrm>
            <a:off x="6300216" y="3858768"/>
            <a:ext cx="2468880" cy="25603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7A95A8"/>
                </a:solidFill>
              </a:rPr>
              <a:t>Minimisation des distances</a:t>
            </a:r>
            <a:endParaRPr lang="en-US" sz="1150" dirty="0"/>
          </a:p>
        </p:txBody>
      </p:sp>
      <p:sp>
        <p:nvSpPr>
          <p:cNvPr id="37" name="Shape 35"/>
          <p:cNvSpPr/>
          <p:nvPr/>
        </p:nvSpPr>
        <p:spPr>
          <a:xfrm>
            <a:off x="6163056" y="4663440"/>
            <a:ext cx="2743200" cy="228600"/>
          </a:xfrm>
          <a:prstGeom prst="rect">
            <a:avLst/>
          </a:prstGeom>
          <a:solidFill>
            <a:srgbClr val="27AE60"/>
          </a:solidFill>
          <a:ln/>
        </p:spPr>
      </p:sp>
      <p:sp>
        <p:nvSpPr>
          <p:cNvPr id="38" name="Text 36"/>
          <p:cNvSpPr/>
          <p:nvPr/>
        </p:nvSpPr>
        <p:spPr>
          <a:xfrm>
            <a:off x="6163056" y="4663440"/>
            <a:ext cx="2743200" cy="228600"/>
          </a:xfrm>
          <a:prstGeom prst="rect">
            <a:avLst/>
          </a:prstGeom>
          <a:noFill/>
          <a:ln/>
        </p:spPr>
        <p:txBody>
          <a:bodyPr wrap="square" lIns="0" tIns="0" rIns="0" bIns="0" rtlCol="0" anchor="ctr"/>
          <a:lstStyle/>
          <a:p>
            <a:pPr algn="ctr" indent="0" marL="0">
              <a:buNone/>
            </a:pPr>
            <a:r>
              <a:rPr lang="en-US" sz="1050" b="1" dirty="0">
                <a:solidFill>
                  <a:srgbClr val="0D1B2A"/>
                </a:solidFill>
              </a:rPr>
              <a:t>→ Tournées optimisées assignées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D4A843"/>
          </a:solidFill>
          <a:ln/>
        </p:spPr>
      </p:sp>
      <p:pic>
        <p:nvPicPr>
          <p:cNvPr id="3" name="Image 0" descr="preencoded.png">    </p:cNvPr>
          <p:cNvPicPr>
            <a:picLocks noChangeAspect="1"/>
          </p:cNvPicPr>
          <p:nvPr/>
        </p:nvPicPr>
        <p:blipFill>
          <a:blip r:embed="rId1">
            <a:alphaModFix amt="20000"/>
          </a:blip>
          <a:stretch>
            <a:fillRect/>
          </a:stretch>
        </p:blipFill>
        <p:spPr>
          <a:xfrm>
            <a:off x="5943600" y="457200"/>
            <a:ext cx="2926080" cy="2926080"/>
          </a:xfrm>
          <a:prstGeom prst="rect">
            <a:avLst/>
          </a:prstGeom>
        </p:spPr>
      </p:pic>
      <p:sp>
        <p:nvSpPr>
          <p:cNvPr id="4" name="Shape 1"/>
          <p:cNvSpPr/>
          <p:nvPr/>
        </p:nvSpPr>
        <p:spPr>
          <a:xfrm>
            <a:off x="457200" y="164592"/>
            <a:ext cx="1243584"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5" name="Text 2"/>
          <p:cNvSpPr/>
          <p:nvPr/>
        </p:nvSpPr>
        <p:spPr>
          <a:xfrm>
            <a:off x="457200" y="164592"/>
            <a:ext cx="1243584" cy="256032"/>
          </a:xfrm>
          <a:prstGeom prst="rect">
            <a:avLst/>
          </a:prstGeom>
          <a:noFill/>
          <a:ln/>
        </p:spPr>
        <p:txBody>
          <a:bodyPr wrap="square" lIns="0" tIns="0" rIns="0" bIns="0" rtlCol="0" anchor="ctr"/>
          <a:lstStyle/>
          <a:p>
            <a:pPr algn="ctr" indent="0" marL="0">
              <a:buNone/>
            </a:pPr>
            <a:r>
              <a:rPr lang="en-US" sz="900" b="1" dirty="0">
                <a:solidFill>
                  <a:srgbClr val="0D1B2A"/>
                </a:solidFill>
              </a:rPr>
              <a:t>SÉCURITÉ</a:t>
            </a:r>
            <a:endParaRPr lang="en-US" sz="900" dirty="0"/>
          </a:p>
        </p:txBody>
      </p:sp>
      <p:sp>
        <p:nvSpPr>
          <p:cNvPr id="6" name="Text 3"/>
          <p:cNvSpPr/>
          <p:nvPr/>
        </p:nvSpPr>
        <p:spPr>
          <a:xfrm>
            <a:off x="182880" y="438912"/>
            <a:ext cx="5486400" cy="960120"/>
          </a:xfrm>
          <a:prstGeom prst="rect">
            <a:avLst/>
          </a:prstGeom>
          <a:noFill/>
          <a:ln/>
        </p:spPr>
        <p:txBody>
          <a:bodyPr wrap="square" lIns="0" tIns="0" rIns="0" bIns="0" rtlCol="0" anchor="ctr"/>
          <a:lstStyle/>
          <a:p>
            <a:pPr algn="l" indent="0" marL="0">
              <a:buNone/>
            </a:pPr>
            <a:r>
              <a:rPr lang="en-US" sz="3800" b="1" dirty="0">
                <a:solidFill>
                  <a:srgbClr val="D4A843"/>
                </a:solidFill>
                <a:latin typeface="Arial Black" pitchFamily="34" charset="0"/>
                <a:ea typeface="Arial Black" pitchFamily="34" charset="-122"/>
                <a:cs typeface="Arial Black" pitchFamily="34" charset="-120"/>
              </a:rPr>
              <a:t>Confiance &amp;</a:t>
            </a:r>
            <a:endParaRPr lang="en-US" sz="3800" dirty="0"/>
          </a:p>
          <a:p>
            <a:pPr algn="l" indent="0" marL="0">
              <a:buNone/>
            </a:pPr>
            <a:r>
              <a:rPr lang="en-US" sz="3800" b="1" dirty="0">
                <a:solidFill>
                  <a:srgbClr val="D4A843"/>
                </a:solidFill>
                <a:latin typeface="Arial Black" pitchFamily="34" charset="0"/>
                <a:ea typeface="Arial Black" pitchFamily="34" charset="-122"/>
                <a:cs typeface="Arial Black" pitchFamily="34" charset="-120"/>
              </a:rPr>
              <a:t>Intégrité totale</a:t>
            </a:r>
            <a:endParaRPr lang="en-US" sz="3800" dirty="0"/>
          </a:p>
        </p:txBody>
      </p:sp>
      <p:sp>
        <p:nvSpPr>
          <p:cNvPr id="7" name="Shape 4"/>
          <p:cNvSpPr/>
          <p:nvPr/>
        </p:nvSpPr>
        <p:spPr>
          <a:xfrm>
            <a:off x="201168" y="1600200"/>
            <a:ext cx="4114800" cy="141732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8" name="Shape 5"/>
          <p:cNvSpPr/>
          <p:nvPr/>
        </p:nvSpPr>
        <p:spPr>
          <a:xfrm>
            <a:off x="201168" y="1600200"/>
            <a:ext cx="54864" cy="1417320"/>
          </a:xfrm>
          <a:prstGeom prst="rect">
            <a:avLst/>
          </a:prstGeom>
          <a:solidFill>
            <a:srgbClr val="D4A843"/>
          </a:solidFill>
          <a:ln/>
        </p:spPr>
      </p:sp>
      <p:pic>
        <p:nvPicPr>
          <p:cNvPr id="9" name="Image 1" descr="preencoded.png">    </p:cNvPr>
          <p:cNvPicPr>
            <a:picLocks noChangeAspect="1"/>
          </p:cNvPicPr>
          <p:nvPr/>
        </p:nvPicPr>
        <p:blipFill>
          <a:blip r:embed="rId2"/>
          <a:stretch>
            <a:fillRect/>
          </a:stretch>
        </p:blipFill>
        <p:spPr>
          <a:xfrm>
            <a:off x="338328" y="2039112"/>
            <a:ext cx="548640" cy="548640"/>
          </a:xfrm>
          <a:prstGeom prst="rect">
            <a:avLst/>
          </a:prstGeom>
        </p:spPr>
      </p:pic>
      <p:sp>
        <p:nvSpPr>
          <p:cNvPr id="10" name="Text 6"/>
          <p:cNvSpPr/>
          <p:nvPr/>
        </p:nvSpPr>
        <p:spPr>
          <a:xfrm>
            <a:off x="978408" y="1709928"/>
            <a:ext cx="3200400" cy="457200"/>
          </a:xfrm>
          <a:prstGeom prst="rect">
            <a:avLst/>
          </a:prstGeom>
          <a:noFill/>
          <a:ln/>
        </p:spPr>
        <p:txBody>
          <a:bodyPr wrap="square" lIns="0" tIns="0" rIns="0" bIns="0" rtlCol="0" anchor="ctr"/>
          <a:lstStyle/>
          <a:p>
            <a:pPr algn="l" indent="0" marL="0">
              <a:buNone/>
            </a:pPr>
            <a:r>
              <a:rPr lang="en-US" sz="1500" b="1" dirty="0">
                <a:solidFill>
                  <a:srgbClr val="FFFFFF"/>
                </a:solidFill>
              </a:rPr>
              <a:t>Authentification forte</a:t>
            </a:r>
            <a:endParaRPr lang="en-US" sz="1500" dirty="0"/>
          </a:p>
        </p:txBody>
      </p:sp>
      <p:sp>
        <p:nvSpPr>
          <p:cNvPr id="11" name="Text 7"/>
          <p:cNvSpPr/>
          <p:nvPr/>
        </p:nvSpPr>
        <p:spPr>
          <a:xfrm>
            <a:off x="978408" y="2167128"/>
            <a:ext cx="3200400" cy="640080"/>
          </a:xfrm>
          <a:prstGeom prst="rect">
            <a:avLst/>
          </a:prstGeom>
          <a:noFill/>
          <a:ln/>
        </p:spPr>
        <p:txBody>
          <a:bodyPr wrap="square" lIns="0" tIns="0" rIns="0" bIns="0" rtlCol="0" anchor="t"/>
          <a:lstStyle/>
          <a:p>
            <a:pPr algn="l" indent="0" marL="0">
              <a:buNone/>
            </a:pPr>
            <a:r>
              <a:rPr lang="en-US" sz="1200" dirty="0">
                <a:solidFill>
                  <a:srgbClr val="7A95A8"/>
                </a:solidFill>
              </a:rPr>
              <a:t>Email + mot de passe</a:t>
            </a:r>
            <a:endParaRPr lang="en-US" sz="1200" dirty="0"/>
          </a:p>
          <a:p>
            <a:pPr algn="l" indent="0" marL="0">
              <a:buNone/>
            </a:pPr>
            <a:r>
              <a:rPr lang="en-US" sz="1200" dirty="0">
                <a:solidFill>
                  <a:srgbClr val="7A95A8"/>
                </a:solidFill>
              </a:rPr>
              <a:t>crypté / Biométrie mobile</a:t>
            </a:r>
            <a:endParaRPr lang="en-US" sz="1200" dirty="0"/>
          </a:p>
        </p:txBody>
      </p:sp>
      <p:sp>
        <p:nvSpPr>
          <p:cNvPr id="12" name="Shape 8"/>
          <p:cNvSpPr/>
          <p:nvPr/>
        </p:nvSpPr>
        <p:spPr>
          <a:xfrm>
            <a:off x="4590288" y="1600200"/>
            <a:ext cx="4114800" cy="141732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3" name="Shape 9"/>
          <p:cNvSpPr/>
          <p:nvPr/>
        </p:nvSpPr>
        <p:spPr>
          <a:xfrm>
            <a:off x="4590288" y="1600200"/>
            <a:ext cx="54864" cy="1417320"/>
          </a:xfrm>
          <a:prstGeom prst="rect">
            <a:avLst/>
          </a:prstGeom>
          <a:solidFill>
            <a:srgbClr val="3498DB"/>
          </a:solidFill>
          <a:ln/>
        </p:spPr>
      </p:sp>
      <p:pic>
        <p:nvPicPr>
          <p:cNvPr id="14" name="Image 2" descr="preencoded.png">    </p:cNvPr>
          <p:cNvPicPr>
            <a:picLocks noChangeAspect="1"/>
          </p:cNvPicPr>
          <p:nvPr/>
        </p:nvPicPr>
        <p:blipFill>
          <a:blip r:embed="rId3"/>
          <a:stretch>
            <a:fillRect/>
          </a:stretch>
        </p:blipFill>
        <p:spPr>
          <a:xfrm>
            <a:off x="4727448" y="2039112"/>
            <a:ext cx="548640" cy="548640"/>
          </a:xfrm>
          <a:prstGeom prst="rect">
            <a:avLst/>
          </a:prstGeom>
        </p:spPr>
      </p:pic>
      <p:sp>
        <p:nvSpPr>
          <p:cNvPr id="15" name="Text 10"/>
          <p:cNvSpPr/>
          <p:nvPr/>
        </p:nvSpPr>
        <p:spPr>
          <a:xfrm>
            <a:off x="5367528" y="1709928"/>
            <a:ext cx="3200400" cy="457200"/>
          </a:xfrm>
          <a:prstGeom prst="rect">
            <a:avLst/>
          </a:prstGeom>
          <a:noFill/>
          <a:ln/>
        </p:spPr>
        <p:txBody>
          <a:bodyPr wrap="square" lIns="0" tIns="0" rIns="0" bIns="0" rtlCol="0" anchor="ctr"/>
          <a:lstStyle/>
          <a:p>
            <a:pPr algn="l" indent="0" marL="0">
              <a:buNone/>
            </a:pPr>
            <a:r>
              <a:rPr lang="en-US" sz="1500" b="1" dirty="0">
                <a:solidFill>
                  <a:srgbClr val="FFFFFF"/>
                </a:solidFill>
              </a:rPr>
              <a:t>AES-256 + HSM</a:t>
            </a:r>
            <a:endParaRPr lang="en-US" sz="1500" dirty="0"/>
          </a:p>
        </p:txBody>
      </p:sp>
      <p:sp>
        <p:nvSpPr>
          <p:cNvPr id="16" name="Text 11"/>
          <p:cNvSpPr/>
          <p:nvPr/>
        </p:nvSpPr>
        <p:spPr>
          <a:xfrm>
            <a:off x="5367528" y="2167128"/>
            <a:ext cx="3200400" cy="640080"/>
          </a:xfrm>
          <a:prstGeom prst="rect">
            <a:avLst/>
          </a:prstGeom>
          <a:noFill/>
          <a:ln/>
        </p:spPr>
        <p:txBody>
          <a:bodyPr wrap="square" lIns="0" tIns="0" rIns="0" bIns="0" rtlCol="0" anchor="t"/>
          <a:lstStyle/>
          <a:p>
            <a:pPr algn="l" indent="0" marL="0">
              <a:buNone/>
            </a:pPr>
            <a:r>
              <a:rPr lang="en-US" sz="1200" dirty="0">
                <a:solidFill>
                  <a:srgbClr val="7A95A8"/>
                </a:solidFill>
              </a:rPr>
              <a:t>Base de données chiffrée</a:t>
            </a:r>
            <a:endParaRPr lang="en-US" sz="1200" dirty="0"/>
          </a:p>
          <a:p>
            <a:pPr algn="l" indent="0" marL="0">
              <a:buNone/>
            </a:pPr>
            <a:r>
              <a:rPr lang="en-US" sz="1200" dirty="0">
                <a:solidFill>
                  <a:srgbClr val="7A95A8"/>
                </a:solidFill>
              </a:rPr>
              <a:t>Clés gérées par module matériel</a:t>
            </a:r>
            <a:endParaRPr lang="en-US" sz="1200" dirty="0"/>
          </a:p>
        </p:txBody>
      </p:sp>
      <p:sp>
        <p:nvSpPr>
          <p:cNvPr id="17" name="Shape 12"/>
          <p:cNvSpPr/>
          <p:nvPr/>
        </p:nvSpPr>
        <p:spPr>
          <a:xfrm>
            <a:off x="201168" y="3246120"/>
            <a:ext cx="4114800" cy="141732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8" name="Shape 13"/>
          <p:cNvSpPr/>
          <p:nvPr/>
        </p:nvSpPr>
        <p:spPr>
          <a:xfrm>
            <a:off x="201168" y="3246120"/>
            <a:ext cx="54864" cy="1417320"/>
          </a:xfrm>
          <a:prstGeom prst="rect">
            <a:avLst/>
          </a:prstGeom>
          <a:solidFill>
            <a:srgbClr val="27AE60"/>
          </a:solidFill>
          <a:ln/>
        </p:spPr>
      </p:sp>
      <p:pic>
        <p:nvPicPr>
          <p:cNvPr id="19" name="Image 3" descr="preencoded.png">    </p:cNvPr>
          <p:cNvPicPr>
            <a:picLocks noChangeAspect="1"/>
          </p:cNvPicPr>
          <p:nvPr/>
        </p:nvPicPr>
        <p:blipFill>
          <a:blip r:embed="rId4"/>
          <a:stretch>
            <a:fillRect/>
          </a:stretch>
        </p:blipFill>
        <p:spPr>
          <a:xfrm>
            <a:off x="338328" y="3685032"/>
            <a:ext cx="548640" cy="548640"/>
          </a:xfrm>
          <a:prstGeom prst="rect">
            <a:avLst/>
          </a:prstGeom>
        </p:spPr>
      </p:pic>
      <p:sp>
        <p:nvSpPr>
          <p:cNvPr id="20" name="Text 14"/>
          <p:cNvSpPr/>
          <p:nvPr/>
        </p:nvSpPr>
        <p:spPr>
          <a:xfrm>
            <a:off x="978408" y="3355848"/>
            <a:ext cx="3200400" cy="457200"/>
          </a:xfrm>
          <a:prstGeom prst="rect">
            <a:avLst/>
          </a:prstGeom>
          <a:noFill/>
          <a:ln/>
        </p:spPr>
        <p:txBody>
          <a:bodyPr wrap="square" lIns="0" tIns="0" rIns="0" bIns="0" rtlCol="0" anchor="ctr"/>
          <a:lstStyle/>
          <a:p>
            <a:pPr algn="l" indent="0" marL="0">
              <a:buNone/>
            </a:pPr>
            <a:r>
              <a:rPr lang="en-US" sz="1500" b="1" dirty="0">
                <a:solidFill>
                  <a:srgbClr val="FFFFFF"/>
                </a:solidFill>
              </a:rPr>
              <a:t>TLS sur chaque échange</a:t>
            </a:r>
            <a:endParaRPr lang="en-US" sz="1500" dirty="0"/>
          </a:p>
        </p:txBody>
      </p:sp>
      <p:sp>
        <p:nvSpPr>
          <p:cNvPr id="21" name="Text 15"/>
          <p:cNvSpPr/>
          <p:nvPr/>
        </p:nvSpPr>
        <p:spPr>
          <a:xfrm>
            <a:off x="978408" y="3813048"/>
            <a:ext cx="3200400" cy="640080"/>
          </a:xfrm>
          <a:prstGeom prst="rect">
            <a:avLst/>
          </a:prstGeom>
          <a:noFill/>
          <a:ln/>
        </p:spPr>
        <p:txBody>
          <a:bodyPr wrap="square" lIns="0" tIns="0" rIns="0" bIns="0" rtlCol="0" anchor="t"/>
          <a:lstStyle/>
          <a:p>
            <a:pPr algn="l" indent="0" marL="0">
              <a:buNone/>
            </a:pPr>
            <a:r>
              <a:rPr lang="en-US" sz="1200" dirty="0">
                <a:solidFill>
                  <a:srgbClr val="7A95A8"/>
                </a:solidFill>
              </a:rPr>
              <a:t>Communications web</a:t>
            </a:r>
            <a:endParaRPr lang="en-US" sz="1200" dirty="0"/>
          </a:p>
          <a:p>
            <a:pPr algn="l" indent="0" marL="0">
              <a:buNone/>
            </a:pPr>
            <a:r>
              <a:rPr lang="en-US" sz="1200" dirty="0">
                <a:solidFill>
                  <a:srgbClr val="7A95A8"/>
                </a:solidFill>
              </a:rPr>
              <a:t>100% chiffrées en transit</a:t>
            </a:r>
            <a:endParaRPr lang="en-US" sz="1200" dirty="0"/>
          </a:p>
        </p:txBody>
      </p:sp>
      <p:sp>
        <p:nvSpPr>
          <p:cNvPr id="22" name="Shape 16"/>
          <p:cNvSpPr/>
          <p:nvPr/>
        </p:nvSpPr>
        <p:spPr>
          <a:xfrm>
            <a:off x="4590288" y="3246120"/>
            <a:ext cx="4114800" cy="141732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23" name="Shape 17"/>
          <p:cNvSpPr/>
          <p:nvPr/>
        </p:nvSpPr>
        <p:spPr>
          <a:xfrm>
            <a:off x="4590288" y="3246120"/>
            <a:ext cx="54864" cy="1417320"/>
          </a:xfrm>
          <a:prstGeom prst="rect">
            <a:avLst/>
          </a:prstGeom>
          <a:solidFill>
            <a:srgbClr val="E74C3C"/>
          </a:solidFill>
          <a:ln/>
        </p:spPr>
      </p:sp>
      <p:pic>
        <p:nvPicPr>
          <p:cNvPr id="24" name="Image 4" descr="preencoded.png">    </p:cNvPr>
          <p:cNvPicPr>
            <a:picLocks noChangeAspect="1"/>
          </p:cNvPicPr>
          <p:nvPr/>
        </p:nvPicPr>
        <p:blipFill>
          <a:blip r:embed="rId5"/>
          <a:stretch>
            <a:fillRect/>
          </a:stretch>
        </p:blipFill>
        <p:spPr>
          <a:xfrm>
            <a:off x="4727448" y="3685032"/>
            <a:ext cx="548640" cy="548640"/>
          </a:xfrm>
          <a:prstGeom prst="rect">
            <a:avLst/>
          </a:prstGeom>
        </p:spPr>
      </p:pic>
      <p:sp>
        <p:nvSpPr>
          <p:cNvPr id="25" name="Text 18"/>
          <p:cNvSpPr/>
          <p:nvPr/>
        </p:nvSpPr>
        <p:spPr>
          <a:xfrm>
            <a:off x="5367528" y="3355848"/>
            <a:ext cx="3200400" cy="457200"/>
          </a:xfrm>
          <a:prstGeom prst="rect">
            <a:avLst/>
          </a:prstGeom>
          <a:noFill/>
          <a:ln/>
        </p:spPr>
        <p:txBody>
          <a:bodyPr wrap="square" lIns="0" tIns="0" rIns="0" bIns="0" rtlCol="0" anchor="ctr"/>
          <a:lstStyle/>
          <a:p>
            <a:pPr algn="l" indent="0" marL="0">
              <a:buNone/>
            </a:pPr>
            <a:r>
              <a:rPr lang="en-US" sz="1500" b="1" dirty="0">
                <a:solidFill>
                  <a:srgbClr val="FFFFFF"/>
                </a:solidFill>
              </a:rPr>
              <a:t>Traçabilité totale</a:t>
            </a:r>
            <a:endParaRPr lang="en-US" sz="1500" dirty="0"/>
          </a:p>
        </p:txBody>
      </p:sp>
      <p:sp>
        <p:nvSpPr>
          <p:cNvPr id="26" name="Text 19"/>
          <p:cNvSpPr/>
          <p:nvPr/>
        </p:nvSpPr>
        <p:spPr>
          <a:xfrm>
            <a:off x="5367528" y="3813048"/>
            <a:ext cx="3200400" cy="640080"/>
          </a:xfrm>
          <a:prstGeom prst="rect">
            <a:avLst/>
          </a:prstGeom>
          <a:noFill/>
          <a:ln/>
        </p:spPr>
        <p:txBody>
          <a:bodyPr wrap="square" lIns="0" tIns="0" rIns="0" bIns="0" rtlCol="0" anchor="t"/>
          <a:lstStyle/>
          <a:p>
            <a:pPr algn="l" indent="0" marL="0">
              <a:buNone/>
            </a:pPr>
            <a:r>
              <a:rPr lang="en-US" sz="1200" dirty="0">
                <a:solidFill>
                  <a:srgbClr val="7A95A8"/>
                </a:solidFill>
              </a:rPr>
              <a:t>Chaque action journalisée</a:t>
            </a:r>
            <a:endParaRPr lang="en-US" sz="1200" dirty="0"/>
          </a:p>
          <a:p>
            <a:pPr algn="l" indent="0" marL="0">
              <a:buNone/>
            </a:pPr>
            <a:r>
              <a:rPr lang="en-US" sz="1200" dirty="0">
                <a:solidFill>
                  <a:srgbClr val="7A95A8"/>
                </a:solidFill>
              </a:rPr>
              <a:t>Audit infalsifiable</a:t>
            </a:r>
            <a:endParaRPr lang="en-US" sz="1200" dirty="0"/>
          </a:p>
        </p:txBody>
      </p:sp>
      <p:sp>
        <p:nvSpPr>
          <p:cNvPr id="27" name="Shape 20"/>
          <p:cNvSpPr/>
          <p:nvPr/>
        </p:nvSpPr>
        <p:spPr>
          <a:xfrm>
            <a:off x="0" y="4773168"/>
            <a:ext cx="9144000" cy="370332"/>
          </a:xfrm>
          <a:prstGeom prst="rect">
            <a:avLst/>
          </a:prstGeom>
          <a:solidFill>
            <a:srgbClr val="A8801A"/>
          </a:solidFill>
          <a:ln/>
        </p:spPr>
      </p:sp>
      <p:sp>
        <p:nvSpPr>
          <p:cNvPr id="28" name="Text 21"/>
          <p:cNvSpPr/>
          <p:nvPr/>
        </p:nvSpPr>
        <p:spPr>
          <a:xfrm>
            <a:off x="0" y="4773168"/>
            <a:ext cx="9144000" cy="370332"/>
          </a:xfrm>
          <a:prstGeom prst="rect">
            <a:avLst/>
          </a:prstGeom>
          <a:noFill/>
          <a:ln/>
        </p:spPr>
        <p:txBody>
          <a:bodyPr wrap="square" lIns="0" tIns="0" rIns="0" bIns="0" rtlCol="0" anchor="ctr"/>
          <a:lstStyle/>
          <a:p>
            <a:pPr algn="ctr" indent="0" marL="0">
              <a:buNone/>
            </a:pPr>
            <a:r>
              <a:rPr lang="en-US" sz="1400" b="1" dirty="0">
                <a:solidFill>
                  <a:srgbClr val="FFFFFF"/>
                </a:solidFill>
              </a:rPr>
              <a:t>Chaque action, chaque transfert, chaque décision — tracée, chiffrée, auditée.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D4A843"/>
          </a:solidFill>
          <a:ln/>
        </p:spPr>
      </p:sp>
      <p:sp>
        <p:nvSpPr>
          <p:cNvPr id="3" name="Text 1"/>
          <p:cNvSpPr/>
          <p:nvPr/>
        </p:nvSpPr>
        <p:spPr>
          <a:xfrm>
            <a:off x="109728" y="91440"/>
            <a:ext cx="8924544"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Architecture Sécurisée de NAJDA</a:t>
            </a:r>
            <a:endParaRPr lang="en-US" sz="2200" dirty="0"/>
          </a:p>
        </p:txBody>
      </p:sp>
      <p:sp>
        <p:nvSpPr>
          <p:cNvPr id="4" name="Shape 2"/>
          <p:cNvSpPr/>
          <p:nvPr/>
        </p:nvSpPr>
        <p:spPr>
          <a:xfrm>
            <a:off x="109728" y="658368"/>
            <a:ext cx="2103120" cy="3840480"/>
          </a:xfrm>
          <a:prstGeom prst="rect">
            <a:avLst/>
          </a:prstGeom>
          <a:solidFill>
            <a:srgbClr val="1A3050"/>
          </a:solidFill>
          <a:ln/>
          <a:effectLst>
            <a:outerShdw sx="100000" sy="100000" kx="0" ky="0" algn="bl" rotWithShape="0" blurRad="127000" dist="50800" dir="8100000">
              <a:srgbClr val="000000">
                <a:alpha val="35000"/>
              </a:srgbClr>
            </a:outerShdw>
          </a:effectLst>
        </p:spPr>
      </p:sp>
      <p:sp>
        <p:nvSpPr>
          <p:cNvPr id="5" name="Shape 3"/>
          <p:cNvSpPr/>
          <p:nvPr/>
        </p:nvSpPr>
        <p:spPr>
          <a:xfrm>
            <a:off x="109728" y="658368"/>
            <a:ext cx="2103120" cy="45720"/>
          </a:xfrm>
          <a:prstGeom prst="rect">
            <a:avLst/>
          </a:prstGeom>
          <a:solidFill>
            <a:srgbClr val="D4A843"/>
          </a:solidFill>
          <a:ln/>
        </p:spPr>
      </p:sp>
      <p:sp>
        <p:nvSpPr>
          <p:cNvPr id="6" name="Text 4"/>
          <p:cNvSpPr/>
          <p:nvPr/>
        </p:nvSpPr>
        <p:spPr>
          <a:xfrm>
            <a:off x="109728" y="722376"/>
            <a:ext cx="2103120" cy="246888"/>
          </a:xfrm>
          <a:prstGeom prst="rect">
            <a:avLst/>
          </a:prstGeom>
          <a:noFill/>
          <a:ln/>
        </p:spPr>
        <p:txBody>
          <a:bodyPr wrap="square" lIns="0" tIns="0" rIns="0" bIns="0" rtlCol="0" anchor="ctr"/>
          <a:lstStyle/>
          <a:p>
            <a:pPr algn="ctr" indent="0" marL="0">
              <a:buNone/>
            </a:pPr>
            <a:r>
              <a:rPr lang="en-US" sz="850" b="1" spc="150" kern="0" dirty="0">
                <a:solidFill>
                  <a:srgbClr val="D4A843"/>
                </a:solidFill>
              </a:rPr>
              <a:t>UTILISATEURS</a:t>
            </a:r>
            <a:endParaRPr lang="en-US" sz="850" dirty="0"/>
          </a:p>
        </p:txBody>
      </p:sp>
      <p:sp>
        <p:nvSpPr>
          <p:cNvPr id="7" name="Shape 5"/>
          <p:cNvSpPr/>
          <p:nvPr/>
        </p:nvSpPr>
        <p:spPr>
          <a:xfrm>
            <a:off x="201168" y="987552"/>
            <a:ext cx="1920240" cy="713232"/>
          </a:xfrm>
          <a:prstGeom prst="rect">
            <a:avLst/>
          </a:prstGeom>
          <a:solidFill>
            <a:srgbClr val="13253D"/>
          </a:solidFill>
          <a:ln/>
        </p:spPr>
      </p:sp>
      <p:sp>
        <p:nvSpPr>
          <p:cNvPr id="8" name="Shape 6"/>
          <p:cNvSpPr/>
          <p:nvPr/>
        </p:nvSpPr>
        <p:spPr>
          <a:xfrm>
            <a:off x="201168" y="987552"/>
            <a:ext cx="45720" cy="713232"/>
          </a:xfrm>
          <a:prstGeom prst="rect">
            <a:avLst/>
          </a:prstGeom>
          <a:solidFill>
            <a:srgbClr val="D4A843"/>
          </a:solidFill>
          <a:ln/>
        </p:spPr>
      </p:sp>
      <p:pic>
        <p:nvPicPr>
          <p:cNvPr id="9" name="Image 0" descr="preencoded.png">    </p:cNvPr>
          <p:cNvPicPr>
            <a:picLocks noChangeAspect="1"/>
          </p:cNvPicPr>
          <p:nvPr/>
        </p:nvPicPr>
        <p:blipFill>
          <a:blip r:embed="rId1"/>
          <a:stretch>
            <a:fillRect/>
          </a:stretch>
        </p:blipFill>
        <p:spPr>
          <a:xfrm>
            <a:off x="310896" y="1161288"/>
            <a:ext cx="347472" cy="347472"/>
          </a:xfrm>
          <a:prstGeom prst="rect">
            <a:avLst/>
          </a:prstGeom>
        </p:spPr>
      </p:pic>
      <p:sp>
        <p:nvSpPr>
          <p:cNvPr id="10" name="Text 7"/>
          <p:cNvSpPr/>
          <p:nvPr/>
        </p:nvSpPr>
        <p:spPr>
          <a:xfrm>
            <a:off x="731520" y="1069848"/>
            <a:ext cx="1353312" cy="274320"/>
          </a:xfrm>
          <a:prstGeom prst="rect">
            <a:avLst/>
          </a:prstGeom>
          <a:noFill/>
          <a:ln/>
        </p:spPr>
        <p:txBody>
          <a:bodyPr wrap="square" lIns="0" tIns="0" rIns="0" bIns="0" rtlCol="0" anchor="ctr"/>
          <a:lstStyle/>
          <a:p>
            <a:pPr algn="l" indent="0" marL="0">
              <a:buNone/>
            </a:pPr>
            <a:r>
              <a:rPr lang="en-US" sz="1050" b="1" dirty="0">
                <a:solidFill>
                  <a:srgbClr val="FFFFFF"/>
                </a:solidFill>
              </a:rPr>
              <a:t>SuperAdmin</a:t>
            </a:r>
            <a:endParaRPr lang="en-US" sz="1050" dirty="0"/>
          </a:p>
        </p:txBody>
      </p:sp>
      <p:sp>
        <p:nvSpPr>
          <p:cNvPr id="11" name="Text 8"/>
          <p:cNvSpPr/>
          <p:nvPr/>
        </p:nvSpPr>
        <p:spPr>
          <a:xfrm>
            <a:off x="731520" y="1362456"/>
            <a:ext cx="1353312" cy="256032"/>
          </a:xfrm>
          <a:prstGeom prst="rect">
            <a:avLst/>
          </a:prstGeom>
          <a:noFill/>
          <a:ln/>
        </p:spPr>
        <p:txBody>
          <a:bodyPr wrap="square" lIns="0" tIns="0" rIns="0" bIns="0" rtlCol="0" anchor="ctr"/>
          <a:lstStyle/>
          <a:p>
            <a:pPr algn="l" indent="0" marL="0">
              <a:buNone/>
            </a:pPr>
            <a:r>
              <a:rPr lang="en-US" sz="900" dirty="0">
                <a:solidFill>
                  <a:srgbClr val="7A95A8"/>
                </a:solidFill>
              </a:rPr>
              <a:t>Interface Web</a:t>
            </a:r>
            <a:endParaRPr lang="en-US" sz="900" dirty="0"/>
          </a:p>
        </p:txBody>
      </p:sp>
      <p:sp>
        <p:nvSpPr>
          <p:cNvPr id="12" name="Shape 9"/>
          <p:cNvSpPr/>
          <p:nvPr/>
        </p:nvSpPr>
        <p:spPr>
          <a:xfrm>
            <a:off x="201168" y="1773936"/>
            <a:ext cx="1920240" cy="713232"/>
          </a:xfrm>
          <a:prstGeom prst="rect">
            <a:avLst/>
          </a:prstGeom>
          <a:solidFill>
            <a:srgbClr val="13253D"/>
          </a:solidFill>
          <a:ln/>
        </p:spPr>
      </p:sp>
      <p:sp>
        <p:nvSpPr>
          <p:cNvPr id="13" name="Shape 10"/>
          <p:cNvSpPr/>
          <p:nvPr/>
        </p:nvSpPr>
        <p:spPr>
          <a:xfrm>
            <a:off x="201168" y="1773936"/>
            <a:ext cx="45720" cy="713232"/>
          </a:xfrm>
          <a:prstGeom prst="rect">
            <a:avLst/>
          </a:prstGeom>
          <a:solidFill>
            <a:srgbClr val="3498DB"/>
          </a:solidFill>
          <a:ln/>
        </p:spPr>
      </p:sp>
      <p:pic>
        <p:nvPicPr>
          <p:cNvPr id="14" name="Image 1" descr="preencoded.png">    </p:cNvPr>
          <p:cNvPicPr>
            <a:picLocks noChangeAspect="1"/>
          </p:cNvPicPr>
          <p:nvPr/>
        </p:nvPicPr>
        <p:blipFill>
          <a:blip r:embed="rId2"/>
          <a:stretch>
            <a:fillRect/>
          </a:stretch>
        </p:blipFill>
        <p:spPr>
          <a:xfrm>
            <a:off x="310896" y="1947672"/>
            <a:ext cx="347472" cy="347472"/>
          </a:xfrm>
          <a:prstGeom prst="rect">
            <a:avLst/>
          </a:prstGeom>
        </p:spPr>
      </p:pic>
      <p:sp>
        <p:nvSpPr>
          <p:cNvPr id="15" name="Text 11"/>
          <p:cNvSpPr/>
          <p:nvPr/>
        </p:nvSpPr>
        <p:spPr>
          <a:xfrm>
            <a:off x="731520" y="1856232"/>
            <a:ext cx="1353312" cy="274320"/>
          </a:xfrm>
          <a:prstGeom prst="rect">
            <a:avLst/>
          </a:prstGeom>
          <a:noFill/>
          <a:ln/>
        </p:spPr>
        <p:txBody>
          <a:bodyPr wrap="square" lIns="0" tIns="0" rIns="0" bIns="0" rtlCol="0" anchor="ctr"/>
          <a:lstStyle/>
          <a:p>
            <a:pPr algn="l" indent="0" marL="0">
              <a:buNone/>
            </a:pPr>
            <a:r>
              <a:rPr lang="en-US" sz="1050" b="1" dirty="0">
                <a:solidFill>
                  <a:srgbClr val="FFFFFF"/>
                </a:solidFill>
              </a:rPr>
              <a:t>Admin Entrepôt</a:t>
            </a:r>
            <a:endParaRPr lang="en-US" sz="1050" dirty="0"/>
          </a:p>
        </p:txBody>
      </p:sp>
      <p:sp>
        <p:nvSpPr>
          <p:cNvPr id="16" name="Text 12"/>
          <p:cNvSpPr/>
          <p:nvPr/>
        </p:nvSpPr>
        <p:spPr>
          <a:xfrm>
            <a:off x="731520" y="2148840"/>
            <a:ext cx="1353312" cy="256032"/>
          </a:xfrm>
          <a:prstGeom prst="rect">
            <a:avLst/>
          </a:prstGeom>
          <a:noFill/>
          <a:ln/>
        </p:spPr>
        <p:txBody>
          <a:bodyPr wrap="square" lIns="0" tIns="0" rIns="0" bIns="0" rtlCol="0" anchor="ctr"/>
          <a:lstStyle/>
          <a:p>
            <a:pPr algn="l" indent="0" marL="0">
              <a:buNone/>
            </a:pPr>
            <a:r>
              <a:rPr lang="en-US" sz="900" dirty="0">
                <a:solidFill>
                  <a:srgbClr val="7A95A8"/>
                </a:solidFill>
              </a:rPr>
              <a:t>Interface Web</a:t>
            </a:r>
            <a:endParaRPr lang="en-US" sz="900" dirty="0"/>
          </a:p>
        </p:txBody>
      </p:sp>
      <p:sp>
        <p:nvSpPr>
          <p:cNvPr id="17" name="Shape 13"/>
          <p:cNvSpPr/>
          <p:nvPr/>
        </p:nvSpPr>
        <p:spPr>
          <a:xfrm>
            <a:off x="201168" y="2560320"/>
            <a:ext cx="1920240" cy="713232"/>
          </a:xfrm>
          <a:prstGeom prst="rect">
            <a:avLst/>
          </a:prstGeom>
          <a:solidFill>
            <a:srgbClr val="13253D"/>
          </a:solidFill>
          <a:ln/>
        </p:spPr>
      </p:sp>
      <p:sp>
        <p:nvSpPr>
          <p:cNvPr id="18" name="Shape 14"/>
          <p:cNvSpPr/>
          <p:nvPr/>
        </p:nvSpPr>
        <p:spPr>
          <a:xfrm>
            <a:off x="201168" y="2560320"/>
            <a:ext cx="45720" cy="713232"/>
          </a:xfrm>
          <a:prstGeom prst="rect">
            <a:avLst/>
          </a:prstGeom>
          <a:solidFill>
            <a:srgbClr val="27AE60"/>
          </a:solidFill>
          <a:ln/>
        </p:spPr>
      </p:sp>
      <p:pic>
        <p:nvPicPr>
          <p:cNvPr id="19" name="Image 2" descr="preencoded.png">    </p:cNvPr>
          <p:cNvPicPr>
            <a:picLocks noChangeAspect="1"/>
          </p:cNvPicPr>
          <p:nvPr/>
        </p:nvPicPr>
        <p:blipFill>
          <a:blip r:embed="rId3"/>
          <a:stretch>
            <a:fillRect/>
          </a:stretch>
        </p:blipFill>
        <p:spPr>
          <a:xfrm>
            <a:off x="310896" y="2734056"/>
            <a:ext cx="347472" cy="347472"/>
          </a:xfrm>
          <a:prstGeom prst="rect">
            <a:avLst/>
          </a:prstGeom>
        </p:spPr>
      </p:pic>
      <p:sp>
        <p:nvSpPr>
          <p:cNvPr id="20" name="Text 15"/>
          <p:cNvSpPr/>
          <p:nvPr/>
        </p:nvSpPr>
        <p:spPr>
          <a:xfrm>
            <a:off x="731520" y="2642616"/>
            <a:ext cx="1353312" cy="274320"/>
          </a:xfrm>
          <a:prstGeom prst="rect">
            <a:avLst/>
          </a:prstGeom>
          <a:noFill/>
          <a:ln/>
        </p:spPr>
        <p:txBody>
          <a:bodyPr wrap="square" lIns="0" tIns="0" rIns="0" bIns="0" rtlCol="0" anchor="ctr"/>
          <a:lstStyle/>
          <a:p>
            <a:pPr algn="l" indent="0" marL="0">
              <a:buNone/>
            </a:pPr>
            <a:r>
              <a:rPr lang="en-US" sz="1050" b="1" dirty="0">
                <a:solidFill>
                  <a:srgbClr val="FFFFFF"/>
                </a:solidFill>
              </a:rPr>
              <a:t>Distributeur</a:t>
            </a:r>
            <a:endParaRPr lang="en-US" sz="1050" dirty="0"/>
          </a:p>
        </p:txBody>
      </p:sp>
      <p:sp>
        <p:nvSpPr>
          <p:cNvPr id="21" name="Text 16"/>
          <p:cNvSpPr/>
          <p:nvPr/>
        </p:nvSpPr>
        <p:spPr>
          <a:xfrm>
            <a:off x="731520" y="2935224"/>
            <a:ext cx="1353312" cy="256032"/>
          </a:xfrm>
          <a:prstGeom prst="rect">
            <a:avLst/>
          </a:prstGeom>
          <a:noFill/>
          <a:ln/>
        </p:spPr>
        <p:txBody>
          <a:bodyPr wrap="square" lIns="0" tIns="0" rIns="0" bIns="0" rtlCol="0" anchor="ctr"/>
          <a:lstStyle/>
          <a:p>
            <a:pPr algn="l" indent="0" marL="0">
              <a:buNone/>
            </a:pPr>
            <a:r>
              <a:rPr lang="en-US" sz="900" dirty="0">
                <a:solidFill>
                  <a:srgbClr val="7A95A8"/>
                </a:solidFill>
              </a:rPr>
              <a:t>App Mobile</a:t>
            </a:r>
            <a:endParaRPr lang="en-US" sz="900" dirty="0"/>
          </a:p>
        </p:txBody>
      </p:sp>
      <p:sp>
        <p:nvSpPr>
          <p:cNvPr id="22" name="Shape 17"/>
          <p:cNvSpPr/>
          <p:nvPr/>
        </p:nvSpPr>
        <p:spPr>
          <a:xfrm>
            <a:off x="201168" y="3410712"/>
            <a:ext cx="1920240" cy="996696"/>
          </a:xfrm>
          <a:prstGeom prst="rect">
            <a:avLst/>
          </a:prstGeom>
          <a:solidFill>
            <a:srgbClr val="090F18"/>
          </a:solidFill>
          <a:ln w="15240">
            <a:solidFill>
              <a:srgbClr val="D4A843"/>
            </a:solidFill>
            <a:prstDash val="dash"/>
          </a:ln>
        </p:spPr>
      </p:sp>
      <p:sp>
        <p:nvSpPr>
          <p:cNvPr id="23" name="Text 18"/>
          <p:cNvSpPr/>
          <p:nvPr/>
        </p:nvSpPr>
        <p:spPr>
          <a:xfrm>
            <a:off x="201168" y="3447288"/>
            <a:ext cx="1920240" cy="274320"/>
          </a:xfrm>
          <a:prstGeom prst="rect">
            <a:avLst/>
          </a:prstGeom>
          <a:noFill/>
          <a:ln/>
        </p:spPr>
        <p:txBody>
          <a:bodyPr wrap="square" lIns="0" tIns="0" rIns="0" bIns="0" rtlCol="0" anchor="ctr"/>
          <a:lstStyle/>
          <a:p>
            <a:pPr algn="ctr" indent="0" marL="0">
              <a:buNone/>
            </a:pPr>
            <a:r>
              <a:rPr lang="en-US" sz="950" b="1" dirty="0">
                <a:solidFill>
                  <a:srgbClr val="D4A843"/>
                </a:solidFill>
              </a:rPr>
              <a:t>📵  Mode Offline</a:t>
            </a:r>
            <a:endParaRPr lang="en-US" sz="950" dirty="0"/>
          </a:p>
        </p:txBody>
      </p:sp>
      <p:sp>
        <p:nvSpPr>
          <p:cNvPr id="24" name="Text 19"/>
          <p:cNvSpPr/>
          <p:nvPr/>
        </p:nvSpPr>
        <p:spPr>
          <a:xfrm>
            <a:off x="201168" y="3721608"/>
            <a:ext cx="1920240" cy="594360"/>
          </a:xfrm>
          <a:prstGeom prst="rect">
            <a:avLst/>
          </a:prstGeom>
          <a:noFill/>
          <a:ln/>
        </p:spPr>
        <p:txBody>
          <a:bodyPr wrap="square" lIns="0" tIns="0" rIns="0" bIns="0" rtlCol="0" anchor="ctr"/>
          <a:lstStyle/>
          <a:p>
            <a:pPr algn="ctr" indent="0" marL="0">
              <a:buNone/>
            </a:pPr>
            <a:r>
              <a:rPr lang="en-US" sz="850" dirty="0">
                <a:solidFill>
                  <a:srgbClr val="7A95A8"/>
                </a:solidFill>
              </a:rPr>
              <a:t>Cache local protégé</a:t>
            </a:r>
            <a:endParaRPr lang="en-US" sz="850" dirty="0"/>
          </a:p>
          <a:p>
            <a:pPr algn="ctr" indent="0" marL="0">
              <a:buNone/>
            </a:pPr>
            <a:r>
              <a:rPr lang="en-US" sz="850" dirty="0">
                <a:solidFill>
                  <a:srgbClr val="7A95A8"/>
                </a:solidFill>
              </a:rPr>
              <a:t>Sync sécurisée au retour réseau</a:t>
            </a:r>
            <a:endParaRPr lang="en-US" sz="850" dirty="0"/>
          </a:p>
        </p:txBody>
      </p:sp>
      <p:sp>
        <p:nvSpPr>
          <p:cNvPr id="25" name="Shape 20"/>
          <p:cNvSpPr/>
          <p:nvPr/>
        </p:nvSpPr>
        <p:spPr>
          <a:xfrm>
            <a:off x="2212848" y="1280160"/>
            <a:ext cx="804672" cy="347472"/>
          </a:xfrm>
          <a:prstGeom prst="rect">
            <a:avLst/>
          </a:prstGeom>
          <a:solidFill>
            <a:srgbClr val="1E3A5F"/>
          </a:solidFill>
          <a:ln/>
        </p:spPr>
      </p:sp>
      <p:sp>
        <p:nvSpPr>
          <p:cNvPr id="26" name="Text 21"/>
          <p:cNvSpPr/>
          <p:nvPr/>
        </p:nvSpPr>
        <p:spPr>
          <a:xfrm>
            <a:off x="2212848" y="1280160"/>
            <a:ext cx="804672" cy="347472"/>
          </a:xfrm>
          <a:prstGeom prst="rect">
            <a:avLst/>
          </a:prstGeom>
          <a:noFill/>
          <a:ln/>
        </p:spPr>
        <p:txBody>
          <a:bodyPr wrap="square" lIns="0" tIns="0" rIns="0" bIns="0" rtlCol="0" anchor="ctr"/>
          <a:lstStyle/>
          <a:p>
            <a:pPr algn="ctr" indent="0" marL="0">
              <a:buNone/>
            </a:pPr>
            <a:r>
              <a:rPr lang="en-US" sz="850" b="1" dirty="0">
                <a:solidFill>
                  <a:srgbClr val="0D9488"/>
                </a:solidFill>
              </a:rPr>
              <a:t>HTTPS</a:t>
            </a:r>
            <a:endParaRPr lang="en-US" sz="850" dirty="0"/>
          </a:p>
          <a:p>
            <a:pPr algn="ctr" indent="0" marL="0">
              <a:buNone/>
            </a:pPr>
            <a:r>
              <a:rPr lang="en-US" sz="850" b="1" dirty="0">
                <a:solidFill>
                  <a:srgbClr val="0D9488"/>
                </a:solidFill>
              </a:rPr>
              <a:t>TLS 1.3</a:t>
            </a:r>
            <a:endParaRPr lang="en-US" sz="850" dirty="0"/>
          </a:p>
        </p:txBody>
      </p:sp>
      <p:sp>
        <p:nvSpPr>
          <p:cNvPr id="27" name="Shape 22"/>
          <p:cNvSpPr/>
          <p:nvPr/>
        </p:nvSpPr>
        <p:spPr>
          <a:xfrm>
            <a:off x="2212848" y="1874520"/>
            <a:ext cx="694944" cy="45720"/>
          </a:xfrm>
          <a:prstGeom prst="rect">
            <a:avLst/>
          </a:prstGeom>
          <a:solidFill>
            <a:srgbClr val="0D9488"/>
          </a:solidFill>
          <a:ln/>
        </p:spPr>
      </p:sp>
      <p:sp>
        <p:nvSpPr>
          <p:cNvPr id="28" name="Text 23"/>
          <p:cNvSpPr/>
          <p:nvPr/>
        </p:nvSpPr>
        <p:spPr>
          <a:xfrm>
            <a:off x="2834640" y="1755648"/>
            <a:ext cx="182880" cy="274320"/>
          </a:xfrm>
          <a:prstGeom prst="rect">
            <a:avLst/>
          </a:prstGeom>
          <a:noFill/>
          <a:ln/>
        </p:spPr>
        <p:txBody>
          <a:bodyPr wrap="square" lIns="0" tIns="0" rIns="0" bIns="0" rtlCol="0" anchor="ctr"/>
          <a:lstStyle/>
          <a:p>
            <a:pPr algn="ctr" indent="0" marL="0">
              <a:buNone/>
            </a:pPr>
            <a:r>
              <a:rPr lang="en-US" sz="1300" dirty="0">
                <a:solidFill>
                  <a:srgbClr val="0D9488"/>
                </a:solidFill>
              </a:rPr>
              <a:t>▶</a:t>
            </a:r>
            <a:endParaRPr lang="en-US" sz="1300" dirty="0"/>
          </a:p>
        </p:txBody>
      </p:sp>
      <p:sp>
        <p:nvSpPr>
          <p:cNvPr id="29" name="Shape 24"/>
          <p:cNvSpPr/>
          <p:nvPr/>
        </p:nvSpPr>
        <p:spPr>
          <a:xfrm>
            <a:off x="2212848" y="1993392"/>
            <a:ext cx="804672" cy="347472"/>
          </a:xfrm>
          <a:prstGeom prst="rect">
            <a:avLst/>
          </a:prstGeom>
          <a:solidFill>
            <a:srgbClr val="1E3A5F"/>
          </a:solidFill>
          <a:ln/>
        </p:spPr>
      </p:sp>
      <p:sp>
        <p:nvSpPr>
          <p:cNvPr id="30" name="Text 25"/>
          <p:cNvSpPr/>
          <p:nvPr/>
        </p:nvSpPr>
        <p:spPr>
          <a:xfrm>
            <a:off x="2212848" y="1993392"/>
            <a:ext cx="804672" cy="347472"/>
          </a:xfrm>
          <a:prstGeom prst="rect">
            <a:avLst/>
          </a:prstGeom>
          <a:noFill/>
          <a:ln/>
        </p:spPr>
        <p:txBody>
          <a:bodyPr wrap="square" lIns="0" tIns="0" rIns="0" bIns="0" rtlCol="0" anchor="ctr"/>
          <a:lstStyle/>
          <a:p>
            <a:pPr algn="ctr" indent="0" marL="0">
              <a:buNone/>
            </a:pPr>
            <a:r>
              <a:rPr lang="en-US" sz="850" b="1" dirty="0">
                <a:solidFill>
                  <a:srgbClr val="D4A843"/>
                </a:solidFill>
              </a:rPr>
              <a:t>JWT Auth</a:t>
            </a:r>
            <a:endParaRPr lang="en-US" sz="850" dirty="0"/>
          </a:p>
          <a:p>
            <a:pPr algn="ctr" indent="0" marL="0">
              <a:buNone/>
            </a:pPr>
            <a:r>
              <a:rPr lang="en-US" sz="850" b="1" dirty="0">
                <a:solidFill>
                  <a:srgbClr val="D4A843"/>
                </a:solidFill>
              </a:rPr>
              <a:t>+ RBAC</a:t>
            </a:r>
            <a:endParaRPr lang="en-US" sz="850" dirty="0"/>
          </a:p>
        </p:txBody>
      </p:sp>
      <p:sp>
        <p:nvSpPr>
          <p:cNvPr id="31" name="Shape 26"/>
          <p:cNvSpPr/>
          <p:nvPr/>
        </p:nvSpPr>
        <p:spPr>
          <a:xfrm>
            <a:off x="3017520" y="658368"/>
            <a:ext cx="3154680" cy="3840480"/>
          </a:xfrm>
          <a:prstGeom prst="rect">
            <a:avLst/>
          </a:prstGeom>
          <a:solidFill>
            <a:srgbClr val="1A3050"/>
          </a:solidFill>
          <a:ln/>
          <a:effectLst>
            <a:outerShdw sx="100000" sy="100000" kx="0" ky="0" algn="bl" rotWithShape="0" blurRad="127000" dist="50800" dir="8100000">
              <a:srgbClr val="000000">
                <a:alpha val="35000"/>
              </a:srgbClr>
            </a:outerShdw>
          </a:effectLst>
        </p:spPr>
      </p:sp>
      <p:sp>
        <p:nvSpPr>
          <p:cNvPr id="32" name="Shape 27"/>
          <p:cNvSpPr/>
          <p:nvPr/>
        </p:nvSpPr>
        <p:spPr>
          <a:xfrm>
            <a:off x="3017520" y="658368"/>
            <a:ext cx="3154680" cy="45720"/>
          </a:xfrm>
          <a:prstGeom prst="rect">
            <a:avLst/>
          </a:prstGeom>
          <a:solidFill>
            <a:srgbClr val="0D9488"/>
          </a:solidFill>
          <a:ln/>
        </p:spPr>
      </p:sp>
      <p:sp>
        <p:nvSpPr>
          <p:cNvPr id="33" name="Text 28"/>
          <p:cNvSpPr/>
          <p:nvPr/>
        </p:nvSpPr>
        <p:spPr>
          <a:xfrm>
            <a:off x="3017520" y="722376"/>
            <a:ext cx="3154680" cy="246888"/>
          </a:xfrm>
          <a:prstGeom prst="rect">
            <a:avLst/>
          </a:prstGeom>
          <a:noFill/>
          <a:ln/>
        </p:spPr>
        <p:txBody>
          <a:bodyPr wrap="square" lIns="0" tIns="0" rIns="0" bIns="0" rtlCol="0" anchor="ctr"/>
          <a:lstStyle/>
          <a:p>
            <a:pPr algn="ctr" indent="0" marL="0">
              <a:buNone/>
            </a:pPr>
            <a:r>
              <a:rPr lang="en-US" sz="850" b="1" spc="150" kern="0" dirty="0">
                <a:solidFill>
                  <a:srgbClr val="0D9488"/>
                </a:solidFill>
              </a:rPr>
              <a:t>BACKEND SÉCURISÉ</a:t>
            </a:r>
            <a:endParaRPr lang="en-US" sz="850" dirty="0"/>
          </a:p>
        </p:txBody>
      </p:sp>
      <p:sp>
        <p:nvSpPr>
          <p:cNvPr id="34" name="Shape 29"/>
          <p:cNvSpPr/>
          <p:nvPr/>
        </p:nvSpPr>
        <p:spPr>
          <a:xfrm>
            <a:off x="3108960" y="987552"/>
            <a:ext cx="2971800" cy="713232"/>
          </a:xfrm>
          <a:prstGeom prst="rect">
            <a:avLst/>
          </a:prstGeom>
          <a:solidFill>
            <a:srgbClr val="13253D"/>
          </a:solidFill>
          <a:ln/>
        </p:spPr>
      </p:sp>
      <p:sp>
        <p:nvSpPr>
          <p:cNvPr id="35" name="Shape 30"/>
          <p:cNvSpPr/>
          <p:nvPr/>
        </p:nvSpPr>
        <p:spPr>
          <a:xfrm>
            <a:off x="3108960" y="987552"/>
            <a:ext cx="45720" cy="713232"/>
          </a:xfrm>
          <a:prstGeom prst="rect">
            <a:avLst/>
          </a:prstGeom>
          <a:solidFill>
            <a:srgbClr val="D4A843"/>
          </a:solidFill>
          <a:ln/>
        </p:spPr>
      </p:sp>
      <p:pic>
        <p:nvPicPr>
          <p:cNvPr id="36" name="Image 3" descr="preencoded.png">    </p:cNvPr>
          <p:cNvPicPr>
            <a:picLocks noChangeAspect="1"/>
          </p:cNvPicPr>
          <p:nvPr/>
        </p:nvPicPr>
        <p:blipFill>
          <a:blip r:embed="rId4"/>
          <a:stretch>
            <a:fillRect/>
          </a:stretch>
        </p:blipFill>
        <p:spPr>
          <a:xfrm>
            <a:off x="3218688" y="1161288"/>
            <a:ext cx="347472" cy="347472"/>
          </a:xfrm>
          <a:prstGeom prst="rect">
            <a:avLst/>
          </a:prstGeom>
        </p:spPr>
      </p:pic>
      <p:sp>
        <p:nvSpPr>
          <p:cNvPr id="37" name="Text 31"/>
          <p:cNvSpPr/>
          <p:nvPr/>
        </p:nvSpPr>
        <p:spPr>
          <a:xfrm>
            <a:off x="3639312" y="1069848"/>
            <a:ext cx="2404872" cy="274320"/>
          </a:xfrm>
          <a:prstGeom prst="rect">
            <a:avLst/>
          </a:prstGeom>
          <a:noFill/>
          <a:ln/>
        </p:spPr>
        <p:txBody>
          <a:bodyPr wrap="square" lIns="0" tIns="0" rIns="0" bIns="0" rtlCol="0" anchor="ctr"/>
          <a:lstStyle/>
          <a:p>
            <a:pPr algn="l" indent="0" marL="0">
              <a:buNone/>
            </a:pPr>
            <a:r>
              <a:rPr lang="en-US" sz="1050" b="1" dirty="0">
                <a:solidFill>
                  <a:srgbClr val="FFFFFF"/>
                </a:solidFill>
              </a:rPr>
              <a:t>Vérification JWT</a:t>
            </a:r>
            <a:endParaRPr lang="en-US" sz="1050" dirty="0"/>
          </a:p>
        </p:txBody>
      </p:sp>
      <p:sp>
        <p:nvSpPr>
          <p:cNvPr id="38" name="Text 32"/>
          <p:cNvSpPr/>
          <p:nvPr/>
        </p:nvSpPr>
        <p:spPr>
          <a:xfrm>
            <a:off x="3639312" y="1362456"/>
            <a:ext cx="2404872" cy="256032"/>
          </a:xfrm>
          <a:prstGeom prst="rect">
            <a:avLst/>
          </a:prstGeom>
          <a:noFill/>
          <a:ln/>
        </p:spPr>
        <p:txBody>
          <a:bodyPr wrap="square" lIns="0" tIns="0" rIns="0" bIns="0" rtlCol="0" anchor="ctr"/>
          <a:lstStyle/>
          <a:p>
            <a:pPr algn="l" indent="0" marL="0">
              <a:buNone/>
            </a:pPr>
            <a:r>
              <a:rPr lang="en-US" sz="900" dirty="0">
                <a:solidFill>
                  <a:srgbClr val="7A95A8"/>
                </a:solidFill>
              </a:rPr>
              <a:t>Authentification · RBAC</a:t>
            </a:r>
            <a:endParaRPr lang="en-US" sz="900" dirty="0"/>
          </a:p>
        </p:txBody>
      </p:sp>
      <p:sp>
        <p:nvSpPr>
          <p:cNvPr id="39" name="Shape 33"/>
          <p:cNvSpPr/>
          <p:nvPr/>
        </p:nvSpPr>
        <p:spPr>
          <a:xfrm>
            <a:off x="3108960" y="1773936"/>
            <a:ext cx="2971800" cy="713232"/>
          </a:xfrm>
          <a:prstGeom prst="rect">
            <a:avLst/>
          </a:prstGeom>
          <a:solidFill>
            <a:srgbClr val="13253D"/>
          </a:solidFill>
          <a:ln/>
        </p:spPr>
      </p:sp>
      <p:sp>
        <p:nvSpPr>
          <p:cNvPr id="40" name="Shape 34"/>
          <p:cNvSpPr/>
          <p:nvPr/>
        </p:nvSpPr>
        <p:spPr>
          <a:xfrm>
            <a:off x="3108960" y="1773936"/>
            <a:ext cx="45720" cy="713232"/>
          </a:xfrm>
          <a:prstGeom prst="rect">
            <a:avLst/>
          </a:prstGeom>
          <a:solidFill>
            <a:srgbClr val="3498DB"/>
          </a:solidFill>
          <a:ln/>
        </p:spPr>
      </p:sp>
      <p:pic>
        <p:nvPicPr>
          <p:cNvPr id="41" name="Image 4" descr="preencoded.png">    </p:cNvPr>
          <p:cNvPicPr>
            <a:picLocks noChangeAspect="1"/>
          </p:cNvPicPr>
          <p:nvPr/>
        </p:nvPicPr>
        <p:blipFill>
          <a:blip r:embed="rId5"/>
          <a:stretch>
            <a:fillRect/>
          </a:stretch>
        </p:blipFill>
        <p:spPr>
          <a:xfrm>
            <a:off x="3218688" y="1947672"/>
            <a:ext cx="347472" cy="347472"/>
          </a:xfrm>
          <a:prstGeom prst="rect">
            <a:avLst/>
          </a:prstGeom>
        </p:spPr>
      </p:pic>
      <p:sp>
        <p:nvSpPr>
          <p:cNvPr id="42" name="Text 35"/>
          <p:cNvSpPr/>
          <p:nvPr/>
        </p:nvSpPr>
        <p:spPr>
          <a:xfrm>
            <a:off x="3639312" y="1856232"/>
            <a:ext cx="2404872" cy="274320"/>
          </a:xfrm>
          <a:prstGeom prst="rect">
            <a:avLst/>
          </a:prstGeom>
          <a:noFill/>
          <a:ln/>
        </p:spPr>
        <p:txBody>
          <a:bodyPr wrap="square" lIns="0" tIns="0" rIns="0" bIns="0" rtlCol="0" anchor="ctr"/>
          <a:lstStyle/>
          <a:p>
            <a:pPr algn="l" indent="0" marL="0">
              <a:buNone/>
            </a:pPr>
            <a:r>
              <a:rPr lang="en-US" sz="1050" b="1" dirty="0">
                <a:solidFill>
                  <a:srgbClr val="FFFFFF"/>
                </a:solidFill>
              </a:rPr>
              <a:t>API REST Core</a:t>
            </a:r>
            <a:endParaRPr lang="en-US" sz="1050" dirty="0"/>
          </a:p>
        </p:txBody>
      </p:sp>
      <p:sp>
        <p:nvSpPr>
          <p:cNvPr id="43" name="Text 36"/>
          <p:cNvSpPr/>
          <p:nvPr/>
        </p:nvSpPr>
        <p:spPr>
          <a:xfrm>
            <a:off x="3639312" y="2148840"/>
            <a:ext cx="2404872" cy="256032"/>
          </a:xfrm>
          <a:prstGeom prst="rect">
            <a:avLst/>
          </a:prstGeom>
          <a:noFill/>
          <a:ln/>
        </p:spPr>
        <p:txBody>
          <a:bodyPr wrap="square" lIns="0" tIns="0" rIns="0" bIns="0" rtlCol="0" anchor="ctr"/>
          <a:lstStyle/>
          <a:p>
            <a:pPr algn="l" indent="0" marL="0">
              <a:buNone/>
            </a:pPr>
            <a:r>
              <a:rPr lang="en-US" sz="900" dirty="0">
                <a:solidFill>
                  <a:srgbClr val="7A95A8"/>
                </a:solidFill>
              </a:rPr>
              <a:t>Validation · Autorisation</a:t>
            </a:r>
            <a:endParaRPr lang="en-US" sz="900" dirty="0"/>
          </a:p>
        </p:txBody>
      </p:sp>
      <p:sp>
        <p:nvSpPr>
          <p:cNvPr id="44" name="Shape 37"/>
          <p:cNvSpPr/>
          <p:nvPr/>
        </p:nvSpPr>
        <p:spPr>
          <a:xfrm>
            <a:off x="3108960" y="2560320"/>
            <a:ext cx="2971800" cy="713232"/>
          </a:xfrm>
          <a:prstGeom prst="rect">
            <a:avLst/>
          </a:prstGeom>
          <a:solidFill>
            <a:srgbClr val="13253D"/>
          </a:solidFill>
          <a:ln/>
        </p:spPr>
      </p:sp>
      <p:sp>
        <p:nvSpPr>
          <p:cNvPr id="45" name="Shape 38"/>
          <p:cNvSpPr/>
          <p:nvPr/>
        </p:nvSpPr>
        <p:spPr>
          <a:xfrm>
            <a:off x="3108960" y="2560320"/>
            <a:ext cx="45720" cy="713232"/>
          </a:xfrm>
          <a:prstGeom prst="rect">
            <a:avLst/>
          </a:prstGeom>
          <a:solidFill>
            <a:srgbClr val="27AE60"/>
          </a:solidFill>
          <a:ln/>
        </p:spPr>
      </p:sp>
      <p:pic>
        <p:nvPicPr>
          <p:cNvPr id="46" name="Image 5" descr="preencoded.png">    </p:cNvPr>
          <p:cNvPicPr>
            <a:picLocks noChangeAspect="1"/>
          </p:cNvPicPr>
          <p:nvPr/>
        </p:nvPicPr>
        <p:blipFill>
          <a:blip r:embed="rId6"/>
          <a:stretch>
            <a:fillRect/>
          </a:stretch>
        </p:blipFill>
        <p:spPr>
          <a:xfrm>
            <a:off x="3218688" y="2734056"/>
            <a:ext cx="347472" cy="347472"/>
          </a:xfrm>
          <a:prstGeom prst="rect">
            <a:avLst/>
          </a:prstGeom>
        </p:spPr>
      </p:pic>
      <p:sp>
        <p:nvSpPr>
          <p:cNvPr id="47" name="Text 39"/>
          <p:cNvSpPr/>
          <p:nvPr/>
        </p:nvSpPr>
        <p:spPr>
          <a:xfrm>
            <a:off x="3639312" y="2642616"/>
            <a:ext cx="2404872" cy="274320"/>
          </a:xfrm>
          <a:prstGeom prst="rect">
            <a:avLst/>
          </a:prstGeom>
          <a:noFill/>
          <a:ln/>
        </p:spPr>
        <p:txBody>
          <a:bodyPr wrap="square" lIns="0" tIns="0" rIns="0" bIns="0" rtlCol="0" anchor="ctr"/>
          <a:lstStyle/>
          <a:p>
            <a:pPr algn="l" indent="0" marL="0">
              <a:buNone/>
            </a:pPr>
            <a:r>
              <a:rPr lang="en-US" sz="1050" b="1" dirty="0">
                <a:solidFill>
                  <a:srgbClr val="FFFFFF"/>
                </a:solidFill>
              </a:rPr>
              <a:t>Audit Log Immuable</a:t>
            </a:r>
            <a:endParaRPr lang="en-US" sz="1050" dirty="0"/>
          </a:p>
        </p:txBody>
      </p:sp>
      <p:sp>
        <p:nvSpPr>
          <p:cNvPr id="48" name="Text 40"/>
          <p:cNvSpPr/>
          <p:nvPr/>
        </p:nvSpPr>
        <p:spPr>
          <a:xfrm>
            <a:off x="3639312" y="2935224"/>
            <a:ext cx="2404872" cy="256032"/>
          </a:xfrm>
          <a:prstGeom prst="rect">
            <a:avLst/>
          </a:prstGeom>
          <a:noFill/>
          <a:ln/>
        </p:spPr>
        <p:txBody>
          <a:bodyPr wrap="square" lIns="0" tIns="0" rIns="0" bIns="0" rtlCol="0" anchor="ctr"/>
          <a:lstStyle/>
          <a:p>
            <a:pPr algn="l" indent="0" marL="0">
              <a:buNone/>
            </a:pPr>
            <a:r>
              <a:rPr lang="en-US" sz="900" dirty="0">
                <a:solidFill>
                  <a:srgbClr val="7A95A8"/>
                </a:solidFill>
              </a:rPr>
              <a:t>Chaque action tracée &amp; signée</a:t>
            </a:r>
            <a:endParaRPr lang="en-US" sz="900" dirty="0"/>
          </a:p>
        </p:txBody>
      </p:sp>
      <p:sp>
        <p:nvSpPr>
          <p:cNvPr id="49" name="Shape 41"/>
          <p:cNvSpPr/>
          <p:nvPr/>
        </p:nvSpPr>
        <p:spPr>
          <a:xfrm>
            <a:off x="3108960" y="3346704"/>
            <a:ext cx="2971800" cy="713232"/>
          </a:xfrm>
          <a:prstGeom prst="rect">
            <a:avLst/>
          </a:prstGeom>
          <a:solidFill>
            <a:srgbClr val="13253D"/>
          </a:solidFill>
          <a:ln/>
        </p:spPr>
      </p:sp>
      <p:sp>
        <p:nvSpPr>
          <p:cNvPr id="50" name="Shape 42"/>
          <p:cNvSpPr/>
          <p:nvPr/>
        </p:nvSpPr>
        <p:spPr>
          <a:xfrm>
            <a:off x="3108960" y="3346704"/>
            <a:ext cx="45720" cy="713232"/>
          </a:xfrm>
          <a:prstGeom prst="rect">
            <a:avLst/>
          </a:prstGeom>
          <a:solidFill>
            <a:srgbClr val="D4A843"/>
          </a:solidFill>
          <a:ln/>
        </p:spPr>
      </p:sp>
      <p:pic>
        <p:nvPicPr>
          <p:cNvPr id="51" name="Image 6" descr="preencoded.png">    </p:cNvPr>
          <p:cNvPicPr>
            <a:picLocks noChangeAspect="1"/>
          </p:cNvPicPr>
          <p:nvPr/>
        </p:nvPicPr>
        <p:blipFill>
          <a:blip r:embed="rId7"/>
          <a:stretch>
            <a:fillRect/>
          </a:stretch>
        </p:blipFill>
        <p:spPr>
          <a:xfrm>
            <a:off x="3218688" y="3520440"/>
            <a:ext cx="347472" cy="347472"/>
          </a:xfrm>
          <a:prstGeom prst="rect">
            <a:avLst/>
          </a:prstGeom>
        </p:spPr>
      </p:pic>
      <p:sp>
        <p:nvSpPr>
          <p:cNvPr id="52" name="Text 43"/>
          <p:cNvSpPr/>
          <p:nvPr/>
        </p:nvSpPr>
        <p:spPr>
          <a:xfrm>
            <a:off x="3639312" y="3429000"/>
            <a:ext cx="2404872" cy="274320"/>
          </a:xfrm>
          <a:prstGeom prst="rect">
            <a:avLst/>
          </a:prstGeom>
          <a:noFill/>
          <a:ln/>
        </p:spPr>
        <p:txBody>
          <a:bodyPr wrap="square" lIns="0" tIns="0" rIns="0" bIns="0" rtlCol="0" anchor="ctr"/>
          <a:lstStyle/>
          <a:p>
            <a:pPr algn="l" indent="0" marL="0">
              <a:buNone/>
            </a:pPr>
            <a:r>
              <a:rPr lang="en-US" sz="1050" b="1" dirty="0">
                <a:solidFill>
                  <a:srgbClr val="FFFFFF"/>
                </a:solidFill>
              </a:rPr>
              <a:t>Offline Sync Handler</a:t>
            </a:r>
            <a:endParaRPr lang="en-US" sz="1050" dirty="0"/>
          </a:p>
        </p:txBody>
      </p:sp>
      <p:sp>
        <p:nvSpPr>
          <p:cNvPr id="53" name="Text 44"/>
          <p:cNvSpPr/>
          <p:nvPr/>
        </p:nvSpPr>
        <p:spPr>
          <a:xfrm>
            <a:off x="3639312" y="3721608"/>
            <a:ext cx="2404872" cy="256032"/>
          </a:xfrm>
          <a:prstGeom prst="rect">
            <a:avLst/>
          </a:prstGeom>
          <a:noFill/>
          <a:ln/>
        </p:spPr>
        <p:txBody>
          <a:bodyPr wrap="square" lIns="0" tIns="0" rIns="0" bIns="0" rtlCol="0" anchor="ctr"/>
          <a:lstStyle/>
          <a:p>
            <a:pPr algn="l" indent="0" marL="0">
              <a:buNone/>
            </a:pPr>
            <a:r>
              <a:rPr lang="en-US" sz="900" dirty="0">
                <a:solidFill>
                  <a:srgbClr val="7A95A8"/>
                </a:solidFill>
              </a:rPr>
              <a:t>Sync chiffrée dès retour réseau</a:t>
            </a:r>
            <a:endParaRPr lang="en-US" sz="900" dirty="0"/>
          </a:p>
        </p:txBody>
      </p:sp>
      <p:sp>
        <p:nvSpPr>
          <p:cNvPr id="54" name="Shape 45"/>
          <p:cNvSpPr/>
          <p:nvPr/>
        </p:nvSpPr>
        <p:spPr>
          <a:xfrm>
            <a:off x="6172200" y="1325880"/>
            <a:ext cx="731520" cy="301752"/>
          </a:xfrm>
          <a:prstGeom prst="rect">
            <a:avLst/>
          </a:prstGeom>
          <a:solidFill>
            <a:srgbClr val="1E3A5F"/>
          </a:solidFill>
          <a:ln/>
        </p:spPr>
      </p:sp>
      <p:sp>
        <p:nvSpPr>
          <p:cNvPr id="55" name="Text 46"/>
          <p:cNvSpPr/>
          <p:nvPr/>
        </p:nvSpPr>
        <p:spPr>
          <a:xfrm>
            <a:off x="6172200" y="1325880"/>
            <a:ext cx="731520" cy="301752"/>
          </a:xfrm>
          <a:prstGeom prst="rect">
            <a:avLst/>
          </a:prstGeom>
          <a:noFill/>
          <a:ln/>
        </p:spPr>
        <p:txBody>
          <a:bodyPr wrap="square" lIns="0" tIns="0" rIns="0" bIns="0" rtlCol="0" anchor="ctr"/>
          <a:lstStyle/>
          <a:p>
            <a:pPr algn="ctr" indent="0" marL="0">
              <a:buNone/>
            </a:pPr>
            <a:r>
              <a:rPr lang="en-US" sz="800" b="1" dirty="0">
                <a:solidFill>
                  <a:srgbClr val="27AE60"/>
                </a:solidFill>
              </a:rPr>
              <a:t>Accès</a:t>
            </a:r>
            <a:endParaRPr lang="en-US" sz="800" dirty="0"/>
          </a:p>
          <a:p>
            <a:pPr algn="ctr" indent="0" marL="0">
              <a:buNone/>
            </a:pPr>
            <a:r>
              <a:rPr lang="en-US" sz="800" b="1" dirty="0">
                <a:solidFill>
                  <a:srgbClr val="27AE60"/>
                </a:solidFill>
              </a:rPr>
              <a:t>interne</a:t>
            </a:r>
            <a:endParaRPr lang="en-US" sz="800" dirty="0"/>
          </a:p>
        </p:txBody>
      </p:sp>
      <p:sp>
        <p:nvSpPr>
          <p:cNvPr id="56" name="Shape 47"/>
          <p:cNvSpPr/>
          <p:nvPr/>
        </p:nvSpPr>
        <p:spPr>
          <a:xfrm>
            <a:off x="6172200" y="1828800"/>
            <a:ext cx="640080" cy="45720"/>
          </a:xfrm>
          <a:prstGeom prst="rect">
            <a:avLst/>
          </a:prstGeom>
          <a:solidFill>
            <a:srgbClr val="27AE60"/>
          </a:solidFill>
          <a:ln/>
        </p:spPr>
      </p:sp>
      <p:sp>
        <p:nvSpPr>
          <p:cNvPr id="57" name="Text 48"/>
          <p:cNvSpPr/>
          <p:nvPr/>
        </p:nvSpPr>
        <p:spPr>
          <a:xfrm>
            <a:off x="6720840" y="1709928"/>
            <a:ext cx="182880" cy="256032"/>
          </a:xfrm>
          <a:prstGeom prst="rect">
            <a:avLst/>
          </a:prstGeom>
          <a:noFill/>
          <a:ln/>
        </p:spPr>
        <p:txBody>
          <a:bodyPr wrap="square" lIns="0" tIns="0" rIns="0" bIns="0" rtlCol="0" anchor="ctr"/>
          <a:lstStyle/>
          <a:p>
            <a:pPr algn="ctr" indent="0" marL="0">
              <a:buNone/>
            </a:pPr>
            <a:r>
              <a:rPr lang="en-US" sz="1300" dirty="0">
                <a:solidFill>
                  <a:srgbClr val="27AE60"/>
                </a:solidFill>
              </a:rPr>
              <a:t>▶</a:t>
            </a:r>
            <a:endParaRPr lang="en-US" sz="1300" dirty="0"/>
          </a:p>
        </p:txBody>
      </p:sp>
      <p:sp>
        <p:nvSpPr>
          <p:cNvPr id="58" name="Shape 49"/>
          <p:cNvSpPr/>
          <p:nvPr/>
        </p:nvSpPr>
        <p:spPr>
          <a:xfrm>
            <a:off x="6172200" y="1947672"/>
            <a:ext cx="731520" cy="347472"/>
          </a:xfrm>
          <a:prstGeom prst="rect">
            <a:avLst/>
          </a:prstGeom>
          <a:solidFill>
            <a:srgbClr val="0A0000"/>
          </a:solidFill>
          <a:ln w="10160">
            <a:solidFill>
              <a:srgbClr val="E74C3C"/>
            </a:solidFill>
            <a:prstDash val="solid"/>
          </a:ln>
        </p:spPr>
      </p:sp>
      <p:sp>
        <p:nvSpPr>
          <p:cNvPr id="59" name="Text 50"/>
          <p:cNvSpPr/>
          <p:nvPr/>
        </p:nvSpPr>
        <p:spPr>
          <a:xfrm>
            <a:off x="6172200" y="1947672"/>
            <a:ext cx="731520" cy="347472"/>
          </a:xfrm>
          <a:prstGeom prst="rect">
            <a:avLst/>
          </a:prstGeom>
          <a:noFill/>
          <a:ln/>
        </p:spPr>
        <p:txBody>
          <a:bodyPr wrap="square" lIns="0" tIns="0" rIns="0" bIns="0" rtlCol="0" anchor="ctr"/>
          <a:lstStyle/>
          <a:p>
            <a:pPr algn="ctr" indent="0" marL="0">
              <a:buNone/>
            </a:pPr>
            <a:r>
              <a:rPr lang="en-US" sz="750" dirty="0">
                <a:solidFill>
                  <a:srgbClr val="E74C3C"/>
                </a:solidFill>
              </a:rPr>
              <a:t>⛔ Pas d'accès</a:t>
            </a:r>
            <a:endParaRPr lang="en-US" sz="750" dirty="0"/>
          </a:p>
          <a:p>
            <a:pPr algn="ctr" indent="0" marL="0">
              <a:buNone/>
            </a:pPr>
            <a:r>
              <a:rPr lang="en-US" sz="750" dirty="0">
                <a:solidFill>
                  <a:srgbClr val="E74C3C"/>
                </a:solidFill>
              </a:rPr>
              <a:t>direct externe</a:t>
            </a:r>
            <a:endParaRPr lang="en-US" sz="750" dirty="0"/>
          </a:p>
        </p:txBody>
      </p:sp>
      <p:sp>
        <p:nvSpPr>
          <p:cNvPr id="60" name="Shape 51"/>
          <p:cNvSpPr/>
          <p:nvPr/>
        </p:nvSpPr>
        <p:spPr>
          <a:xfrm>
            <a:off x="6903720" y="658368"/>
            <a:ext cx="2130552" cy="3840480"/>
          </a:xfrm>
          <a:prstGeom prst="rect">
            <a:avLst/>
          </a:prstGeom>
          <a:solidFill>
            <a:srgbClr val="1A3050"/>
          </a:solidFill>
          <a:ln/>
          <a:effectLst>
            <a:outerShdw sx="100000" sy="100000" kx="0" ky="0" algn="bl" rotWithShape="0" blurRad="127000" dist="50800" dir="8100000">
              <a:srgbClr val="000000">
                <a:alpha val="35000"/>
              </a:srgbClr>
            </a:outerShdw>
          </a:effectLst>
        </p:spPr>
      </p:sp>
      <p:sp>
        <p:nvSpPr>
          <p:cNvPr id="61" name="Shape 52"/>
          <p:cNvSpPr/>
          <p:nvPr/>
        </p:nvSpPr>
        <p:spPr>
          <a:xfrm>
            <a:off x="6903720" y="658368"/>
            <a:ext cx="2130552" cy="45720"/>
          </a:xfrm>
          <a:prstGeom prst="rect">
            <a:avLst/>
          </a:prstGeom>
          <a:solidFill>
            <a:srgbClr val="27AE60"/>
          </a:solidFill>
          <a:ln/>
        </p:spPr>
      </p:sp>
      <p:sp>
        <p:nvSpPr>
          <p:cNvPr id="62" name="Text 53"/>
          <p:cNvSpPr/>
          <p:nvPr/>
        </p:nvSpPr>
        <p:spPr>
          <a:xfrm>
            <a:off x="6903720" y="722376"/>
            <a:ext cx="2130552" cy="246888"/>
          </a:xfrm>
          <a:prstGeom prst="rect">
            <a:avLst/>
          </a:prstGeom>
          <a:noFill/>
          <a:ln/>
        </p:spPr>
        <p:txBody>
          <a:bodyPr wrap="square" lIns="0" tIns="0" rIns="0" bIns="0" rtlCol="0" anchor="ctr"/>
          <a:lstStyle/>
          <a:p>
            <a:pPr algn="ctr" indent="0" marL="0">
              <a:buNone/>
            </a:pPr>
            <a:r>
              <a:rPr lang="en-US" sz="850" b="1" spc="150" kern="0" dirty="0">
                <a:solidFill>
                  <a:srgbClr val="27AE60"/>
                </a:solidFill>
              </a:rPr>
              <a:t>BASE DE DONNÉES</a:t>
            </a:r>
            <a:endParaRPr lang="en-US" sz="850" dirty="0"/>
          </a:p>
        </p:txBody>
      </p:sp>
      <p:sp>
        <p:nvSpPr>
          <p:cNvPr id="63" name="Shape 54"/>
          <p:cNvSpPr/>
          <p:nvPr/>
        </p:nvSpPr>
        <p:spPr>
          <a:xfrm>
            <a:off x="6995160" y="987552"/>
            <a:ext cx="1947672" cy="1261872"/>
          </a:xfrm>
          <a:prstGeom prst="rect">
            <a:avLst/>
          </a:prstGeom>
          <a:solidFill>
            <a:srgbClr val="13253D"/>
          </a:solidFill>
          <a:ln/>
        </p:spPr>
      </p:sp>
      <p:sp>
        <p:nvSpPr>
          <p:cNvPr id="64" name="Shape 55"/>
          <p:cNvSpPr/>
          <p:nvPr/>
        </p:nvSpPr>
        <p:spPr>
          <a:xfrm>
            <a:off x="6995160" y="987552"/>
            <a:ext cx="1947672" cy="45720"/>
          </a:xfrm>
          <a:prstGeom prst="rect">
            <a:avLst/>
          </a:prstGeom>
          <a:solidFill>
            <a:srgbClr val="27AE60"/>
          </a:solidFill>
          <a:ln/>
        </p:spPr>
      </p:sp>
      <p:pic>
        <p:nvPicPr>
          <p:cNvPr id="65" name="Image 7" descr="preencoded.png">    </p:cNvPr>
          <p:cNvPicPr>
            <a:picLocks noChangeAspect="1"/>
          </p:cNvPicPr>
          <p:nvPr/>
        </p:nvPicPr>
        <p:blipFill>
          <a:blip r:embed="rId8"/>
          <a:stretch>
            <a:fillRect/>
          </a:stretch>
        </p:blipFill>
        <p:spPr>
          <a:xfrm>
            <a:off x="7749540" y="1060704"/>
            <a:ext cx="438912" cy="438912"/>
          </a:xfrm>
          <a:prstGeom prst="rect">
            <a:avLst/>
          </a:prstGeom>
        </p:spPr>
      </p:pic>
      <p:sp>
        <p:nvSpPr>
          <p:cNvPr id="66" name="Text 56"/>
          <p:cNvSpPr/>
          <p:nvPr/>
        </p:nvSpPr>
        <p:spPr>
          <a:xfrm>
            <a:off x="6995160" y="1536192"/>
            <a:ext cx="1947672" cy="347472"/>
          </a:xfrm>
          <a:prstGeom prst="rect">
            <a:avLst/>
          </a:prstGeom>
          <a:noFill/>
          <a:ln/>
        </p:spPr>
        <p:txBody>
          <a:bodyPr wrap="square" lIns="0" tIns="0" rIns="0" bIns="0" rtlCol="0" anchor="ctr"/>
          <a:lstStyle/>
          <a:p>
            <a:pPr algn="ctr" indent="0" marL="0">
              <a:buNone/>
            </a:pPr>
            <a:r>
              <a:rPr lang="en-US" sz="1500" b="1" dirty="0">
                <a:solidFill>
                  <a:srgbClr val="27AE60"/>
                </a:solidFill>
              </a:rPr>
              <a:t>AES-256</a:t>
            </a:r>
            <a:endParaRPr lang="en-US" sz="1500" dirty="0"/>
          </a:p>
        </p:txBody>
      </p:sp>
      <p:sp>
        <p:nvSpPr>
          <p:cNvPr id="67" name="Text 57"/>
          <p:cNvSpPr/>
          <p:nvPr/>
        </p:nvSpPr>
        <p:spPr>
          <a:xfrm>
            <a:off x="6995160" y="1856232"/>
            <a:ext cx="1947672" cy="274320"/>
          </a:xfrm>
          <a:prstGeom prst="rect">
            <a:avLst/>
          </a:prstGeom>
          <a:noFill/>
          <a:ln/>
        </p:spPr>
        <p:txBody>
          <a:bodyPr wrap="square" lIns="0" tIns="0" rIns="0" bIns="0" rtlCol="0" anchor="ctr"/>
          <a:lstStyle/>
          <a:p>
            <a:pPr algn="ctr" indent="0" marL="0">
              <a:buNone/>
            </a:pPr>
            <a:r>
              <a:rPr lang="en-US" sz="850" dirty="0">
                <a:solidFill>
                  <a:srgbClr val="7A95A8"/>
                </a:solidFill>
              </a:rPr>
              <a:t>Données chiffrées au repos</a:t>
            </a:r>
            <a:endParaRPr lang="en-US" sz="850" dirty="0"/>
          </a:p>
        </p:txBody>
      </p:sp>
      <p:sp>
        <p:nvSpPr>
          <p:cNvPr id="68" name="Shape 58"/>
          <p:cNvSpPr/>
          <p:nvPr/>
        </p:nvSpPr>
        <p:spPr>
          <a:xfrm>
            <a:off x="6995160" y="2359152"/>
            <a:ext cx="1947672" cy="1261872"/>
          </a:xfrm>
          <a:prstGeom prst="rect">
            <a:avLst/>
          </a:prstGeom>
          <a:solidFill>
            <a:srgbClr val="13253D"/>
          </a:solidFill>
          <a:ln/>
        </p:spPr>
      </p:sp>
      <p:sp>
        <p:nvSpPr>
          <p:cNvPr id="69" name="Shape 59"/>
          <p:cNvSpPr/>
          <p:nvPr/>
        </p:nvSpPr>
        <p:spPr>
          <a:xfrm>
            <a:off x="6995160" y="2359152"/>
            <a:ext cx="1947672" cy="45720"/>
          </a:xfrm>
          <a:prstGeom prst="rect">
            <a:avLst/>
          </a:prstGeom>
          <a:solidFill>
            <a:srgbClr val="D4A843"/>
          </a:solidFill>
          <a:ln/>
        </p:spPr>
      </p:sp>
      <p:pic>
        <p:nvPicPr>
          <p:cNvPr id="70" name="Image 8" descr="preencoded.png">    </p:cNvPr>
          <p:cNvPicPr>
            <a:picLocks noChangeAspect="1"/>
          </p:cNvPicPr>
          <p:nvPr/>
        </p:nvPicPr>
        <p:blipFill>
          <a:blip r:embed="rId9"/>
          <a:stretch>
            <a:fillRect/>
          </a:stretch>
        </p:blipFill>
        <p:spPr>
          <a:xfrm>
            <a:off x="7749540" y="2432304"/>
            <a:ext cx="438912" cy="438912"/>
          </a:xfrm>
          <a:prstGeom prst="rect">
            <a:avLst/>
          </a:prstGeom>
        </p:spPr>
      </p:pic>
      <p:sp>
        <p:nvSpPr>
          <p:cNvPr id="71" name="Text 60"/>
          <p:cNvSpPr/>
          <p:nvPr/>
        </p:nvSpPr>
        <p:spPr>
          <a:xfrm>
            <a:off x="6995160" y="2907792"/>
            <a:ext cx="1947672" cy="347472"/>
          </a:xfrm>
          <a:prstGeom prst="rect">
            <a:avLst/>
          </a:prstGeom>
          <a:noFill/>
          <a:ln/>
        </p:spPr>
        <p:txBody>
          <a:bodyPr wrap="square" lIns="0" tIns="0" rIns="0" bIns="0" rtlCol="0" anchor="ctr"/>
          <a:lstStyle/>
          <a:p>
            <a:pPr algn="ctr" indent="0" marL="0">
              <a:buNone/>
            </a:pPr>
            <a:r>
              <a:rPr lang="en-US" sz="1500" b="1" dirty="0">
                <a:solidFill>
                  <a:srgbClr val="D4A843"/>
                </a:solidFill>
              </a:rPr>
              <a:t>HSM</a:t>
            </a:r>
            <a:endParaRPr lang="en-US" sz="1500" dirty="0"/>
          </a:p>
        </p:txBody>
      </p:sp>
      <p:sp>
        <p:nvSpPr>
          <p:cNvPr id="72" name="Text 61"/>
          <p:cNvSpPr/>
          <p:nvPr/>
        </p:nvSpPr>
        <p:spPr>
          <a:xfrm>
            <a:off x="6995160" y="3227832"/>
            <a:ext cx="1947672" cy="274320"/>
          </a:xfrm>
          <a:prstGeom prst="rect">
            <a:avLst/>
          </a:prstGeom>
          <a:noFill/>
          <a:ln/>
        </p:spPr>
        <p:txBody>
          <a:bodyPr wrap="square" lIns="0" tIns="0" rIns="0" bIns="0" rtlCol="0" anchor="ctr"/>
          <a:lstStyle/>
          <a:p>
            <a:pPr algn="ctr" indent="0" marL="0">
              <a:buNone/>
            </a:pPr>
            <a:r>
              <a:rPr lang="en-US" sz="850" dirty="0">
                <a:solidFill>
                  <a:srgbClr val="7A95A8"/>
                </a:solidFill>
              </a:rPr>
              <a:t>Gestion sécurisée des clés</a:t>
            </a:r>
            <a:endParaRPr lang="en-US" sz="850" dirty="0"/>
          </a:p>
        </p:txBody>
      </p:sp>
      <p:sp>
        <p:nvSpPr>
          <p:cNvPr id="73" name="Shape 62"/>
          <p:cNvSpPr/>
          <p:nvPr/>
        </p:nvSpPr>
        <p:spPr>
          <a:xfrm>
            <a:off x="6995160" y="3730752"/>
            <a:ext cx="1947672" cy="676656"/>
          </a:xfrm>
          <a:prstGeom prst="rect">
            <a:avLst/>
          </a:prstGeom>
          <a:solidFill>
            <a:srgbClr val="0A0000"/>
          </a:solidFill>
          <a:ln w="15240">
            <a:solidFill>
              <a:srgbClr val="E74C3C"/>
            </a:solidFill>
            <a:prstDash val="solid"/>
          </a:ln>
        </p:spPr>
      </p:sp>
      <p:sp>
        <p:nvSpPr>
          <p:cNvPr id="74" name="Text 63"/>
          <p:cNvSpPr/>
          <p:nvPr/>
        </p:nvSpPr>
        <p:spPr>
          <a:xfrm>
            <a:off x="6995160" y="3749040"/>
            <a:ext cx="1947672" cy="640080"/>
          </a:xfrm>
          <a:prstGeom prst="rect">
            <a:avLst/>
          </a:prstGeom>
          <a:noFill/>
          <a:ln/>
        </p:spPr>
        <p:txBody>
          <a:bodyPr wrap="square" lIns="0" tIns="0" rIns="0" bIns="0" rtlCol="0" anchor="ctr"/>
          <a:lstStyle/>
          <a:p>
            <a:pPr algn="ctr" indent="0" marL="0">
              <a:buNone/>
            </a:pPr>
            <a:r>
              <a:rPr lang="en-US" sz="900" dirty="0">
                <a:solidFill>
                  <a:srgbClr val="E74C3C"/>
                </a:solidFill>
              </a:rPr>
              <a:t>⛔ Aucun accès direct</a:t>
            </a:r>
            <a:endParaRPr lang="en-US" sz="900" dirty="0"/>
          </a:p>
          <a:p>
            <a:pPr algn="ctr" indent="0" marL="0">
              <a:buNone/>
            </a:pPr>
            <a:r>
              <a:rPr lang="en-US" sz="900" dirty="0">
                <a:solidFill>
                  <a:srgbClr val="E74C3C"/>
                </a:solidFill>
              </a:rPr>
              <a:t>Backend uniquement</a:t>
            </a:r>
            <a:endParaRPr lang="en-US" sz="900" dirty="0"/>
          </a:p>
        </p:txBody>
      </p:sp>
      <p:sp>
        <p:nvSpPr>
          <p:cNvPr id="75" name="Shape 64"/>
          <p:cNvSpPr/>
          <p:nvPr/>
        </p:nvSpPr>
        <p:spPr>
          <a:xfrm>
            <a:off x="0" y="4617720"/>
            <a:ext cx="9144000" cy="525780"/>
          </a:xfrm>
          <a:prstGeom prst="rect">
            <a:avLst/>
          </a:prstGeom>
          <a:solidFill>
            <a:srgbClr val="1E3A5F"/>
          </a:solidFill>
          <a:ln/>
        </p:spPr>
      </p:sp>
      <p:sp>
        <p:nvSpPr>
          <p:cNvPr id="76" name="Text 65"/>
          <p:cNvSpPr/>
          <p:nvPr/>
        </p:nvSpPr>
        <p:spPr>
          <a:xfrm>
            <a:off x="228600" y="4663440"/>
            <a:ext cx="822960" cy="411480"/>
          </a:xfrm>
          <a:prstGeom prst="rect">
            <a:avLst/>
          </a:prstGeom>
          <a:noFill/>
          <a:ln/>
        </p:spPr>
        <p:txBody>
          <a:bodyPr wrap="square" lIns="0" tIns="0" rIns="0" bIns="0" rtlCol="0" anchor="ctr"/>
          <a:lstStyle/>
          <a:p>
            <a:pPr algn="l" indent="0" marL="0">
              <a:buNone/>
            </a:pPr>
            <a:r>
              <a:rPr lang="en-US" sz="900" b="1" dirty="0">
                <a:solidFill>
                  <a:srgbClr val="7A95A8"/>
                </a:solidFill>
              </a:rPr>
              <a:t>Légende :</a:t>
            </a:r>
            <a:endParaRPr lang="en-US" sz="900" dirty="0"/>
          </a:p>
        </p:txBody>
      </p:sp>
      <p:sp>
        <p:nvSpPr>
          <p:cNvPr id="77" name="Text 66"/>
          <p:cNvSpPr/>
          <p:nvPr/>
        </p:nvSpPr>
        <p:spPr>
          <a:xfrm>
            <a:off x="1097280" y="4663440"/>
            <a:ext cx="1920240" cy="411480"/>
          </a:xfrm>
          <a:prstGeom prst="rect">
            <a:avLst/>
          </a:prstGeom>
          <a:noFill/>
          <a:ln/>
        </p:spPr>
        <p:txBody>
          <a:bodyPr wrap="square" lIns="0" tIns="0" rIns="0" bIns="0" rtlCol="0" anchor="ctr"/>
          <a:lstStyle/>
          <a:p>
            <a:pPr algn="l" indent="0" marL="0">
              <a:buNone/>
            </a:pPr>
            <a:r>
              <a:rPr lang="en-US" sz="900" b="1" dirty="0">
                <a:solidFill>
                  <a:srgbClr val="0D9488"/>
                </a:solidFill>
              </a:rPr>
              <a:t>TLS 1.3</a:t>
            </a:r>
            <a:pPr algn="l" indent="0" marL="0">
              <a:buNone/>
            </a:pPr>
            <a:r>
              <a:rPr lang="en-US" sz="900" dirty="0">
                <a:solidFill>
                  <a:srgbClr val="7A95A8"/>
                </a:solidFill>
              </a:rPr>
              <a:t> Chiffrement en transit</a:t>
            </a:r>
            <a:endParaRPr lang="en-US" sz="900" dirty="0"/>
          </a:p>
        </p:txBody>
      </p:sp>
      <p:sp>
        <p:nvSpPr>
          <p:cNvPr id="78" name="Text 67"/>
          <p:cNvSpPr/>
          <p:nvPr/>
        </p:nvSpPr>
        <p:spPr>
          <a:xfrm>
            <a:off x="3108960" y="4663440"/>
            <a:ext cx="1920240" cy="411480"/>
          </a:xfrm>
          <a:prstGeom prst="rect">
            <a:avLst/>
          </a:prstGeom>
          <a:noFill/>
          <a:ln/>
        </p:spPr>
        <p:txBody>
          <a:bodyPr wrap="square" lIns="0" tIns="0" rIns="0" bIns="0" rtlCol="0" anchor="ctr"/>
          <a:lstStyle/>
          <a:p>
            <a:pPr algn="l" indent="0" marL="0">
              <a:buNone/>
            </a:pPr>
            <a:r>
              <a:rPr lang="en-US" sz="900" b="1" dirty="0">
                <a:solidFill>
                  <a:srgbClr val="27AE60"/>
                </a:solidFill>
              </a:rPr>
              <a:t>AES-256</a:t>
            </a:r>
            <a:pPr algn="l" indent="0" marL="0">
              <a:buNone/>
            </a:pPr>
            <a:r>
              <a:rPr lang="en-US" sz="900" dirty="0">
                <a:solidFill>
                  <a:srgbClr val="7A95A8"/>
                </a:solidFill>
              </a:rPr>
              <a:t> Chiffrement au repos</a:t>
            </a:r>
            <a:endParaRPr lang="en-US" sz="900" dirty="0"/>
          </a:p>
        </p:txBody>
      </p:sp>
      <p:sp>
        <p:nvSpPr>
          <p:cNvPr id="79" name="Text 68"/>
          <p:cNvSpPr/>
          <p:nvPr/>
        </p:nvSpPr>
        <p:spPr>
          <a:xfrm>
            <a:off x="5120640" y="4663440"/>
            <a:ext cx="1920240" cy="411480"/>
          </a:xfrm>
          <a:prstGeom prst="rect">
            <a:avLst/>
          </a:prstGeom>
          <a:noFill/>
          <a:ln/>
        </p:spPr>
        <p:txBody>
          <a:bodyPr wrap="square" lIns="0" tIns="0" rIns="0" bIns="0" rtlCol="0" anchor="ctr"/>
          <a:lstStyle/>
          <a:p>
            <a:pPr algn="l" indent="0" marL="0">
              <a:buNone/>
            </a:pPr>
            <a:r>
              <a:rPr lang="en-US" sz="900" b="1" dirty="0">
                <a:solidFill>
                  <a:srgbClr val="D4A843"/>
                </a:solidFill>
              </a:rPr>
              <a:t>JWT</a:t>
            </a:r>
            <a:pPr algn="l" indent="0" marL="0">
              <a:buNone/>
            </a:pPr>
            <a:r>
              <a:rPr lang="en-US" sz="900" dirty="0">
                <a:solidFill>
                  <a:srgbClr val="7A95A8"/>
                </a:solidFill>
              </a:rPr>
              <a:t> Token d'authentification</a:t>
            </a:r>
            <a:endParaRPr lang="en-US" sz="900" dirty="0"/>
          </a:p>
        </p:txBody>
      </p:sp>
      <p:sp>
        <p:nvSpPr>
          <p:cNvPr id="80" name="Text 69"/>
          <p:cNvSpPr/>
          <p:nvPr/>
        </p:nvSpPr>
        <p:spPr>
          <a:xfrm>
            <a:off x="7132320" y="4663440"/>
            <a:ext cx="1920240" cy="411480"/>
          </a:xfrm>
          <a:prstGeom prst="rect">
            <a:avLst/>
          </a:prstGeom>
          <a:noFill/>
          <a:ln/>
        </p:spPr>
        <p:txBody>
          <a:bodyPr wrap="square" lIns="0" tIns="0" rIns="0" bIns="0" rtlCol="0" anchor="ctr"/>
          <a:lstStyle/>
          <a:p>
            <a:pPr algn="l" indent="0" marL="0">
              <a:buNone/>
            </a:pPr>
            <a:r>
              <a:rPr lang="en-US" sz="900" b="1" dirty="0">
                <a:solidFill>
                  <a:srgbClr val="E74C3C"/>
                </a:solidFill>
              </a:rPr>
              <a:t>HSM</a:t>
            </a:r>
            <a:pPr algn="l" indent="0" marL="0">
              <a:buNone/>
            </a:pPr>
            <a:r>
              <a:rPr lang="en-US" sz="900" dirty="0">
                <a:solidFill>
                  <a:srgbClr val="7A95A8"/>
                </a:solidFill>
              </a:rPr>
              <a:t> Module de clés matériel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p:spPr>
      </p:sp>
      <p:sp>
        <p:nvSpPr>
          <p:cNvPr id="3" name="Shape 1"/>
          <p:cNvSpPr/>
          <p:nvPr/>
        </p:nvSpPr>
        <p:spPr>
          <a:xfrm>
            <a:off x="457200" y="164592"/>
            <a:ext cx="1682496"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4" name="Text 2"/>
          <p:cNvSpPr/>
          <p:nvPr/>
        </p:nvSpPr>
        <p:spPr>
          <a:xfrm>
            <a:off x="457200" y="164592"/>
            <a:ext cx="1682496" cy="256032"/>
          </a:xfrm>
          <a:prstGeom prst="rect">
            <a:avLst/>
          </a:prstGeom>
          <a:noFill/>
          <a:ln/>
        </p:spPr>
        <p:txBody>
          <a:bodyPr wrap="square" lIns="0" tIns="0" rIns="0" bIns="0" rtlCol="0" anchor="ctr"/>
          <a:lstStyle/>
          <a:p>
            <a:pPr algn="ctr" indent="0" marL="0">
              <a:buNone/>
            </a:pPr>
            <a:r>
              <a:rPr lang="en-US" sz="900" b="1" dirty="0">
                <a:solidFill>
                  <a:srgbClr val="0D1B2A"/>
                </a:solidFill>
              </a:rPr>
              <a:t>UTILISATEURS</a:t>
            </a:r>
            <a:endParaRPr lang="en-US" sz="900" dirty="0"/>
          </a:p>
        </p:txBody>
      </p:sp>
      <p:sp>
        <p:nvSpPr>
          <p:cNvPr id="5" name="Text 3"/>
          <p:cNvSpPr/>
          <p:nvPr/>
        </p:nvSpPr>
        <p:spPr>
          <a:xfrm>
            <a:off x="182880" y="438912"/>
            <a:ext cx="877824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3 profils,</a:t>
            </a:r>
            <a:endParaRPr lang="en-US" sz="3400" dirty="0"/>
          </a:p>
          <a:p>
            <a:pPr algn="ctr" indent="0" marL="0">
              <a:buNone/>
            </a:pPr>
            <a:r>
              <a:rPr lang="en-US" sz="3400" b="1" dirty="0">
                <a:solidFill>
                  <a:srgbClr val="FFFFFF"/>
                </a:solidFill>
                <a:latin typeface="Arial Black" pitchFamily="34" charset="0"/>
                <a:ea typeface="Arial Black" pitchFamily="34" charset="-122"/>
                <a:cs typeface="Arial Black" pitchFamily="34" charset="-120"/>
              </a:rPr>
              <a:t>1 plateforme unifiée</a:t>
            </a:r>
            <a:endParaRPr lang="en-US" sz="3400" dirty="0"/>
          </a:p>
        </p:txBody>
      </p:sp>
      <p:sp>
        <p:nvSpPr>
          <p:cNvPr id="6" name="Shape 4"/>
          <p:cNvSpPr/>
          <p:nvPr/>
        </p:nvSpPr>
        <p:spPr>
          <a:xfrm>
            <a:off x="201168" y="1508760"/>
            <a:ext cx="2743200" cy="33375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7" name="Shape 5"/>
          <p:cNvSpPr/>
          <p:nvPr/>
        </p:nvSpPr>
        <p:spPr>
          <a:xfrm>
            <a:off x="201168" y="1508760"/>
            <a:ext cx="2743200" cy="54864"/>
          </a:xfrm>
          <a:prstGeom prst="rect">
            <a:avLst/>
          </a:prstGeom>
          <a:solidFill>
            <a:srgbClr val="D4A843"/>
          </a:solidFill>
          <a:ln/>
        </p:spPr>
      </p:sp>
      <p:sp>
        <p:nvSpPr>
          <p:cNvPr id="8" name="Shape 6"/>
          <p:cNvSpPr/>
          <p:nvPr/>
        </p:nvSpPr>
        <p:spPr>
          <a:xfrm>
            <a:off x="1161288" y="1627632"/>
            <a:ext cx="822960" cy="822960"/>
          </a:xfrm>
          <a:prstGeom prst="oval">
            <a:avLst/>
          </a:prstGeom>
          <a:solidFill>
            <a:srgbClr val="D4A843"/>
          </a:solidFill>
          <a:ln/>
        </p:spPr>
      </p:sp>
      <p:pic>
        <p:nvPicPr>
          <p:cNvPr id="9" name="Image 0" descr="preencoded.png">    </p:cNvPr>
          <p:cNvPicPr>
            <a:picLocks noChangeAspect="1"/>
          </p:cNvPicPr>
          <p:nvPr/>
        </p:nvPicPr>
        <p:blipFill>
          <a:blip r:embed="rId1"/>
          <a:stretch>
            <a:fillRect/>
          </a:stretch>
        </p:blipFill>
        <p:spPr>
          <a:xfrm>
            <a:off x="1252728" y="1719072"/>
            <a:ext cx="640080" cy="640080"/>
          </a:xfrm>
          <a:prstGeom prst="rect">
            <a:avLst/>
          </a:prstGeom>
        </p:spPr>
      </p:pic>
      <p:sp>
        <p:nvSpPr>
          <p:cNvPr id="10" name="Text 7"/>
          <p:cNvSpPr/>
          <p:nvPr/>
        </p:nvSpPr>
        <p:spPr>
          <a:xfrm>
            <a:off x="201168" y="2505456"/>
            <a:ext cx="2743200" cy="384048"/>
          </a:xfrm>
          <a:prstGeom prst="rect">
            <a:avLst/>
          </a:prstGeom>
          <a:noFill/>
          <a:ln/>
        </p:spPr>
        <p:txBody>
          <a:bodyPr wrap="square" lIns="0" tIns="0" rIns="0" bIns="0" rtlCol="0" anchor="ctr"/>
          <a:lstStyle/>
          <a:p>
            <a:pPr algn="ctr" indent="0" marL="0">
              <a:buNone/>
            </a:pPr>
            <a:r>
              <a:rPr lang="en-US" sz="1350" b="1" spc="100" kern="0" dirty="0">
                <a:solidFill>
                  <a:srgbClr val="D4A843"/>
                </a:solidFill>
              </a:rPr>
              <a:t>SUPERADMIN</a:t>
            </a:r>
            <a:endParaRPr lang="en-US" sz="1350" dirty="0"/>
          </a:p>
        </p:txBody>
      </p:sp>
      <p:sp>
        <p:nvSpPr>
          <p:cNvPr id="11" name="Text 8"/>
          <p:cNvSpPr/>
          <p:nvPr/>
        </p:nvSpPr>
        <p:spPr>
          <a:xfrm>
            <a:off x="201168" y="2871216"/>
            <a:ext cx="2743200" cy="292608"/>
          </a:xfrm>
          <a:prstGeom prst="rect">
            <a:avLst/>
          </a:prstGeom>
          <a:noFill/>
          <a:ln/>
        </p:spPr>
        <p:txBody>
          <a:bodyPr wrap="square" lIns="0" tIns="0" rIns="0" bIns="0" rtlCol="0" anchor="ctr"/>
          <a:lstStyle/>
          <a:p>
            <a:pPr algn="ctr" indent="0" marL="0">
              <a:buNone/>
            </a:pPr>
            <a:r>
              <a:rPr lang="en-US" sz="1100" i="1" dirty="0">
                <a:solidFill>
                  <a:srgbClr val="7A95A8"/>
                </a:solidFill>
              </a:rPr>
              <a:t>Superviseur Régional</a:t>
            </a:r>
            <a:endParaRPr lang="en-US" sz="1100" dirty="0"/>
          </a:p>
        </p:txBody>
      </p:sp>
      <p:sp>
        <p:nvSpPr>
          <p:cNvPr id="12" name="Text 9"/>
          <p:cNvSpPr/>
          <p:nvPr/>
        </p:nvSpPr>
        <p:spPr>
          <a:xfrm>
            <a:off x="338328" y="3200400"/>
            <a:ext cx="2468880" cy="30175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FFFFFF"/>
                </a:solidFill>
              </a:rPr>
              <a:t>Vision globale de la région</a:t>
            </a:r>
            <a:endParaRPr lang="en-US" sz="1150" dirty="0"/>
          </a:p>
        </p:txBody>
      </p:sp>
      <p:sp>
        <p:nvSpPr>
          <p:cNvPr id="13" name="Text 10"/>
          <p:cNvSpPr/>
          <p:nvPr/>
        </p:nvSpPr>
        <p:spPr>
          <a:xfrm>
            <a:off x="338328" y="3502152"/>
            <a:ext cx="2468880" cy="30175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FFFFFF"/>
                </a:solidFill>
              </a:rPr>
              <a:t>Supervision de tous les entrepôts</a:t>
            </a:r>
            <a:endParaRPr lang="en-US" sz="1150" dirty="0"/>
          </a:p>
        </p:txBody>
      </p:sp>
      <p:sp>
        <p:nvSpPr>
          <p:cNvPr id="14" name="Text 11"/>
          <p:cNvSpPr/>
          <p:nvPr/>
        </p:nvSpPr>
        <p:spPr>
          <a:xfrm>
            <a:off x="338328" y="3803904"/>
            <a:ext cx="2468880" cy="30175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FFFFFF"/>
                </a:solidFill>
              </a:rPr>
              <a:t>Journalisation de toutes les actions</a:t>
            </a:r>
            <a:endParaRPr lang="en-US" sz="1150" dirty="0"/>
          </a:p>
        </p:txBody>
      </p:sp>
      <p:sp>
        <p:nvSpPr>
          <p:cNvPr id="15" name="Text 12"/>
          <p:cNvSpPr/>
          <p:nvPr/>
        </p:nvSpPr>
        <p:spPr>
          <a:xfrm>
            <a:off x="338328" y="4105656"/>
            <a:ext cx="2468880" cy="301752"/>
          </a:xfrm>
          <a:prstGeom prst="rect">
            <a:avLst/>
          </a:prstGeom>
          <a:noFill/>
          <a:ln/>
        </p:spPr>
        <p:txBody>
          <a:bodyPr wrap="square" lIns="0" tIns="0" rIns="0" bIns="0" rtlCol="0" anchor="ctr"/>
          <a:lstStyle/>
          <a:p>
            <a:pPr indent="0" marL="0">
              <a:buNone/>
            </a:pPr>
            <a:r>
              <a:rPr lang="en-US" sz="1150" b="1" dirty="0">
                <a:solidFill>
                  <a:srgbClr val="D4A843"/>
                </a:solidFill>
              </a:rPr>
              <a:t>✓  </a:t>
            </a:r>
            <a:pPr indent="0" marL="0">
              <a:buNone/>
            </a:pPr>
            <a:r>
              <a:rPr lang="en-US" sz="1150" dirty="0">
                <a:solidFill>
                  <a:srgbClr val="FFFFFF"/>
                </a:solidFill>
              </a:rPr>
              <a:t>Rapports &amp; statistiques</a:t>
            </a:r>
            <a:endParaRPr lang="en-US" sz="1150" dirty="0"/>
          </a:p>
        </p:txBody>
      </p:sp>
      <p:sp>
        <p:nvSpPr>
          <p:cNvPr id="16" name="Shape 13"/>
          <p:cNvSpPr/>
          <p:nvPr/>
        </p:nvSpPr>
        <p:spPr>
          <a:xfrm>
            <a:off x="521208" y="4544568"/>
            <a:ext cx="2103120" cy="256032"/>
          </a:xfrm>
          <a:prstGeom prst="rect">
            <a:avLst/>
          </a:prstGeom>
          <a:solidFill>
            <a:srgbClr val="1E3A5F"/>
          </a:solidFill>
          <a:ln/>
        </p:spPr>
      </p:sp>
      <p:sp>
        <p:nvSpPr>
          <p:cNvPr id="17" name="Text 14"/>
          <p:cNvSpPr/>
          <p:nvPr/>
        </p:nvSpPr>
        <p:spPr>
          <a:xfrm>
            <a:off x="521208" y="4544568"/>
            <a:ext cx="2103120" cy="256032"/>
          </a:xfrm>
          <a:prstGeom prst="rect">
            <a:avLst/>
          </a:prstGeom>
          <a:noFill/>
          <a:ln/>
        </p:spPr>
        <p:txBody>
          <a:bodyPr wrap="square" lIns="0" tIns="0" rIns="0" bIns="0" rtlCol="0" anchor="ctr"/>
          <a:lstStyle/>
          <a:p>
            <a:pPr algn="ctr" indent="0" marL="0">
              <a:buNone/>
            </a:pPr>
            <a:r>
              <a:rPr lang="en-US" sz="1000" dirty="0">
                <a:solidFill>
                  <a:srgbClr val="D4A843"/>
                </a:solidFill>
              </a:rPr>
              <a:t>Application Web</a:t>
            </a:r>
            <a:endParaRPr lang="en-US" sz="1000" dirty="0"/>
          </a:p>
        </p:txBody>
      </p:sp>
      <p:sp>
        <p:nvSpPr>
          <p:cNvPr id="18" name="Shape 15"/>
          <p:cNvSpPr/>
          <p:nvPr/>
        </p:nvSpPr>
        <p:spPr>
          <a:xfrm>
            <a:off x="3182112" y="1508760"/>
            <a:ext cx="2743200" cy="33375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9" name="Shape 16"/>
          <p:cNvSpPr/>
          <p:nvPr/>
        </p:nvSpPr>
        <p:spPr>
          <a:xfrm>
            <a:off x="3182112" y="1508760"/>
            <a:ext cx="2743200" cy="54864"/>
          </a:xfrm>
          <a:prstGeom prst="rect">
            <a:avLst/>
          </a:prstGeom>
          <a:solidFill>
            <a:srgbClr val="3498DB"/>
          </a:solidFill>
          <a:ln/>
        </p:spPr>
      </p:sp>
      <p:sp>
        <p:nvSpPr>
          <p:cNvPr id="20" name="Shape 17"/>
          <p:cNvSpPr/>
          <p:nvPr/>
        </p:nvSpPr>
        <p:spPr>
          <a:xfrm>
            <a:off x="4142232" y="1627632"/>
            <a:ext cx="822960" cy="822960"/>
          </a:xfrm>
          <a:prstGeom prst="oval">
            <a:avLst/>
          </a:prstGeom>
          <a:solidFill>
            <a:srgbClr val="3498DB"/>
          </a:solidFill>
          <a:ln/>
        </p:spPr>
      </p:sp>
      <p:pic>
        <p:nvPicPr>
          <p:cNvPr id="21" name="Image 1" descr="preencoded.png">    </p:cNvPr>
          <p:cNvPicPr>
            <a:picLocks noChangeAspect="1"/>
          </p:cNvPicPr>
          <p:nvPr/>
        </p:nvPicPr>
        <p:blipFill>
          <a:blip r:embed="rId2"/>
          <a:stretch>
            <a:fillRect/>
          </a:stretch>
        </p:blipFill>
        <p:spPr>
          <a:xfrm>
            <a:off x="4233672" y="1719072"/>
            <a:ext cx="640080" cy="640080"/>
          </a:xfrm>
          <a:prstGeom prst="rect">
            <a:avLst/>
          </a:prstGeom>
        </p:spPr>
      </p:pic>
      <p:sp>
        <p:nvSpPr>
          <p:cNvPr id="22" name="Text 18"/>
          <p:cNvSpPr/>
          <p:nvPr/>
        </p:nvSpPr>
        <p:spPr>
          <a:xfrm>
            <a:off x="3182112" y="2505456"/>
            <a:ext cx="2743200" cy="384048"/>
          </a:xfrm>
          <a:prstGeom prst="rect">
            <a:avLst/>
          </a:prstGeom>
          <a:noFill/>
          <a:ln/>
        </p:spPr>
        <p:txBody>
          <a:bodyPr wrap="square" lIns="0" tIns="0" rIns="0" bIns="0" rtlCol="0" anchor="ctr"/>
          <a:lstStyle/>
          <a:p>
            <a:pPr algn="ctr" indent="0" marL="0">
              <a:buNone/>
            </a:pPr>
            <a:r>
              <a:rPr lang="en-US" sz="1350" b="1" spc="100" kern="0" dirty="0">
                <a:solidFill>
                  <a:srgbClr val="3498DB"/>
                </a:solidFill>
              </a:rPr>
              <a:t>ADMIN ENTREPÔT</a:t>
            </a:r>
            <a:endParaRPr lang="en-US" sz="1350" dirty="0"/>
          </a:p>
        </p:txBody>
      </p:sp>
      <p:sp>
        <p:nvSpPr>
          <p:cNvPr id="23" name="Text 19"/>
          <p:cNvSpPr/>
          <p:nvPr/>
        </p:nvSpPr>
        <p:spPr>
          <a:xfrm>
            <a:off x="3182112" y="2871216"/>
            <a:ext cx="2743200" cy="292608"/>
          </a:xfrm>
          <a:prstGeom prst="rect">
            <a:avLst/>
          </a:prstGeom>
          <a:noFill/>
          <a:ln/>
        </p:spPr>
        <p:txBody>
          <a:bodyPr wrap="square" lIns="0" tIns="0" rIns="0" bIns="0" rtlCol="0" anchor="ctr"/>
          <a:lstStyle/>
          <a:p>
            <a:pPr algn="ctr" indent="0" marL="0">
              <a:buNone/>
            </a:pPr>
            <a:r>
              <a:rPr lang="en-US" sz="1100" i="1" dirty="0">
                <a:solidFill>
                  <a:srgbClr val="7A95A8"/>
                </a:solidFill>
              </a:rPr>
              <a:t>Gestionnaire de site</a:t>
            </a:r>
            <a:endParaRPr lang="en-US" sz="1100" dirty="0"/>
          </a:p>
        </p:txBody>
      </p:sp>
      <p:sp>
        <p:nvSpPr>
          <p:cNvPr id="24" name="Text 20"/>
          <p:cNvSpPr/>
          <p:nvPr/>
        </p:nvSpPr>
        <p:spPr>
          <a:xfrm>
            <a:off x="3319272" y="3200400"/>
            <a:ext cx="2468880" cy="30175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FFFFFF"/>
                </a:solidFill>
              </a:rPr>
              <a:t>Gestion des stocks en temps réel</a:t>
            </a:r>
            <a:endParaRPr lang="en-US" sz="1150" dirty="0"/>
          </a:p>
        </p:txBody>
      </p:sp>
      <p:sp>
        <p:nvSpPr>
          <p:cNvPr id="25" name="Text 21"/>
          <p:cNvSpPr/>
          <p:nvPr/>
        </p:nvSpPr>
        <p:spPr>
          <a:xfrm>
            <a:off x="3319272" y="3502152"/>
            <a:ext cx="2468880" cy="30175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FFFFFF"/>
                </a:solidFill>
              </a:rPr>
              <a:t>Assignation des missions</a:t>
            </a:r>
            <a:endParaRPr lang="en-US" sz="1150" dirty="0"/>
          </a:p>
        </p:txBody>
      </p:sp>
      <p:sp>
        <p:nvSpPr>
          <p:cNvPr id="26" name="Text 22"/>
          <p:cNvSpPr/>
          <p:nvPr/>
        </p:nvSpPr>
        <p:spPr>
          <a:xfrm>
            <a:off x="3319272" y="3803904"/>
            <a:ext cx="2468880" cy="30175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FFFFFF"/>
                </a:solidFill>
              </a:rPr>
              <a:t>Suivi GPS des distributeurs</a:t>
            </a:r>
            <a:endParaRPr lang="en-US" sz="1150" dirty="0"/>
          </a:p>
        </p:txBody>
      </p:sp>
      <p:sp>
        <p:nvSpPr>
          <p:cNvPr id="27" name="Text 23"/>
          <p:cNvSpPr/>
          <p:nvPr/>
        </p:nvSpPr>
        <p:spPr>
          <a:xfrm>
            <a:off x="3319272" y="4105656"/>
            <a:ext cx="2468880" cy="301752"/>
          </a:xfrm>
          <a:prstGeom prst="rect">
            <a:avLst/>
          </a:prstGeom>
          <a:noFill/>
          <a:ln/>
        </p:spPr>
        <p:txBody>
          <a:bodyPr wrap="square" lIns="0" tIns="0" rIns="0" bIns="0" rtlCol="0" anchor="ctr"/>
          <a:lstStyle/>
          <a:p>
            <a:pPr indent="0" marL="0">
              <a:buNone/>
            </a:pPr>
            <a:r>
              <a:rPr lang="en-US" sz="1150" b="1" dirty="0">
                <a:solidFill>
                  <a:srgbClr val="3498DB"/>
                </a:solidFill>
              </a:rPr>
              <a:t>✓  </a:t>
            </a:r>
            <a:pPr indent="0" marL="0">
              <a:buNone/>
            </a:pPr>
            <a:r>
              <a:rPr lang="en-US" sz="1150" dirty="0">
                <a:solidFill>
                  <a:srgbClr val="FFFFFF"/>
                </a:solidFill>
              </a:rPr>
              <a:t>Validation des livraisons</a:t>
            </a:r>
            <a:endParaRPr lang="en-US" sz="1150" dirty="0"/>
          </a:p>
        </p:txBody>
      </p:sp>
      <p:sp>
        <p:nvSpPr>
          <p:cNvPr id="28" name="Shape 24"/>
          <p:cNvSpPr/>
          <p:nvPr/>
        </p:nvSpPr>
        <p:spPr>
          <a:xfrm>
            <a:off x="3502152" y="4544568"/>
            <a:ext cx="2103120" cy="256032"/>
          </a:xfrm>
          <a:prstGeom prst="rect">
            <a:avLst/>
          </a:prstGeom>
          <a:solidFill>
            <a:srgbClr val="1E3A5F"/>
          </a:solidFill>
          <a:ln/>
        </p:spPr>
      </p:sp>
      <p:sp>
        <p:nvSpPr>
          <p:cNvPr id="29" name="Text 25"/>
          <p:cNvSpPr/>
          <p:nvPr/>
        </p:nvSpPr>
        <p:spPr>
          <a:xfrm>
            <a:off x="3502152" y="4544568"/>
            <a:ext cx="2103120" cy="256032"/>
          </a:xfrm>
          <a:prstGeom prst="rect">
            <a:avLst/>
          </a:prstGeom>
          <a:noFill/>
          <a:ln/>
        </p:spPr>
        <p:txBody>
          <a:bodyPr wrap="square" lIns="0" tIns="0" rIns="0" bIns="0" rtlCol="0" anchor="ctr"/>
          <a:lstStyle/>
          <a:p>
            <a:pPr algn="ctr" indent="0" marL="0">
              <a:buNone/>
            </a:pPr>
            <a:r>
              <a:rPr lang="en-US" sz="1000" dirty="0">
                <a:solidFill>
                  <a:srgbClr val="3498DB"/>
                </a:solidFill>
              </a:rPr>
              <a:t>Application Web</a:t>
            </a:r>
            <a:endParaRPr lang="en-US" sz="1000" dirty="0"/>
          </a:p>
        </p:txBody>
      </p:sp>
      <p:sp>
        <p:nvSpPr>
          <p:cNvPr id="30" name="Shape 26"/>
          <p:cNvSpPr/>
          <p:nvPr/>
        </p:nvSpPr>
        <p:spPr>
          <a:xfrm>
            <a:off x="6163056" y="1508760"/>
            <a:ext cx="2743200" cy="333756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31" name="Shape 27"/>
          <p:cNvSpPr/>
          <p:nvPr/>
        </p:nvSpPr>
        <p:spPr>
          <a:xfrm>
            <a:off x="6163056" y="1508760"/>
            <a:ext cx="2743200" cy="54864"/>
          </a:xfrm>
          <a:prstGeom prst="rect">
            <a:avLst/>
          </a:prstGeom>
          <a:solidFill>
            <a:srgbClr val="27AE60"/>
          </a:solidFill>
          <a:ln/>
        </p:spPr>
      </p:sp>
      <p:sp>
        <p:nvSpPr>
          <p:cNvPr id="32" name="Shape 28"/>
          <p:cNvSpPr/>
          <p:nvPr/>
        </p:nvSpPr>
        <p:spPr>
          <a:xfrm>
            <a:off x="7123176" y="1627632"/>
            <a:ext cx="822960" cy="822960"/>
          </a:xfrm>
          <a:prstGeom prst="oval">
            <a:avLst/>
          </a:prstGeom>
          <a:solidFill>
            <a:srgbClr val="27AE60"/>
          </a:solidFill>
          <a:ln/>
        </p:spPr>
      </p:sp>
      <p:pic>
        <p:nvPicPr>
          <p:cNvPr id="33" name="Image 2" descr="preencoded.png">    </p:cNvPr>
          <p:cNvPicPr>
            <a:picLocks noChangeAspect="1"/>
          </p:cNvPicPr>
          <p:nvPr/>
        </p:nvPicPr>
        <p:blipFill>
          <a:blip r:embed="rId3"/>
          <a:stretch>
            <a:fillRect/>
          </a:stretch>
        </p:blipFill>
        <p:spPr>
          <a:xfrm>
            <a:off x="7214616" y="1719072"/>
            <a:ext cx="640080" cy="640080"/>
          </a:xfrm>
          <a:prstGeom prst="rect">
            <a:avLst/>
          </a:prstGeom>
        </p:spPr>
      </p:pic>
      <p:sp>
        <p:nvSpPr>
          <p:cNvPr id="34" name="Text 29"/>
          <p:cNvSpPr/>
          <p:nvPr/>
        </p:nvSpPr>
        <p:spPr>
          <a:xfrm>
            <a:off x="6163056" y="2505456"/>
            <a:ext cx="2743200" cy="384048"/>
          </a:xfrm>
          <a:prstGeom prst="rect">
            <a:avLst/>
          </a:prstGeom>
          <a:noFill/>
          <a:ln/>
        </p:spPr>
        <p:txBody>
          <a:bodyPr wrap="square" lIns="0" tIns="0" rIns="0" bIns="0" rtlCol="0" anchor="ctr"/>
          <a:lstStyle/>
          <a:p>
            <a:pPr algn="ctr" indent="0" marL="0">
              <a:buNone/>
            </a:pPr>
            <a:r>
              <a:rPr lang="en-US" sz="1350" b="1" spc="100" kern="0" dirty="0">
                <a:solidFill>
                  <a:srgbClr val="27AE60"/>
                </a:solidFill>
              </a:rPr>
              <a:t>DISTRIBUTEUR</a:t>
            </a:r>
            <a:endParaRPr lang="en-US" sz="1350" dirty="0"/>
          </a:p>
        </p:txBody>
      </p:sp>
      <p:sp>
        <p:nvSpPr>
          <p:cNvPr id="35" name="Text 30"/>
          <p:cNvSpPr/>
          <p:nvPr/>
        </p:nvSpPr>
        <p:spPr>
          <a:xfrm>
            <a:off x="6163056" y="2871216"/>
            <a:ext cx="2743200" cy="292608"/>
          </a:xfrm>
          <a:prstGeom prst="rect">
            <a:avLst/>
          </a:prstGeom>
          <a:noFill/>
          <a:ln/>
        </p:spPr>
        <p:txBody>
          <a:bodyPr wrap="square" lIns="0" tIns="0" rIns="0" bIns="0" rtlCol="0" anchor="ctr"/>
          <a:lstStyle/>
          <a:p>
            <a:pPr algn="ctr" indent="0" marL="0">
              <a:buNone/>
            </a:pPr>
            <a:r>
              <a:rPr lang="en-US" sz="1100" i="1" dirty="0">
                <a:solidFill>
                  <a:srgbClr val="7A95A8"/>
                </a:solidFill>
              </a:rPr>
              <a:t>Agent terrain mobile</a:t>
            </a:r>
            <a:endParaRPr lang="en-US" sz="1100" dirty="0"/>
          </a:p>
        </p:txBody>
      </p:sp>
      <p:sp>
        <p:nvSpPr>
          <p:cNvPr id="36" name="Text 31"/>
          <p:cNvSpPr/>
          <p:nvPr/>
        </p:nvSpPr>
        <p:spPr>
          <a:xfrm>
            <a:off x="6300216" y="3200400"/>
            <a:ext cx="2468880" cy="30175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FFFFFF"/>
                </a:solidFill>
              </a:rPr>
              <a:t>Authentification biométrique</a:t>
            </a:r>
            <a:endParaRPr lang="en-US" sz="1150" dirty="0"/>
          </a:p>
        </p:txBody>
      </p:sp>
      <p:sp>
        <p:nvSpPr>
          <p:cNvPr id="37" name="Text 32"/>
          <p:cNvSpPr/>
          <p:nvPr/>
        </p:nvSpPr>
        <p:spPr>
          <a:xfrm>
            <a:off x="6300216" y="3502152"/>
            <a:ext cx="2468880" cy="30175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FFFFFF"/>
                </a:solidFill>
              </a:rPr>
              <a:t>Missions &amp; navigation GPS</a:t>
            </a:r>
            <a:endParaRPr lang="en-US" sz="1150" dirty="0"/>
          </a:p>
        </p:txBody>
      </p:sp>
      <p:sp>
        <p:nvSpPr>
          <p:cNvPr id="38" name="Text 33"/>
          <p:cNvSpPr/>
          <p:nvPr/>
        </p:nvSpPr>
        <p:spPr>
          <a:xfrm>
            <a:off x="6300216" y="3803904"/>
            <a:ext cx="2468880" cy="30175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FFFFFF"/>
                </a:solidFill>
              </a:rPr>
              <a:t>Mode hors-ligne (offline-first)</a:t>
            </a:r>
            <a:endParaRPr lang="en-US" sz="1150" dirty="0"/>
          </a:p>
        </p:txBody>
      </p:sp>
      <p:sp>
        <p:nvSpPr>
          <p:cNvPr id="39" name="Text 34"/>
          <p:cNvSpPr/>
          <p:nvPr/>
        </p:nvSpPr>
        <p:spPr>
          <a:xfrm>
            <a:off x="6300216" y="4105656"/>
            <a:ext cx="2468880" cy="301752"/>
          </a:xfrm>
          <a:prstGeom prst="rect">
            <a:avLst/>
          </a:prstGeom>
          <a:noFill/>
          <a:ln/>
        </p:spPr>
        <p:txBody>
          <a:bodyPr wrap="square" lIns="0" tIns="0" rIns="0" bIns="0" rtlCol="0" anchor="ctr"/>
          <a:lstStyle/>
          <a:p>
            <a:pPr indent="0" marL="0">
              <a:buNone/>
            </a:pPr>
            <a:r>
              <a:rPr lang="en-US" sz="1150" b="1" dirty="0">
                <a:solidFill>
                  <a:srgbClr val="27AE60"/>
                </a:solidFill>
              </a:rPr>
              <a:t>✓  </a:t>
            </a:r>
            <a:pPr indent="0" marL="0">
              <a:buNone/>
            </a:pPr>
            <a:r>
              <a:rPr lang="en-US" sz="1150" dirty="0">
                <a:solidFill>
                  <a:srgbClr val="FFFFFF"/>
                </a:solidFill>
              </a:rPr>
              <a:t>Bordeaux numériques signés</a:t>
            </a:r>
            <a:endParaRPr lang="en-US" sz="1150" dirty="0"/>
          </a:p>
        </p:txBody>
      </p:sp>
      <p:sp>
        <p:nvSpPr>
          <p:cNvPr id="40" name="Shape 35"/>
          <p:cNvSpPr/>
          <p:nvPr/>
        </p:nvSpPr>
        <p:spPr>
          <a:xfrm>
            <a:off x="6483096" y="4544568"/>
            <a:ext cx="2103120" cy="256032"/>
          </a:xfrm>
          <a:prstGeom prst="rect">
            <a:avLst/>
          </a:prstGeom>
          <a:solidFill>
            <a:srgbClr val="1E3A5F"/>
          </a:solidFill>
          <a:ln/>
        </p:spPr>
      </p:sp>
      <p:sp>
        <p:nvSpPr>
          <p:cNvPr id="41" name="Text 36"/>
          <p:cNvSpPr/>
          <p:nvPr/>
        </p:nvSpPr>
        <p:spPr>
          <a:xfrm>
            <a:off x="6483096" y="4544568"/>
            <a:ext cx="2103120" cy="256032"/>
          </a:xfrm>
          <a:prstGeom prst="rect">
            <a:avLst/>
          </a:prstGeom>
          <a:noFill/>
          <a:ln/>
        </p:spPr>
        <p:txBody>
          <a:bodyPr wrap="square" lIns="0" tIns="0" rIns="0" bIns="0" rtlCol="0" anchor="ctr"/>
          <a:lstStyle/>
          <a:p>
            <a:pPr algn="ctr" indent="0" marL="0">
              <a:buNone/>
            </a:pPr>
            <a:r>
              <a:rPr lang="en-US" sz="1000" dirty="0">
                <a:solidFill>
                  <a:srgbClr val="27AE60"/>
                </a:solidFill>
              </a:rPr>
              <a:t>Application Mobile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7AE60"/>
          </a:solidFill>
          <a:ln/>
        </p:spPr>
      </p:sp>
      <p:sp>
        <p:nvSpPr>
          <p:cNvPr id="3" name="Shape 1"/>
          <p:cNvSpPr/>
          <p:nvPr/>
        </p:nvSpPr>
        <p:spPr>
          <a:xfrm>
            <a:off x="457200" y="164592"/>
            <a:ext cx="1024128"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4" name="Text 2"/>
          <p:cNvSpPr/>
          <p:nvPr/>
        </p:nvSpPr>
        <p:spPr>
          <a:xfrm>
            <a:off x="457200" y="164592"/>
            <a:ext cx="1024128" cy="256032"/>
          </a:xfrm>
          <a:prstGeom prst="rect">
            <a:avLst/>
          </a:prstGeom>
          <a:noFill/>
          <a:ln/>
        </p:spPr>
        <p:txBody>
          <a:bodyPr wrap="square" lIns="0" tIns="0" rIns="0" bIns="0" rtlCol="0" anchor="ctr"/>
          <a:lstStyle/>
          <a:p>
            <a:pPr algn="ctr" indent="0" marL="0">
              <a:buNone/>
            </a:pPr>
            <a:r>
              <a:rPr lang="en-US" sz="900" b="1" dirty="0">
                <a:solidFill>
                  <a:srgbClr val="0D1B2A"/>
                </a:solidFill>
              </a:rPr>
              <a:t>IMPACT</a:t>
            </a:r>
            <a:endParaRPr lang="en-US" sz="900" dirty="0"/>
          </a:p>
        </p:txBody>
      </p:sp>
      <p:sp>
        <p:nvSpPr>
          <p:cNvPr id="5" name="Text 3"/>
          <p:cNvSpPr/>
          <p:nvPr/>
        </p:nvSpPr>
        <p:spPr>
          <a:xfrm>
            <a:off x="182880" y="438912"/>
            <a:ext cx="87782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Arial Black" pitchFamily="34" charset="0"/>
                <a:ea typeface="Arial Black" pitchFamily="34" charset="-122"/>
                <a:cs typeface="Arial Black" pitchFamily="34" charset="-120"/>
              </a:rPr>
              <a:t>Des chiffres.</a:t>
            </a:r>
            <a:endParaRPr lang="en-US" sz="4200" dirty="0"/>
          </a:p>
          <a:p>
            <a:pPr algn="ctr" indent="0" marL="0">
              <a:buNone/>
            </a:pPr>
            <a:r>
              <a:rPr lang="en-US" sz="4200" b="1" dirty="0">
                <a:solidFill>
                  <a:srgbClr val="FFFFFF"/>
                </a:solidFill>
                <a:latin typeface="Arial Black" pitchFamily="34" charset="0"/>
                <a:ea typeface="Arial Black" pitchFamily="34" charset="-122"/>
                <a:cs typeface="Arial Black" pitchFamily="34" charset="-120"/>
              </a:rPr>
              <a:t>Des vies.</a:t>
            </a:r>
            <a:endParaRPr lang="en-US" sz="4200" dirty="0"/>
          </a:p>
        </p:txBody>
      </p:sp>
      <p:sp>
        <p:nvSpPr>
          <p:cNvPr id="6" name="Shape 4"/>
          <p:cNvSpPr/>
          <p:nvPr/>
        </p:nvSpPr>
        <p:spPr>
          <a:xfrm>
            <a:off x="457200" y="1554480"/>
            <a:ext cx="365760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7" name="Shape 5"/>
          <p:cNvSpPr/>
          <p:nvPr/>
        </p:nvSpPr>
        <p:spPr>
          <a:xfrm>
            <a:off x="457200" y="1554480"/>
            <a:ext cx="3657600" cy="54864"/>
          </a:xfrm>
          <a:prstGeom prst="rect">
            <a:avLst/>
          </a:prstGeom>
          <a:solidFill>
            <a:srgbClr val="D4A843"/>
          </a:solidFill>
          <a:ln/>
        </p:spPr>
      </p:sp>
      <p:pic>
        <p:nvPicPr>
          <p:cNvPr id="8" name="Image 0" descr="preencoded.png">    </p:cNvPr>
          <p:cNvPicPr>
            <a:picLocks noChangeAspect="1"/>
          </p:cNvPicPr>
          <p:nvPr/>
        </p:nvPicPr>
        <p:blipFill>
          <a:blip r:embed="rId1"/>
          <a:stretch>
            <a:fillRect/>
          </a:stretch>
        </p:blipFill>
        <p:spPr>
          <a:xfrm>
            <a:off x="640080" y="1965960"/>
            <a:ext cx="594360" cy="594360"/>
          </a:xfrm>
          <a:prstGeom prst="rect">
            <a:avLst/>
          </a:prstGeom>
        </p:spPr>
      </p:pic>
      <p:sp>
        <p:nvSpPr>
          <p:cNvPr id="9" name="Text 6"/>
          <p:cNvSpPr/>
          <p:nvPr/>
        </p:nvSpPr>
        <p:spPr>
          <a:xfrm>
            <a:off x="1325880" y="1691640"/>
            <a:ext cx="2651760" cy="731520"/>
          </a:xfrm>
          <a:prstGeom prst="rect">
            <a:avLst/>
          </a:prstGeom>
          <a:noFill/>
          <a:ln/>
        </p:spPr>
        <p:txBody>
          <a:bodyPr wrap="square" lIns="0" tIns="0" rIns="0" bIns="0" rtlCol="0" anchor="ctr"/>
          <a:lstStyle/>
          <a:p>
            <a:pPr algn="l" indent="0" marL="0">
              <a:buNone/>
            </a:pPr>
            <a:r>
              <a:rPr lang="en-US" sz="4200" b="1" dirty="0">
                <a:solidFill>
                  <a:srgbClr val="D4A843"/>
                </a:solidFill>
                <a:latin typeface="Arial Black" pitchFamily="34" charset="0"/>
                <a:ea typeface="Arial Black" pitchFamily="34" charset="-122"/>
                <a:cs typeface="Arial Black" pitchFamily="34" charset="-120"/>
              </a:rPr>
              <a:t>&lt; 15s</a:t>
            </a:r>
            <a:endParaRPr lang="en-US" sz="4200" dirty="0"/>
          </a:p>
        </p:txBody>
      </p:sp>
      <p:sp>
        <p:nvSpPr>
          <p:cNvPr id="10" name="Text 7"/>
          <p:cNvSpPr/>
          <p:nvPr/>
        </p:nvSpPr>
        <p:spPr>
          <a:xfrm>
            <a:off x="1325880" y="2423160"/>
            <a:ext cx="2651760" cy="502920"/>
          </a:xfrm>
          <a:prstGeom prst="rect">
            <a:avLst/>
          </a:prstGeom>
          <a:noFill/>
          <a:ln/>
        </p:spPr>
        <p:txBody>
          <a:bodyPr wrap="square" lIns="0" tIns="0" rIns="0" bIns="0" rtlCol="0" anchor="t"/>
          <a:lstStyle/>
          <a:p>
            <a:pPr algn="l" indent="0" marL="0">
              <a:buNone/>
            </a:pPr>
            <a:r>
              <a:rPr lang="en-US" sz="1200" dirty="0">
                <a:solidFill>
                  <a:srgbClr val="7A95A8"/>
                </a:solidFill>
              </a:rPr>
              <a:t>Pour générer</a:t>
            </a:r>
            <a:endParaRPr lang="en-US" sz="1200" dirty="0"/>
          </a:p>
          <a:p>
            <a:pPr algn="l" indent="0" marL="0">
              <a:buNone/>
            </a:pPr>
            <a:r>
              <a:rPr lang="en-US" sz="1200" dirty="0">
                <a:solidFill>
                  <a:srgbClr val="7A95A8"/>
                </a:solidFill>
              </a:rPr>
              <a:t>des tournées complètes</a:t>
            </a:r>
            <a:endParaRPr lang="en-US" sz="1200" dirty="0"/>
          </a:p>
        </p:txBody>
      </p:sp>
      <p:sp>
        <p:nvSpPr>
          <p:cNvPr id="11" name="Shape 8"/>
          <p:cNvSpPr/>
          <p:nvPr/>
        </p:nvSpPr>
        <p:spPr>
          <a:xfrm>
            <a:off x="4663440" y="1554480"/>
            <a:ext cx="365760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2" name="Shape 9"/>
          <p:cNvSpPr/>
          <p:nvPr/>
        </p:nvSpPr>
        <p:spPr>
          <a:xfrm>
            <a:off x="4663440" y="1554480"/>
            <a:ext cx="3657600" cy="54864"/>
          </a:xfrm>
          <a:prstGeom prst="rect">
            <a:avLst/>
          </a:prstGeom>
          <a:solidFill>
            <a:srgbClr val="27AE60"/>
          </a:solidFill>
          <a:ln/>
        </p:spPr>
      </p:sp>
      <p:pic>
        <p:nvPicPr>
          <p:cNvPr id="13" name="Image 1" descr="preencoded.png">    </p:cNvPr>
          <p:cNvPicPr>
            <a:picLocks noChangeAspect="1"/>
          </p:cNvPicPr>
          <p:nvPr/>
        </p:nvPicPr>
        <p:blipFill>
          <a:blip r:embed="rId2"/>
          <a:stretch>
            <a:fillRect/>
          </a:stretch>
        </p:blipFill>
        <p:spPr>
          <a:xfrm>
            <a:off x="4846320" y="1965960"/>
            <a:ext cx="594360" cy="594360"/>
          </a:xfrm>
          <a:prstGeom prst="rect">
            <a:avLst/>
          </a:prstGeom>
        </p:spPr>
      </p:pic>
      <p:sp>
        <p:nvSpPr>
          <p:cNvPr id="14" name="Text 10"/>
          <p:cNvSpPr/>
          <p:nvPr/>
        </p:nvSpPr>
        <p:spPr>
          <a:xfrm>
            <a:off x="5532120" y="1691640"/>
            <a:ext cx="2651760" cy="731520"/>
          </a:xfrm>
          <a:prstGeom prst="rect">
            <a:avLst/>
          </a:prstGeom>
          <a:noFill/>
          <a:ln/>
        </p:spPr>
        <p:txBody>
          <a:bodyPr wrap="square" lIns="0" tIns="0" rIns="0" bIns="0" rtlCol="0" anchor="ctr"/>
          <a:lstStyle/>
          <a:p>
            <a:pPr algn="l" indent="0" marL="0">
              <a:buNone/>
            </a:pPr>
            <a:r>
              <a:rPr lang="en-US" sz="4200" b="1" dirty="0">
                <a:solidFill>
                  <a:srgbClr val="27AE60"/>
                </a:solidFill>
                <a:latin typeface="Arial Black" pitchFamily="34" charset="0"/>
                <a:ea typeface="Arial Black" pitchFamily="34" charset="-122"/>
                <a:cs typeface="Arial Black" pitchFamily="34" charset="-120"/>
              </a:rPr>
              <a:t>100%</a:t>
            </a:r>
            <a:endParaRPr lang="en-US" sz="4200" dirty="0"/>
          </a:p>
        </p:txBody>
      </p:sp>
      <p:sp>
        <p:nvSpPr>
          <p:cNvPr id="15" name="Text 11"/>
          <p:cNvSpPr/>
          <p:nvPr/>
        </p:nvSpPr>
        <p:spPr>
          <a:xfrm>
            <a:off x="5532120" y="2423160"/>
            <a:ext cx="2651760" cy="502920"/>
          </a:xfrm>
          <a:prstGeom prst="rect">
            <a:avLst/>
          </a:prstGeom>
          <a:noFill/>
          <a:ln/>
        </p:spPr>
        <p:txBody>
          <a:bodyPr wrap="square" lIns="0" tIns="0" rIns="0" bIns="0" rtlCol="0" anchor="t"/>
          <a:lstStyle/>
          <a:p>
            <a:pPr algn="l" indent="0" marL="0">
              <a:buNone/>
            </a:pPr>
            <a:r>
              <a:rPr lang="en-US" sz="1200" dirty="0">
                <a:solidFill>
                  <a:srgbClr val="7A95A8"/>
                </a:solidFill>
              </a:rPr>
              <a:t>Traçabilité</a:t>
            </a:r>
            <a:endParaRPr lang="en-US" sz="1200" dirty="0"/>
          </a:p>
          <a:p>
            <a:pPr algn="l" indent="0" marL="0">
              <a:buNone/>
            </a:pPr>
            <a:r>
              <a:rPr lang="en-US" sz="1200" dirty="0">
                <a:solidFill>
                  <a:srgbClr val="7A95A8"/>
                </a:solidFill>
              </a:rPr>
              <a:t>de chaque livraison</a:t>
            </a:r>
            <a:endParaRPr lang="en-US" sz="1200" dirty="0"/>
          </a:p>
        </p:txBody>
      </p:sp>
      <p:sp>
        <p:nvSpPr>
          <p:cNvPr id="16" name="Shape 12"/>
          <p:cNvSpPr/>
          <p:nvPr/>
        </p:nvSpPr>
        <p:spPr>
          <a:xfrm>
            <a:off x="457200" y="3246120"/>
            <a:ext cx="365760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7" name="Shape 13"/>
          <p:cNvSpPr/>
          <p:nvPr/>
        </p:nvSpPr>
        <p:spPr>
          <a:xfrm>
            <a:off x="457200" y="3246120"/>
            <a:ext cx="3657600" cy="54864"/>
          </a:xfrm>
          <a:prstGeom prst="rect">
            <a:avLst/>
          </a:prstGeom>
          <a:solidFill>
            <a:srgbClr val="E74C3C"/>
          </a:solidFill>
          <a:ln/>
        </p:spPr>
      </p:sp>
      <p:pic>
        <p:nvPicPr>
          <p:cNvPr id="18" name="Image 2" descr="preencoded.png">    </p:cNvPr>
          <p:cNvPicPr>
            <a:picLocks noChangeAspect="1"/>
          </p:cNvPicPr>
          <p:nvPr/>
        </p:nvPicPr>
        <p:blipFill>
          <a:blip r:embed="rId3"/>
          <a:stretch>
            <a:fillRect/>
          </a:stretch>
        </p:blipFill>
        <p:spPr>
          <a:xfrm>
            <a:off x="640080" y="3657600"/>
            <a:ext cx="594360" cy="594360"/>
          </a:xfrm>
          <a:prstGeom prst="rect">
            <a:avLst/>
          </a:prstGeom>
        </p:spPr>
      </p:pic>
      <p:sp>
        <p:nvSpPr>
          <p:cNvPr id="19" name="Text 14"/>
          <p:cNvSpPr/>
          <p:nvPr/>
        </p:nvSpPr>
        <p:spPr>
          <a:xfrm>
            <a:off x="1325880" y="3383280"/>
            <a:ext cx="2651760" cy="731520"/>
          </a:xfrm>
          <a:prstGeom prst="rect">
            <a:avLst/>
          </a:prstGeom>
          <a:noFill/>
          <a:ln/>
        </p:spPr>
        <p:txBody>
          <a:bodyPr wrap="square" lIns="0" tIns="0" rIns="0" bIns="0" rtlCol="0" anchor="ctr"/>
          <a:lstStyle/>
          <a:p>
            <a:pPr algn="l" indent="0" marL="0">
              <a:buNone/>
            </a:pPr>
            <a:r>
              <a:rPr lang="en-US" sz="4200" b="1" dirty="0">
                <a:solidFill>
                  <a:srgbClr val="E74C3C"/>
                </a:solidFill>
                <a:latin typeface="Arial Black" pitchFamily="34" charset="0"/>
                <a:ea typeface="Arial Black" pitchFamily="34" charset="-122"/>
                <a:cs typeface="Arial Black" pitchFamily="34" charset="-120"/>
              </a:rPr>
              <a:t>3×</a:t>
            </a:r>
            <a:endParaRPr lang="en-US" sz="4200" dirty="0"/>
          </a:p>
        </p:txBody>
      </p:sp>
      <p:sp>
        <p:nvSpPr>
          <p:cNvPr id="20" name="Text 15"/>
          <p:cNvSpPr/>
          <p:nvPr/>
        </p:nvSpPr>
        <p:spPr>
          <a:xfrm>
            <a:off x="1325880" y="4114800"/>
            <a:ext cx="2651760" cy="502920"/>
          </a:xfrm>
          <a:prstGeom prst="rect">
            <a:avLst/>
          </a:prstGeom>
          <a:noFill/>
          <a:ln/>
        </p:spPr>
        <p:txBody>
          <a:bodyPr wrap="square" lIns="0" tIns="0" rIns="0" bIns="0" rtlCol="0" anchor="t"/>
          <a:lstStyle/>
          <a:p>
            <a:pPr algn="l" indent="0" marL="0">
              <a:buNone/>
            </a:pPr>
            <a:r>
              <a:rPr lang="en-US" sz="1200" dirty="0">
                <a:solidFill>
                  <a:srgbClr val="7A95A8"/>
                </a:solidFill>
              </a:rPr>
              <a:t>Plus rapide</a:t>
            </a:r>
            <a:endParaRPr lang="en-US" sz="1200" dirty="0"/>
          </a:p>
          <a:p>
            <a:pPr algn="l" indent="0" marL="0">
              <a:buNone/>
            </a:pPr>
            <a:r>
              <a:rPr lang="en-US" sz="1200" dirty="0">
                <a:solidFill>
                  <a:srgbClr val="7A95A8"/>
                </a:solidFill>
              </a:rPr>
              <a:t>que la planification manuelle</a:t>
            </a:r>
            <a:endParaRPr lang="en-US" sz="1200" dirty="0"/>
          </a:p>
        </p:txBody>
      </p:sp>
      <p:sp>
        <p:nvSpPr>
          <p:cNvPr id="21" name="Shape 16"/>
          <p:cNvSpPr/>
          <p:nvPr/>
        </p:nvSpPr>
        <p:spPr>
          <a:xfrm>
            <a:off x="4663440" y="3246120"/>
            <a:ext cx="3657600" cy="146304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22" name="Shape 17"/>
          <p:cNvSpPr/>
          <p:nvPr/>
        </p:nvSpPr>
        <p:spPr>
          <a:xfrm>
            <a:off x="4663440" y="3246120"/>
            <a:ext cx="3657600" cy="54864"/>
          </a:xfrm>
          <a:prstGeom prst="rect">
            <a:avLst/>
          </a:prstGeom>
          <a:solidFill>
            <a:srgbClr val="3498DB"/>
          </a:solidFill>
          <a:ln/>
        </p:spPr>
      </p:sp>
      <p:pic>
        <p:nvPicPr>
          <p:cNvPr id="23" name="Image 3" descr="preencoded.png">    </p:cNvPr>
          <p:cNvPicPr>
            <a:picLocks noChangeAspect="1"/>
          </p:cNvPicPr>
          <p:nvPr/>
        </p:nvPicPr>
        <p:blipFill>
          <a:blip r:embed="rId4"/>
          <a:stretch>
            <a:fillRect/>
          </a:stretch>
        </p:blipFill>
        <p:spPr>
          <a:xfrm>
            <a:off x="4846320" y="3657600"/>
            <a:ext cx="594360" cy="594360"/>
          </a:xfrm>
          <a:prstGeom prst="rect">
            <a:avLst/>
          </a:prstGeom>
        </p:spPr>
      </p:pic>
      <p:sp>
        <p:nvSpPr>
          <p:cNvPr id="24" name="Text 18"/>
          <p:cNvSpPr/>
          <p:nvPr/>
        </p:nvSpPr>
        <p:spPr>
          <a:xfrm>
            <a:off x="5532120" y="3383280"/>
            <a:ext cx="2651760" cy="731520"/>
          </a:xfrm>
          <a:prstGeom prst="rect">
            <a:avLst/>
          </a:prstGeom>
          <a:noFill/>
          <a:ln/>
        </p:spPr>
        <p:txBody>
          <a:bodyPr wrap="square" lIns="0" tIns="0" rIns="0" bIns="0" rtlCol="0" anchor="ctr"/>
          <a:lstStyle/>
          <a:p>
            <a:pPr algn="l" indent="0" marL="0">
              <a:buNone/>
            </a:pPr>
            <a:r>
              <a:rPr lang="en-US" sz="4200" b="1" dirty="0">
                <a:solidFill>
                  <a:srgbClr val="3498DB"/>
                </a:solidFill>
                <a:latin typeface="Arial Black" pitchFamily="34" charset="0"/>
                <a:ea typeface="Arial Black" pitchFamily="34" charset="-122"/>
                <a:cs typeface="Arial Black" pitchFamily="34" charset="-120"/>
              </a:rPr>
              <a:t>0</a:t>
            </a:r>
            <a:endParaRPr lang="en-US" sz="4200" dirty="0"/>
          </a:p>
        </p:txBody>
      </p:sp>
      <p:sp>
        <p:nvSpPr>
          <p:cNvPr id="25" name="Text 19"/>
          <p:cNvSpPr/>
          <p:nvPr/>
        </p:nvSpPr>
        <p:spPr>
          <a:xfrm>
            <a:off x="5532120" y="4114800"/>
            <a:ext cx="2651760" cy="502920"/>
          </a:xfrm>
          <a:prstGeom prst="rect">
            <a:avLst/>
          </a:prstGeom>
          <a:noFill/>
          <a:ln/>
        </p:spPr>
        <p:txBody>
          <a:bodyPr wrap="square" lIns="0" tIns="0" rIns="0" bIns="0" rtlCol="0" anchor="t"/>
          <a:lstStyle/>
          <a:p>
            <a:pPr algn="l" indent="0" marL="0">
              <a:buNone/>
            </a:pPr>
            <a:r>
              <a:rPr lang="en-US" sz="1200" dirty="0">
                <a:solidFill>
                  <a:srgbClr val="7A95A8"/>
                </a:solidFill>
              </a:rPr>
              <a:t>Perte d'information</a:t>
            </a:r>
            <a:endParaRPr lang="en-US" sz="1200" dirty="0"/>
          </a:p>
          <a:p>
            <a:pPr algn="l" indent="0" marL="0">
              <a:buNone/>
            </a:pPr>
            <a:r>
              <a:rPr lang="en-US" sz="1200" dirty="0">
                <a:solidFill>
                  <a:srgbClr val="7A95A8"/>
                </a:solidFill>
              </a:rPr>
              <a:t>en mode offline</a:t>
            </a:r>
            <a:endParaRPr lang="en-US" sz="1200" dirty="0"/>
          </a:p>
        </p:txBody>
      </p:sp>
      <p:sp>
        <p:nvSpPr>
          <p:cNvPr id="26" name="Text 20"/>
          <p:cNvSpPr/>
          <p:nvPr/>
        </p:nvSpPr>
        <p:spPr>
          <a:xfrm>
            <a:off x="457200" y="4663440"/>
            <a:ext cx="8229600" cy="347472"/>
          </a:xfrm>
          <a:prstGeom prst="rect">
            <a:avLst/>
          </a:prstGeom>
          <a:noFill/>
          <a:ln/>
        </p:spPr>
        <p:txBody>
          <a:bodyPr wrap="square" lIns="0" tIns="0" rIns="0" bIns="0" rtlCol="0" anchor="ctr"/>
          <a:lstStyle/>
          <a:p>
            <a:pPr algn="ctr" indent="0" marL="0">
              <a:buNone/>
            </a:pPr>
            <a:r>
              <a:rPr lang="en-US" sz="1500" i="1" dirty="0">
                <a:solidFill>
                  <a:srgbClr val="D4A843"/>
                </a:solidFill>
              </a:rPr>
              <a:t>Chaque seconde gagnée peut sauver une vie.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498DB"/>
          </a:solidFill>
          <a:ln/>
        </p:spPr>
      </p:sp>
      <p:sp>
        <p:nvSpPr>
          <p:cNvPr id="3" name="Shape 1"/>
          <p:cNvSpPr/>
          <p:nvPr/>
        </p:nvSpPr>
        <p:spPr>
          <a:xfrm>
            <a:off x="457200" y="164592"/>
            <a:ext cx="1572768" cy="256032"/>
          </a:xfrm>
          <a:prstGeom prst="rect">
            <a:avLst>
              <a:gd name="adj" fmla="val 14286"/>
            </a:avLst>
          </a:prstGeom>
          <a:solidFill>
            <a:srgbClr val="D4A843"/>
          </a:solidFill>
          <a:ln/>
          <a:effectLst>
            <a:outerShdw sx="100000" sy="100000" kx="0" ky="0" algn="bl" rotWithShape="0" blurRad="76200" dist="25400" dir="8100000">
              <a:srgbClr val="000000">
                <a:alpha val="25000"/>
              </a:srgbClr>
            </a:outerShdw>
          </a:effectLst>
        </p:spPr>
      </p:sp>
      <p:sp>
        <p:nvSpPr>
          <p:cNvPr id="4" name="Text 2"/>
          <p:cNvSpPr/>
          <p:nvPr/>
        </p:nvSpPr>
        <p:spPr>
          <a:xfrm>
            <a:off x="457200" y="164592"/>
            <a:ext cx="1572768" cy="256032"/>
          </a:xfrm>
          <a:prstGeom prst="rect">
            <a:avLst/>
          </a:prstGeom>
          <a:noFill/>
          <a:ln/>
        </p:spPr>
        <p:txBody>
          <a:bodyPr wrap="square" lIns="0" tIns="0" rIns="0" bIns="0" rtlCol="0" anchor="ctr"/>
          <a:lstStyle/>
          <a:p>
            <a:pPr algn="ctr" indent="0" marL="0">
              <a:buNone/>
            </a:pPr>
            <a:r>
              <a:rPr lang="en-US" sz="900" b="1" dirty="0">
                <a:solidFill>
                  <a:srgbClr val="0D1B2A"/>
                </a:solidFill>
              </a:rPr>
              <a:t>SCALABILITÉ</a:t>
            </a:r>
            <a:endParaRPr lang="en-US" sz="900" dirty="0"/>
          </a:p>
        </p:txBody>
      </p:sp>
      <p:sp>
        <p:nvSpPr>
          <p:cNvPr id="5" name="Text 3"/>
          <p:cNvSpPr/>
          <p:nvPr/>
        </p:nvSpPr>
        <p:spPr>
          <a:xfrm>
            <a:off x="182880" y="438912"/>
            <a:ext cx="8778240" cy="96012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NAJDA au-delà</a:t>
            </a:r>
            <a:endParaRPr lang="en-US" sz="3600" dirty="0"/>
          </a:p>
          <a:p>
            <a:pPr algn="ctr" indent="0" marL="0">
              <a:buNone/>
            </a:pPr>
            <a:r>
              <a:rPr lang="en-US" sz="3600" b="1" dirty="0">
                <a:solidFill>
                  <a:srgbClr val="FFFFFF"/>
                </a:solidFill>
                <a:latin typeface="Arial Black" pitchFamily="34" charset="0"/>
                <a:ea typeface="Arial Black" pitchFamily="34" charset="-122"/>
                <a:cs typeface="Arial Black" pitchFamily="34" charset="-120"/>
              </a:rPr>
              <a:t>de Béni Mellal</a:t>
            </a:r>
            <a:endParaRPr lang="en-US" sz="3600" dirty="0"/>
          </a:p>
        </p:txBody>
      </p:sp>
      <p:sp>
        <p:nvSpPr>
          <p:cNvPr id="6" name="Shape 4"/>
          <p:cNvSpPr/>
          <p:nvPr/>
        </p:nvSpPr>
        <p:spPr>
          <a:xfrm>
            <a:off x="365760" y="2788920"/>
            <a:ext cx="8412480" cy="54864"/>
          </a:xfrm>
          <a:prstGeom prst="rect">
            <a:avLst/>
          </a:prstGeom>
          <a:solidFill>
            <a:srgbClr val="1E3A5F"/>
          </a:solidFill>
          <a:ln/>
        </p:spPr>
      </p:sp>
      <p:sp>
        <p:nvSpPr>
          <p:cNvPr id="7" name="Shape 5"/>
          <p:cNvSpPr/>
          <p:nvPr/>
        </p:nvSpPr>
        <p:spPr>
          <a:xfrm>
            <a:off x="365760" y="1645920"/>
            <a:ext cx="2286000" cy="301752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8" name="Shape 6"/>
          <p:cNvSpPr/>
          <p:nvPr/>
        </p:nvSpPr>
        <p:spPr>
          <a:xfrm>
            <a:off x="365760" y="1645920"/>
            <a:ext cx="2286000" cy="54864"/>
          </a:xfrm>
          <a:prstGeom prst="rect">
            <a:avLst/>
          </a:prstGeom>
          <a:solidFill>
            <a:srgbClr val="D4A843"/>
          </a:solidFill>
          <a:ln/>
        </p:spPr>
      </p:sp>
      <p:sp>
        <p:nvSpPr>
          <p:cNvPr id="9" name="Text 7"/>
          <p:cNvSpPr/>
          <p:nvPr/>
        </p:nvSpPr>
        <p:spPr>
          <a:xfrm>
            <a:off x="365760" y="1737360"/>
            <a:ext cx="2286000" cy="329184"/>
          </a:xfrm>
          <a:prstGeom prst="rect">
            <a:avLst/>
          </a:prstGeom>
          <a:noFill/>
          <a:ln/>
        </p:spPr>
        <p:txBody>
          <a:bodyPr wrap="square" lIns="0" tIns="0" rIns="0" bIns="0" rtlCol="0" anchor="ctr"/>
          <a:lstStyle/>
          <a:p>
            <a:pPr algn="ctr" indent="0" marL="0">
              <a:buNone/>
            </a:pPr>
            <a:r>
              <a:rPr lang="en-US" sz="1100" b="1" spc="200" kern="0" dirty="0">
                <a:solidFill>
                  <a:srgbClr val="D4A843"/>
                </a:solidFill>
              </a:rPr>
              <a:t>PHASE 1</a:t>
            </a:r>
            <a:endParaRPr lang="en-US" sz="1100" dirty="0"/>
          </a:p>
        </p:txBody>
      </p:sp>
      <p:pic>
        <p:nvPicPr>
          <p:cNvPr id="10" name="Image 0" descr="preencoded.png">    </p:cNvPr>
          <p:cNvPicPr>
            <a:picLocks noChangeAspect="1"/>
          </p:cNvPicPr>
          <p:nvPr/>
        </p:nvPicPr>
        <p:blipFill>
          <a:blip r:embed="rId1"/>
          <a:stretch>
            <a:fillRect/>
          </a:stretch>
        </p:blipFill>
        <p:spPr>
          <a:xfrm>
            <a:off x="1188720" y="2148840"/>
            <a:ext cx="640080" cy="640080"/>
          </a:xfrm>
          <a:prstGeom prst="rect">
            <a:avLst/>
          </a:prstGeom>
        </p:spPr>
      </p:pic>
      <p:sp>
        <p:nvSpPr>
          <p:cNvPr id="11" name="Text 8"/>
          <p:cNvSpPr/>
          <p:nvPr/>
        </p:nvSpPr>
        <p:spPr>
          <a:xfrm>
            <a:off x="365760" y="2880360"/>
            <a:ext cx="2286000" cy="548640"/>
          </a:xfrm>
          <a:prstGeom prst="rect">
            <a:avLst/>
          </a:prstGeom>
          <a:noFill/>
          <a:ln/>
        </p:spPr>
        <p:txBody>
          <a:bodyPr wrap="square" lIns="0" tIns="0" rIns="0" bIns="0" rtlCol="0" anchor="ctr"/>
          <a:lstStyle/>
          <a:p>
            <a:pPr algn="ctr" indent="0" marL="0">
              <a:buNone/>
            </a:pPr>
            <a:r>
              <a:rPr lang="en-US" sz="1450" b="1" dirty="0">
                <a:solidFill>
                  <a:srgbClr val="FFFFFF"/>
                </a:solidFill>
              </a:rPr>
              <a:t>Béni Mellal-Khénifra</a:t>
            </a:r>
            <a:endParaRPr lang="en-US" sz="1450" dirty="0"/>
          </a:p>
        </p:txBody>
      </p:sp>
      <p:sp>
        <p:nvSpPr>
          <p:cNvPr id="12" name="Text 9"/>
          <p:cNvSpPr/>
          <p:nvPr/>
        </p:nvSpPr>
        <p:spPr>
          <a:xfrm>
            <a:off x="457200" y="3429000"/>
            <a:ext cx="2103120" cy="548640"/>
          </a:xfrm>
          <a:prstGeom prst="rect">
            <a:avLst/>
          </a:prstGeom>
          <a:noFill/>
          <a:ln/>
        </p:spPr>
        <p:txBody>
          <a:bodyPr wrap="square" lIns="0" tIns="0" rIns="0" bIns="0" rtlCol="0" anchor="t"/>
          <a:lstStyle/>
          <a:p>
            <a:pPr algn="ctr" indent="0" marL="0">
              <a:buNone/>
            </a:pPr>
            <a:r>
              <a:rPr lang="en-US" sz="1200" dirty="0">
                <a:solidFill>
                  <a:srgbClr val="7A95A8"/>
                </a:solidFill>
              </a:rPr>
              <a:t>2 entrepôts pilotes</a:t>
            </a:r>
            <a:endParaRPr lang="en-US" sz="1200" dirty="0"/>
          </a:p>
        </p:txBody>
      </p:sp>
      <p:sp>
        <p:nvSpPr>
          <p:cNvPr id="13" name="Shape 10"/>
          <p:cNvSpPr/>
          <p:nvPr/>
        </p:nvSpPr>
        <p:spPr>
          <a:xfrm>
            <a:off x="3017520" y="1645920"/>
            <a:ext cx="2743200" cy="301752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14" name="Shape 11"/>
          <p:cNvSpPr/>
          <p:nvPr/>
        </p:nvSpPr>
        <p:spPr>
          <a:xfrm>
            <a:off x="3017520" y="1645920"/>
            <a:ext cx="2743200" cy="54864"/>
          </a:xfrm>
          <a:prstGeom prst="rect">
            <a:avLst/>
          </a:prstGeom>
          <a:solidFill>
            <a:srgbClr val="3498DB"/>
          </a:solidFill>
          <a:ln/>
        </p:spPr>
      </p:sp>
      <p:sp>
        <p:nvSpPr>
          <p:cNvPr id="15" name="Text 12"/>
          <p:cNvSpPr/>
          <p:nvPr/>
        </p:nvSpPr>
        <p:spPr>
          <a:xfrm>
            <a:off x="3017520" y="1737360"/>
            <a:ext cx="2743200" cy="329184"/>
          </a:xfrm>
          <a:prstGeom prst="rect">
            <a:avLst/>
          </a:prstGeom>
          <a:noFill/>
          <a:ln/>
        </p:spPr>
        <p:txBody>
          <a:bodyPr wrap="square" lIns="0" tIns="0" rIns="0" bIns="0" rtlCol="0" anchor="ctr"/>
          <a:lstStyle/>
          <a:p>
            <a:pPr algn="ctr" indent="0" marL="0">
              <a:buNone/>
            </a:pPr>
            <a:r>
              <a:rPr lang="en-US" sz="1100" b="1" spc="200" kern="0" dirty="0">
                <a:solidFill>
                  <a:srgbClr val="3498DB"/>
                </a:solidFill>
              </a:rPr>
              <a:t>PHASE 2</a:t>
            </a:r>
            <a:endParaRPr lang="en-US" sz="1100" dirty="0"/>
          </a:p>
        </p:txBody>
      </p:sp>
      <p:pic>
        <p:nvPicPr>
          <p:cNvPr id="16" name="Image 1" descr="preencoded.png">    </p:cNvPr>
          <p:cNvPicPr>
            <a:picLocks noChangeAspect="1"/>
          </p:cNvPicPr>
          <p:nvPr/>
        </p:nvPicPr>
        <p:blipFill>
          <a:blip r:embed="rId2"/>
          <a:stretch>
            <a:fillRect/>
          </a:stretch>
        </p:blipFill>
        <p:spPr>
          <a:xfrm>
            <a:off x="4069080" y="2148840"/>
            <a:ext cx="640080" cy="640080"/>
          </a:xfrm>
          <a:prstGeom prst="rect">
            <a:avLst/>
          </a:prstGeom>
        </p:spPr>
      </p:pic>
      <p:sp>
        <p:nvSpPr>
          <p:cNvPr id="17" name="Text 13"/>
          <p:cNvSpPr/>
          <p:nvPr/>
        </p:nvSpPr>
        <p:spPr>
          <a:xfrm>
            <a:off x="3017520" y="2880360"/>
            <a:ext cx="2743200" cy="548640"/>
          </a:xfrm>
          <a:prstGeom prst="rect">
            <a:avLst/>
          </a:prstGeom>
          <a:noFill/>
          <a:ln/>
        </p:spPr>
        <p:txBody>
          <a:bodyPr wrap="square" lIns="0" tIns="0" rIns="0" bIns="0" rtlCol="0" anchor="ctr"/>
          <a:lstStyle/>
          <a:p>
            <a:pPr algn="ctr" indent="0" marL="0">
              <a:buNone/>
            </a:pPr>
            <a:r>
              <a:rPr lang="en-US" sz="1450" b="1" dirty="0">
                <a:solidFill>
                  <a:srgbClr val="FFFFFF"/>
                </a:solidFill>
              </a:rPr>
              <a:t>12 régions du Maroc</a:t>
            </a:r>
            <a:endParaRPr lang="en-US" sz="1450" dirty="0"/>
          </a:p>
        </p:txBody>
      </p:sp>
      <p:sp>
        <p:nvSpPr>
          <p:cNvPr id="18" name="Text 14"/>
          <p:cNvSpPr/>
          <p:nvPr/>
        </p:nvSpPr>
        <p:spPr>
          <a:xfrm>
            <a:off x="3108960" y="3429000"/>
            <a:ext cx="2560320" cy="548640"/>
          </a:xfrm>
          <a:prstGeom prst="rect">
            <a:avLst/>
          </a:prstGeom>
          <a:noFill/>
          <a:ln/>
        </p:spPr>
        <p:txBody>
          <a:bodyPr wrap="square" lIns="0" tIns="0" rIns="0" bIns="0" rtlCol="0" anchor="t"/>
          <a:lstStyle/>
          <a:p>
            <a:pPr algn="ctr" indent="0" marL="0">
              <a:buNone/>
            </a:pPr>
            <a:r>
              <a:rPr lang="en-US" sz="1200" dirty="0">
                <a:solidFill>
                  <a:srgbClr val="7A95A8"/>
                </a:solidFill>
              </a:rPr>
              <a:t>Déploiement national</a:t>
            </a:r>
            <a:endParaRPr lang="en-US" sz="1200" dirty="0"/>
          </a:p>
        </p:txBody>
      </p:sp>
      <p:sp>
        <p:nvSpPr>
          <p:cNvPr id="19" name="Shape 15"/>
          <p:cNvSpPr/>
          <p:nvPr/>
        </p:nvSpPr>
        <p:spPr>
          <a:xfrm>
            <a:off x="6126480" y="1645920"/>
            <a:ext cx="2651760" cy="3017520"/>
          </a:xfrm>
          <a:prstGeom prst="rect">
            <a:avLst/>
          </a:prstGeom>
          <a:solidFill>
            <a:srgbClr val="13253D"/>
          </a:solidFill>
          <a:ln/>
          <a:effectLst>
            <a:outerShdw sx="100000" sy="100000" kx="0" ky="0" algn="bl" rotWithShape="0" blurRad="127000" dist="50800" dir="8100000">
              <a:srgbClr val="000000">
                <a:alpha val="35000"/>
              </a:srgbClr>
            </a:outerShdw>
          </a:effectLst>
        </p:spPr>
      </p:sp>
      <p:sp>
        <p:nvSpPr>
          <p:cNvPr id="20" name="Shape 16"/>
          <p:cNvSpPr/>
          <p:nvPr/>
        </p:nvSpPr>
        <p:spPr>
          <a:xfrm>
            <a:off x="6126480" y="1645920"/>
            <a:ext cx="2651760" cy="54864"/>
          </a:xfrm>
          <a:prstGeom prst="rect">
            <a:avLst/>
          </a:prstGeom>
          <a:solidFill>
            <a:srgbClr val="27AE60"/>
          </a:solidFill>
          <a:ln/>
        </p:spPr>
      </p:sp>
      <p:sp>
        <p:nvSpPr>
          <p:cNvPr id="21" name="Text 17"/>
          <p:cNvSpPr/>
          <p:nvPr/>
        </p:nvSpPr>
        <p:spPr>
          <a:xfrm>
            <a:off x="6126480" y="1737360"/>
            <a:ext cx="2651760" cy="329184"/>
          </a:xfrm>
          <a:prstGeom prst="rect">
            <a:avLst/>
          </a:prstGeom>
          <a:noFill/>
          <a:ln/>
        </p:spPr>
        <p:txBody>
          <a:bodyPr wrap="square" lIns="0" tIns="0" rIns="0" bIns="0" rtlCol="0" anchor="ctr"/>
          <a:lstStyle/>
          <a:p>
            <a:pPr algn="ctr" indent="0" marL="0">
              <a:buNone/>
            </a:pPr>
            <a:r>
              <a:rPr lang="en-US" sz="1100" b="1" spc="200" kern="0" dirty="0">
                <a:solidFill>
                  <a:srgbClr val="27AE60"/>
                </a:solidFill>
              </a:rPr>
              <a:t>PHASE 3</a:t>
            </a:r>
            <a:endParaRPr lang="en-US" sz="1100" dirty="0"/>
          </a:p>
        </p:txBody>
      </p:sp>
      <p:pic>
        <p:nvPicPr>
          <p:cNvPr id="22" name="Image 2" descr="preencoded.png">    </p:cNvPr>
          <p:cNvPicPr>
            <a:picLocks noChangeAspect="1"/>
          </p:cNvPicPr>
          <p:nvPr/>
        </p:nvPicPr>
        <p:blipFill>
          <a:blip r:embed="rId3"/>
          <a:stretch>
            <a:fillRect/>
          </a:stretch>
        </p:blipFill>
        <p:spPr>
          <a:xfrm>
            <a:off x="7132320" y="2148840"/>
            <a:ext cx="640080" cy="640080"/>
          </a:xfrm>
          <a:prstGeom prst="rect">
            <a:avLst/>
          </a:prstGeom>
        </p:spPr>
      </p:pic>
      <p:sp>
        <p:nvSpPr>
          <p:cNvPr id="23" name="Text 18"/>
          <p:cNvSpPr/>
          <p:nvPr/>
        </p:nvSpPr>
        <p:spPr>
          <a:xfrm>
            <a:off x="6126480" y="2880360"/>
            <a:ext cx="2651760" cy="548640"/>
          </a:xfrm>
          <a:prstGeom prst="rect">
            <a:avLst/>
          </a:prstGeom>
          <a:noFill/>
          <a:ln/>
        </p:spPr>
        <p:txBody>
          <a:bodyPr wrap="square" lIns="0" tIns="0" rIns="0" bIns="0" rtlCol="0" anchor="ctr"/>
          <a:lstStyle/>
          <a:p>
            <a:pPr algn="ctr" indent="0" marL="0">
              <a:buNone/>
            </a:pPr>
            <a:r>
              <a:rPr lang="en-US" sz="1450" b="1" dirty="0">
                <a:solidFill>
                  <a:srgbClr val="FFFFFF"/>
                </a:solidFill>
              </a:rPr>
              <a:t>Afrique &amp; monde islamique</a:t>
            </a:r>
            <a:endParaRPr lang="en-US" sz="1450" dirty="0"/>
          </a:p>
        </p:txBody>
      </p:sp>
      <p:sp>
        <p:nvSpPr>
          <p:cNvPr id="24" name="Text 19"/>
          <p:cNvSpPr/>
          <p:nvPr/>
        </p:nvSpPr>
        <p:spPr>
          <a:xfrm>
            <a:off x="6217920" y="3429000"/>
            <a:ext cx="2468880" cy="548640"/>
          </a:xfrm>
          <a:prstGeom prst="rect">
            <a:avLst/>
          </a:prstGeom>
          <a:noFill/>
          <a:ln/>
        </p:spPr>
        <p:txBody>
          <a:bodyPr wrap="square" lIns="0" tIns="0" rIns="0" bIns="0" rtlCol="0" anchor="t"/>
          <a:lstStyle/>
          <a:p>
            <a:pPr algn="ctr" indent="0" marL="0">
              <a:buNone/>
            </a:pPr>
            <a:r>
              <a:rPr lang="en-US" sz="1200" dirty="0">
                <a:solidFill>
                  <a:srgbClr val="7A95A8"/>
                </a:solidFill>
              </a:rPr>
              <a:t>Adaptation multilingue &amp; ONG</a:t>
            </a:r>
            <a:endParaRPr lang="en-US" sz="1200" dirty="0"/>
          </a:p>
        </p:txBody>
      </p:sp>
      <p:sp>
        <p:nvSpPr>
          <p:cNvPr id="25" name="Text 20"/>
          <p:cNvSpPr/>
          <p:nvPr/>
        </p:nvSpPr>
        <p:spPr>
          <a:xfrm>
            <a:off x="457200" y="4434840"/>
            <a:ext cx="2743200" cy="320040"/>
          </a:xfrm>
          <a:prstGeom prst="rect">
            <a:avLst/>
          </a:prstGeom>
          <a:noFill/>
          <a:ln/>
        </p:spPr>
        <p:txBody>
          <a:bodyPr wrap="square" lIns="0" tIns="0" rIns="0" bIns="0" rtlCol="0" anchor="ctr"/>
          <a:lstStyle/>
          <a:p>
            <a:pPr algn="l" indent="0" marL="0">
              <a:buNone/>
            </a:pPr>
            <a:r>
              <a:rPr lang="en-US" sz="1200" dirty="0">
                <a:solidFill>
                  <a:srgbClr val="7A95A8"/>
                </a:solidFill>
              </a:rPr>
              <a:t>Architecture conçue pour scaler :</a:t>
            </a:r>
            <a:endParaRPr lang="en-US" sz="1200" dirty="0"/>
          </a:p>
        </p:txBody>
      </p:sp>
      <p:sp>
        <p:nvSpPr>
          <p:cNvPr id="26" name="Shape 21"/>
          <p:cNvSpPr/>
          <p:nvPr/>
        </p:nvSpPr>
        <p:spPr>
          <a:xfrm>
            <a:off x="3108960" y="4434840"/>
            <a:ext cx="1280160" cy="320040"/>
          </a:xfrm>
          <a:prstGeom prst="rect">
            <a:avLst/>
          </a:prstGeom>
          <a:solidFill>
            <a:srgbClr val="1A3050"/>
          </a:solidFill>
          <a:ln/>
        </p:spPr>
      </p:sp>
      <p:sp>
        <p:nvSpPr>
          <p:cNvPr id="27" name="Text 22"/>
          <p:cNvSpPr/>
          <p:nvPr/>
        </p:nvSpPr>
        <p:spPr>
          <a:xfrm>
            <a:off x="3108960" y="4434840"/>
            <a:ext cx="1280160" cy="320040"/>
          </a:xfrm>
          <a:prstGeom prst="rect">
            <a:avLst/>
          </a:prstGeom>
          <a:noFill/>
          <a:ln/>
        </p:spPr>
        <p:txBody>
          <a:bodyPr wrap="square" lIns="0" tIns="0" rIns="0" bIns="0" rtlCol="0" anchor="ctr"/>
          <a:lstStyle/>
          <a:p>
            <a:pPr algn="ctr" indent="0" marL="0">
              <a:buNone/>
            </a:pPr>
            <a:r>
              <a:rPr lang="en-US" sz="1100" b="1" dirty="0">
                <a:solidFill>
                  <a:srgbClr val="3498DB"/>
                </a:solidFill>
              </a:rPr>
              <a:t>API RESTful</a:t>
            </a:r>
            <a:endParaRPr lang="en-US" sz="1100" dirty="0"/>
          </a:p>
        </p:txBody>
      </p:sp>
      <p:sp>
        <p:nvSpPr>
          <p:cNvPr id="28" name="Shape 23"/>
          <p:cNvSpPr/>
          <p:nvPr/>
        </p:nvSpPr>
        <p:spPr>
          <a:xfrm>
            <a:off x="4572000" y="4434840"/>
            <a:ext cx="1280160" cy="320040"/>
          </a:xfrm>
          <a:prstGeom prst="rect">
            <a:avLst/>
          </a:prstGeom>
          <a:solidFill>
            <a:srgbClr val="1A3050"/>
          </a:solidFill>
          <a:ln/>
        </p:spPr>
      </p:sp>
      <p:sp>
        <p:nvSpPr>
          <p:cNvPr id="29" name="Text 24"/>
          <p:cNvSpPr/>
          <p:nvPr/>
        </p:nvSpPr>
        <p:spPr>
          <a:xfrm>
            <a:off x="4572000" y="4434840"/>
            <a:ext cx="1280160" cy="320040"/>
          </a:xfrm>
          <a:prstGeom prst="rect">
            <a:avLst/>
          </a:prstGeom>
          <a:noFill/>
          <a:ln/>
        </p:spPr>
        <p:txBody>
          <a:bodyPr wrap="square" lIns="0" tIns="0" rIns="0" bIns="0" rtlCol="0" anchor="ctr"/>
          <a:lstStyle/>
          <a:p>
            <a:pPr algn="ctr" indent="0" marL="0">
              <a:buNone/>
            </a:pPr>
            <a:r>
              <a:rPr lang="en-US" sz="1100" b="1" dirty="0">
                <a:solidFill>
                  <a:srgbClr val="3498DB"/>
                </a:solidFill>
              </a:rPr>
              <a:t>Cloud-ready</a:t>
            </a:r>
            <a:endParaRPr lang="en-US" sz="1100" dirty="0"/>
          </a:p>
        </p:txBody>
      </p:sp>
      <p:sp>
        <p:nvSpPr>
          <p:cNvPr id="30" name="Shape 25"/>
          <p:cNvSpPr/>
          <p:nvPr/>
        </p:nvSpPr>
        <p:spPr>
          <a:xfrm>
            <a:off x="6035040" y="4434840"/>
            <a:ext cx="1280160" cy="320040"/>
          </a:xfrm>
          <a:prstGeom prst="rect">
            <a:avLst/>
          </a:prstGeom>
          <a:solidFill>
            <a:srgbClr val="1A3050"/>
          </a:solidFill>
          <a:ln/>
        </p:spPr>
      </p:sp>
      <p:sp>
        <p:nvSpPr>
          <p:cNvPr id="31" name="Text 26"/>
          <p:cNvSpPr/>
          <p:nvPr/>
        </p:nvSpPr>
        <p:spPr>
          <a:xfrm>
            <a:off x="6035040" y="4434840"/>
            <a:ext cx="1280160" cy="320040"/>
          </a:xfrm>
          <a:prstGeom prst="rect">
            <a:avLst/>
          </a:prstGeom>
          <a:noFill/>
          <a:ln/>
        </p:spPr>
        <p:txBody>
          <a:bodyPr wrap="square" lIns="0" tIns="0" rIns="0" bIns="0" rtlCol="0" anchor="ctr"/>
          <a:lstStyle/>
          <a:p>
            <a:pPr algn="ctr" indent="0" marL="0">
              <a:buNone/>
            </a:pPr>
            <a:r>
              <a:rPr lang="en-US" sz="1100" b="1" dirty="0">
                <a:solidFill>
                  <a:srgbClr val="3498DB"/>
                </a:solidFill>
              </a:rPr>
              <a:t>Multi-entrepôts</a:t>
            </a:r>
            <a:endParaRPr lang="en-US" sz="1100" dirty="0"/>
          </a:p>
        </p:txBody>
      </p:sp>
      <p:sp>
        <p:nvSpPr>
          <p:cNvPr id="32" name="Shape 27"/>
          <p:cNvSpPr/>
          <p:nvPr/>
        </p:nvSpPr>
        <p:spPr>
          <a:xfrm>
            <a:off x="7498080" y="4434840"/>
            <a:ext cx="1280160" cy="320040"/>
          </a:xfrm>
          <a:prstGeom prst="rect">
            <a:avLst/>
          </a:prstGeom>
          <a:solidFill>
            <a:srgbClr val="1A3050"/>
          </a:solidFill>
          <a:ln/>
        </p:spPr>
      </p:sp>
      <p:sp>
        <p:nvSpPr>
          <p:cNvPr id="33" name="Text 28"/>
          <p:cNvSpPr/>
          <p:nvPr/>
        </p:nvSpPr>
        <p:spPr>
          <a:xfrm>
            <a:off x="7498080" y="4434840"/>
            <a:ext cx="1280160" cy="320040"/>
          </a:xfrm>
          <a:prstGeom prst="rect">
            <a:avLst/>
          </a:prstGeom>
          <a:noFill/>
          <a:ln/>
        </p:spPr>
        <p:txBody>
          <a:bodyPr wrap="square" lIns="0" tIns="0" rIns="0" bIns="0" rtlCol="0" anchor="ctr"/>
          <a:lstStyle/>
          <a:p>
            <a:pPr algn="ctr" indent="0" marL="0">
              <a:buNone/>
            </a:pPr>
            <a:r>
              <a:rPr lang="en-US" sz="1100" b="1" dirty="0">
                <a:solidFill>
                  <a:srgbClr val="3498DB"/>
                </a:solidFill>
              </a:rPr>
              <a:t>Open Data</a:t>
            </a:r>
            <a:endParaRPr lang="en-US" sz="1100" dirty="0"/>
          </a:p>
        </p:txBody>
      </p:sp>
      <p:sp>
        <p:nvSpPr>
          <p:cNvPr id="34" name="Text 2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200" i="1" dirty="0">
                <a:solidFill>
                  <a:srgbClr val="D4A843"/>
                </a:solidFill>
              </a:rPr>
              <a:t>NAJDA ne se limite pas à une région. Elle se déploie là où la catastrophe frappe.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Shape 1"/>
          <p:cNvSpPr/>
          <p:nvPr/>
        </p:nvSpPr>
        <p:spPr>
          <a:xfrm>
            <a:off x="0" y="0"/>
            <a:ext cx="9144000" cy="73152"/>
          </a:xfrm>
          <a:prstGeom prst="rect">
            <a:avLst/>
          </a:prstGeom>
          <a:solidFill>
            <a:srgbClr val="D4A843"/>
          </a:solidFill>
          <a:ln/>
        </p:spPr>
      </p:sp>
      <p:sp>
        <p:nvSpPr>
          <p:cNvPr id="4" name="Shape 2"/>
          <p:cNvSpPr/>
          <p:nvPr/>
        </p:nvSpPr>
        <p:spPr>
          <a:xfrm>
            <a:off x="0" y="5070348"/>
            <a:ext cx="9144000" cy="73152"/>
          </a:xfrm>
          <a:prstGeom prst="rect">
            <a:avLst/>
          </a:prstGeom>
          <a:solidFill>
            <a:srgbClr val="D4A843"/>
          </a:solidFill>
          <a:ln/>
        </p:spPr>
      </p:sp>
      <p:sp>
        <p:nvSpPr>
          <p:cNvPr id="5" name="Shape 3"/>
          <p:cNvSpPr/>
          <p:nvPr/>
        </p:nvSpPr>
        <p:spPr>
          <a:xfrm>
            <a:off x="0" y="73152"/>
            <a:ext cx="64008" cy="4997196"/>
          </a:xfrm>
          <a:prstGeom prst="rect">
            <a:avLst/>
          </a:prstGeom>
          <a:solidFill>
            <a:srgbClr val="D4A843"/>
          </a:solidFill>
          <a:ln/>
        </p:spPr>
      </p:sp>
      <p:sp>
        <p:nvSpPr>
          <p:cNvPr id="6" name="Text 4"/>
          <p:cNvSpPr/>
          <p:nvPr/>
        </p:nvSpPr>
        <p:spPr>
          <a:xfrm>
            <a:off x="457200" y="274320"/>
            <a:ext cx="8229600" cy="201168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Black" pitchFamily="34" charset="0"/>
                <a:ea typeface="Arial Black" pitchFamily="34" charset="-122"/>
                <a:cs typeface="Arial Black" pitchFamily="34" charset="-120"/>
              </a:rPr>
              <a:t>Et si la prochaine</a:t>
            </a:r>
            <a:endParaRPr lang="en-US" sz="4400" dirty="0"/>
          </a:p>
          <a:p>
            <a:pPr algn="ctr" indent="0" marL="0">
              <a:buNone/>
            </a:pPr>
            <a:r>
              <a:rPr lang="en-US" sz="4400" b="1" dirty="0">
                <a:solidFill>
                  <a:srgbClr val="FFFFFF"/>
                </a:solidFill>
                <a:latin typeface="Arial Black" pitchFamily="34" charset="0"/>
                <a:ea typeface="Arial Black" pitchFamily="34" charset="-122"/>
                <a:cs typeface="Arial Black" pitchFamily="34" charset="-120"/>
              </a:rPr>
              <a:t>catastrophe arrivait</a:t>
            </a:r>
            <a:endParaRPr lang="en-US" sz="4400" dirty="0"/>
          </a:p>
          <a:p>
            <a:pPr algn="ctr" indent="0" marL="0">
              <a:buNone/>
            </a:pPr>
            <a:r>
              <a:rPr lang="en-US" sz="4400" b="1" dirty="0">
                <a:solidFill>
                  <a:srgbClr val="FFFFFF"/>
                </a:solidFill>
                <a:latin typeface="Arial Black" pitchFamily="34" charset="0"/>
                <a:ea typeface="Arial Black" pitchFamily="34" charset="-122"/>
                <a:cs typeface="Arial Black" pitchFamily="34" charset="-120"/>
              </a:rPr>
              <a:t>demain ?</a:t>
            </a:r>
            <a:endParaRPr lang="en-US" sz="4400" dirty="0"/>
          </a:p>
        </p:txBody>
      </p:sp>
      <p:sp>
        <p:nvSpPr>
          <p:cNvPr id="7" name="Shape 5"/>
          <p:cNvSpPr/>
          <p:nvPr/>
        </p:nvSpPr>
        <p:spPr>
          <a:xfrm>
            <a:off x="2286000" y="2331720"/>
            <a:ext cx="4572000" cy="54864"/>
          </a:xfrm>
          <a:prstGeom prst="rect">
            <a:avLst/>
          </a:prstGeom>
          <a:solidFill>
            <a:srgbClr val="D4A843"/>
          </a:solidFill>
          <a:ln/>
        </p:spPr>
      </p:sp>
      <p:sp>
        <p:nvSpPr>
          <p:cNvPr id="8" name="Text 6"/>
          <p:cNvSpPr/>
          <p:nvPr/>
        </p:nvSpPr>
        <p:spPr>
          <a:xfrm>
            <a:off x="457200" y="2487168"/>
            <a:ext cx="8229600" cy="822960"/>
          </a:xfrm>
          <a:prstGeom prst="rect">
            <a:avLst/>
          </a:prstGeom>
          <a:noFill/>
          <a:ln/>
        </p:spPr>
        <p:txBody>
          <a:bodyPr wrap="square" lIns="0" tIns="0" rIns="0" bIns="0" rtlCol="0" anchor="ctr"/>
          <a:lstStyle/>
          <a:p>
            <a:pPr algn="ctr" indent="0" marL="0">
              <a:buNone/>
            </a:pPr>
            <a:r>
              <a:rPr lang="en-US" sz="4600" b="1" dirty="0">
                <a:solidFill>
                  <a:srgbClr val="D4A843"/>
                </a:solidFill>
                <a:latin typeface="Arial Black" pitchFamily="34" charset="0"/>
                <a:ea typeface="Arial Black" pitchFamily="34" charset="-122"/>
                <a:cs typeface="Arial Black" pitchFamily="34" charset="-120"/>
              </a:rPr>
              <a:t>NAJDA est prête.</a:t>
            </a:r>
            <a:endParaRPr lang="en-US" sz="4600" dirty="0"/>
          </a:p>
        </p:txBody>
      </p:sp>
      <p:sp>
        <p:nvSpPr>
          <p:cNvPr id="9" name="Text 7"/>
          <p:cNvSpPr/>
          <p:nvPr/>
        </p:nvSpPr>
        <p:spPr>
          <a:xfrm>
            <a:off x="457200" y="3337560"/>
            <a:ext cx="8229600" cy="457200"/>
          </a:xfrm>
          <a:prstGeom prst="rect">
            <a:avLst/>
          </a:prstGeom>
          <a:noFill/>
          <a:ln/>
        </p:spPr>
        <p:txBody>
          <a:bodyPr wrap="square" lIns="0" tIns="0" rIns="0" bIns="0" rtlCol="0" anchor="ctr"/>
          <a:lstStyle/>
          <a:p>
            <a:pPr algn="ctr" indent="0" marL="0">
              <a:buNone/>
            </a:pPr>
            <a:r>
              <a:rPr lang="en-US" sz="1600" i="1" dirty="0">
                <a:solidFill>
                  <a:srgbClr val="FFFFFF"/>
                </a:solidFill>
              </a:rPr>
              <a:t>Distribuez mieux. Décidez plus vite. Sauvez plus de vies.</a:t>
            </a:r>
            <a:endParaRPr lang="en-US" sz="1600" dirty="0"/>
          </a:p>
        </p:txBody>
      </p:sp>
      <p:sp>
        <p:nvSpPr>
          <p:cNvPr id="10" name="Text 8"/>
          <p:cNvSpPr/>
          <p:nvPr/>
        </p:nvSpPr>
        <p:spPr>
          <a:xfrm>
            <a:off x="457200" y="3931920"/>
            <a:ext cx="8229600" cy="320040"/>
          </a:xfrm>
          <a:prstGeom prst="rect">
            <a:avLst/>
          </a:prstGeom>
          <a:noFill/>
          <a:ln/>
        </p:spPr>
        <p:txBody>
          <a:bodyPr wrap="square" lIns="0" tIns="0" rIns="0" bIns="0" rtlCol="0" anchor="ctr"/>
          <a:lstStyle/>
          <a:p>
            <a:pPr algn="ctr" indent="0" marL="0">
              <a:buNone/>
            </a:pPr>
            <a:r>
              <a:rPr lang="en-US" sz="1250" dirty="0">
                <a:solidFill>
                  <a:srgbClr val="7A95A8"/>
                </a:solidFill>
              </a:rPr>
              <a:t>Azddine El Hamdaoui  ·  Youssef Ait Karroum</a:t>
            </a:r>
            <a:endParaRPr lang="en-US" sz="1250" dirty="0"/>
          </a:p>
        </p:txBody>
      </p:sp>
      <p:sp>
        <p:nvSpPr>
          <p:cNvPr id="11" name="Text 9"/>
          <p:cNvSpPr/>
          <p:nvPr/>
        </p:nvSpPr>
        <p:spPr>
          <a:xfrm>
            <a:off x="457200" y="4206240"/>
            <a:ext cx="8229600" cy="274320"/>
          </a:xfrm>
          <a:prstGeom prst="rect">
            <a:avLst/>
          </a:prstGeom>
          <a:noFill/>
          <a:ln/>
        </p:spPr>
        <p:txBody>
          <a:bodyPr wrap="square" lIns="0" tIns="0" rIns="0" bIns="0" rtlCol="0" anchor="ctr"/>
          <a:lstStyle/>
          <a:p>
            <a:pPr algn="ctr" indent="0" marL="0">
              <a:buNone/>
            </a:pPr>
            <a:r>
              <a:rPr lang="en-US" sz="1150" dirty="0">
                <a:solidFill>
                  <a:srgbClr val="7A95A8"/>
                </a:solidFill>
              </a:rPr>
              <a:t>ENSA Béni Mellal  ·  2025-2026</a:t>
            </a:r>
            <a:endParaRPr lang="en-US" sz="1150" dirty="0"/>
          </a:p>
        </p:txBody>
      </p:sp>
      <p:sp>
        <p:nvSpPr>
          <p:cNvPr id="12" name="Shape 10"/>
          <p:cNvSpPr/>
          <p:nvPr/>
        </p:nvSpPr>
        <p:spPr>
          <a:xfrm>
            <a:off x="2743200" y="4572000"/>
            <a:ext cx="3657600" cy="384048"/>
          </a:xfrm>
          <a:prstGeom prst="rect">
            <a:avLst/>
          </a:prstGeom>
          <a:solidFill>
            <a:srgbClr val="C0392B"/>
          </a:solidFill>
          <a:ln/>
          <a:effectLst>
            <a:outerShdw sx="100000" sy="100000" kx="0" ky="0" algn="bl" rotWithShape="0" blurRad="127000" dist="50800" dir="8100000">
              <a:srgbClr val="000000">
                <a:alpha val="35000"/>
              </a:srgbClr>
            </a:outerShdw>
          </a:effectLst>
        </p:spPr>
      </p:sp>
      <p:sp>
        <p:nvSpPr>
          <p:cNvPr id="13" name="Text 11"/>
          <p:cNvSpPr/>
          <p:nvPr/>
        </p:nvSpPr>
        <p:spPr>
          <a:xfrm>
            <a:off x="2743200" y="4572000"/>
            <a:ext cx="36576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Vos questions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NAJDA — Pitch Deck Compétition 2026</dc:title>
  <dc:subject>PptxGenJS Presentation</dc:subject>
  <dc:creator>Azddine El Hamdaoui &amp; Youssef Ait Karroum</dc:creator>
  <cp:lastModifiedBy>Azddine El Hamdaoui &amp; Youssef Ait Karroum</cp:lastModifiedBy>
  <cp:revision>1</cp:revision>
  <dcterms:created xsi:type="dcterms:W3CDTF">2026-04-08T14:01:40Z</dcterms:created>
  <dcterms:modified xsi:type="dcterms:W3CDTF">2026-04-08T14:01:41Z</dcterms:modified>
</cp:coreProperties>
</file>